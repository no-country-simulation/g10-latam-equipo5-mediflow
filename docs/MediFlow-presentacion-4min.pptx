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70" r:id="rId8"/>
    <p:sldId id="267" r:id="rId9"/>
    <p:sldId id="271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4269E-CA35-41C8-A511-649608E7E09A}" v="205" dt="2026-10-24T16:35:59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4722" autoAdjust="0"/>
  </p:normalViewPr>
  <p:slideViewPr>
    <p:cSldViewPr snapToGrid="0" snapToObjects="1">
      <p:cViewPr varScale="1">
        <p:scale>
          <a:sx n="60" d="100"/>
          <a:sy n="60" d="100"/>
        </p:scale>
        <p:origin x="251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natan Felipe" userId="fc0f9b16871f6711" providerId="LiveId" clId="{11F36618-8766-46D6-8259-5C0D09318CF3}"/>
    <pc:docChg chg="undo custSel delSld modSld sldOrd">
      <pc:chgData name="Jhonnatan Felipe" userId="fc0f9b16871f6711" providerId="LiveId" clId="{11F36618-8766-46D6-8259-5C0D09318CF3}" dt="2026-10-24T16:35:59.715" v="431" actId="20577"/>
      <pc:docMkLst>
        <pc:docMk/>
      </pc:docMkLst>
      <pc:sldChg chg="modNotesTx">
        <pc:chgData name="Jhonnatan Felipe" userId="fc0f9b16871f6711" providerId="LiveId" clId="{11F36618-8766-46D6-8259-5C0D09318CF3}" dt="2026-10-24T02:44:49.504" v="55" actId="20577"/>
        <pc:sldMkLst>
          <pc:docMk/>
          <pc:sldMk cId="0" sldId="256"/>
        </pc:sldMkLst>
      </pc:sldChg>
      <pc:sldChg chg="ord modNotesTx">
        <pc:chgData name="Jhonnatan Felipe" userId="fc0f9b16871f6711" providerId="LiveId" clId="{11F36618-8766-46D6-8259-5C0D09318CF3}" dt="2026-10-24T16:30:55.526" v="307" actId="20577"/>
        <pc:sldMkLst>
          <pc:docMk/>
          <pc:sldMk cId="0" sldId="257"/>
        </pc:sldMkLst>
      </pc:sldChg>
      <pc:sldChg chg="delSp mod ord delAnim modNotesTx">
        <pc:chgData name="Jhonnatan Felipe" userId="fc0f9b16871f6711" providerId="LiveId" clId="{11F36618-8766-46D6-8259-5C0D09318CF3}" dt="2026-10-24T16:32:00.798" v="332" actId="20577"/>
        <pc:sldMkLst>
          <pc:docMk/>
          <pc:sldMk cId="0" sldId="258"/>
        </pc:sldMkLst>
        <pc:spChg chg="del">
          <ac:chgData name="Jhonnatan Felipe" userId="fc0f9b16871f6711" providerId="LiveId" clId="{11F36618-8766-46D6-8259-5C0D09318CF3}" dt="2026-10-24T16:31:55.936" v="324" actId="478"/>
          <ac:spMkLst>
            <pc:docMk/>
            <pc:sldMk cId="0" sldId="258"/>
            <ac:spMk id="6" creationId="{00000000-0000-0000-0000-000000000000}"/>
          </ac:spMkLst>
        </pc:spChg>
      </pc:sldChg>
      <pc:sldChg chg="modNotesTx">
        <pc:chgData name="Jhonnatan Felipe" userId="fc0f9b16871f6711" providerId="LiveId" clId="{11F36618-8766-46D6-8259-5C0D09318CF3}" dt="2026-10-24T16:33:52.217" v="356" actId="20577"/>
        <pc:sldMkLst>
          <pc:docMk/>
          <pc:sldMk cId="0" sldId="259"/>
        </pc:sldMkLst>
      </pc:sldChg>
      <pc:sldChg chg="del">
        <pc:chgData name="Jhonnatan Felipe" userId="fc0f9b16871f6711" providerId="LiveId" clId="{11F36618-8766-46D6-8259-5C0D09318CF3}" dt="2026-10-24T03:35:02.129" v="147" actId="2696"/>
        <pc:sldMkLst>
          <pc:docMk/>
          <pc:sldMk cId="0" sldId="260"/>
        </pc:sldMkLst>
      </pc:sldChg>
      <pc:sldChg chg="del">
        <pc:chgData name="Jhonnatan Felipe" userId="fc0f9b16871f6711" providerId="LiveId" clId="{11F36618-8766-46D6-8259-5C0D09318CF3}" dt="2026-10-24T03:35:00.142" v="146" actId="2696"/>
        <pc:sldMkLst>
          <pc:docMk/>
          <pc:sldMk cId="0" sldId="261"/>
        </pc:sldMkLst>
      </pc:sldChg>
      <pc:sldChg chg="modNotesTx">
        <pc:chgData name="Jhonnatan Felipe" userId="fc0f9b16871f6711" providerId="LiveId" clId="{11F36618-8766-46D6-8259-5C0D09318CF3}" dt="2026-10-24T16:34:32.024" v="374" actId="20577"/>
        <pc:sldMkLst>
          <pc:docMk/>
          <pc:sldMk cId="0" sldId="262"/>
        </pc:sldMkLst>
      </pc:sldChg>
      <pc:sldChg chg="modSp modNotesTx">
        <pc:chgData name="Jhonnatan Felipe" userId="fc0f9b16871f6711" providerId="LiveId" clId="{11F36618-8766-46D6-8259-5C0D09318CF3}" dt="2026-10-24T16:35:59.715" v="431" actId="20577"/>
        <pc:sldMkLst>
          <pc:docMk/>
          <pc:sldMk cId="0" sldId="263"/>
        </pc:sldMkLst>
        <pc:spChg chg="mod">
          <ac:chgData name="Jhonnatan Felipe" userId="fc0f9b16871f6711" providerId="LiveId" clId="{11F36618-8766-46D6-8259-5C0D09318CF3}" dt="2026-10-24T16:35:59.715" v="431" actId="20577"/>
          <ac:spMkLst>
            <pc:docMk/>
            <pc:sldMk cId="0" sldId="263"/>
            <ac:spMk id="4" creationId="{00000000-0000-0000-0000-000000000000}"/>
          </ac:spMkLst>
        </pc:spChg>
      </pc:sldChg>
      <pc:sldChg chg="del">
        <pc:chgData name="Jhonnatan Felipe" userId="fc0f9b16871f6711" providerId="LiveId" clId="{11F36618-8766-46D6-8259-5C0D09318CF3}" dt="2026-10-24T03:34:57.923" v="145" actId="2696"/>
        <pc:sldMkLst>
          <pc:docMk/>
          <pc:sldMk cId="0" sldId="264"/>
        </pc:sldMkLst>
      </pc:sldChg>
      <pc:sldChg chg="del">
        <pc:chgData name="Jhonnatan Felipe" userId="fc0f9b16871f6711" providerId="LiveId" clId="{11F36618-8766-46D6-8259-5C0D09318CF3}" dt="2026-10-24T03:34:55.068" v="144" actId="2696"/>
        <pc:sldMkLst>
          <pc:docMk/>
          <pc:sldMk cId="0" sldId="265"/>
        </pc:sldMkLst>
      </pc:sldChg>
      <pc:sldChg chg="del">
        <pc:chgData name="Jhonnatan Felipe" userId="fc0f9b16871f6711" providerId="LiveId" clId="{11F36618-8766-46D6-8259-5C0D09318CF3}" dt="2026-10-24T03:34:50.596" v="143" actId="2696"/>
        <pc:sldMkLst>
          <pc:docMk/>
          <pc:sldMk cId="0" sldId="266"/>
        </pc:sldMkLst>
      </pc:sldChg>
      <pc:sldChg chg="modNotesTx">
        <pc:chgData name="Jhonnatan Felipe" userId="fc0f9b16871f6711" providerId="LiveId" clId="{11F36618-8766-46D6-8259-5C0D09318CF3}" dt="2026-10-24T03:25:26.343" v="141" actId="20577"/>
        <pc:sldMkLst>
          <pc:docMk/>
          <pc:sldMk cId="0" sldId="267"/>
        </pc:sldMkLst>
      </pc:sldChg>
      <pc:sldChg chg="modNotesTx">
        <pc:chgData name="Jhonnatan Felipe" userId="fc0f9b16871f6711" providerId="LiveId" clId="{11F36618-8766-46D6-8259-5C0D09318CF3}" dt="2026-10-23T02:36:08.216" v="19" actId="20577"/>
        <pc:sldMkLst>
          <pc:docMk/>
          <pc:sldMk cId="0" sldId="268"/>
        </pc:sldMkLst>
      </pc:sldChg>
      <pc:sldChg chg="modNotesTx">
        <pc:chgData name="Jhonnatan Felipe" userId="fc0f9b16871f6711" providerId="LiveId" clId="{11F36618-8766-46D6-8259-5C0D09318CF3}" dt="2026-10-23T02:36:31.185" v="22" actId="20577"/>
        <pc:sldMkLst>
          <pc:docMk/>
          <pc:sldMk cId="0" sldId="269"/>
        </pc:sldMkLst>
      </pc:sldChg>
      <pc:sldChg chg="modNotesTx">
        <pc:chgData name="Jhonnatan Felipe" userId="fc0f9b16871f6711" providerId="LiveId" clId="{11F36618-8766-46D6-8259-5C0D09318CF3}" dt="2026-10-24T03:22:07.664" v="137" actId="20577"/>
        <pc:sldMkLst>
          <pc:docMk/>
          <pc:sldMk cId="0" sldId="270"/>
        </pc:sldMkLst>
      </pc:sldChg>
      <pc:sldChg chg="modSp mod modAnim modNotesTx">
        <pc:chgData name="Jhonnatan Felipe" userId="fc0f9b16871f6711" providerId="LiveId" clId="{11F36618-8766-46D6-8259-5C0D09318CF3}" dt="2026-10-24T03:38:16.353" v="282" actId="20577"/>
        <pc:sldMkLst>
          <pc:docMk/>
          <pc:sldMk cId="0" sldId="271"/>
        </pc:sldMkLst>
        <pc:spChg chg="mod">
          <ac:chgData name="Jhonnatan Felipe" userId="fc0f9b16871f6711" providerId="LiveId" clId="{11F36618-8766-46D6-8259-5C0D09318CF3}" dt="2026-10-24T03:38:07.881" v="278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Jhonnatan Felipe" userId="fc0f9b16871f6711" providerId="LiveId" clId="{11F36618-8766-46D6-8259-5C0D09318CF3}" dt="2026-10-24T03:38:13.411" v="280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Jhonnatan Felipe" userId="fc0f9b16871f6711" providerId="LiveId" clId="{11F36618-8766-46D6-8259-5C0D09318CF3}" dt="2026-10-24T03:38:16.353" v="282" actId="20577"/>
          <ac:spMkLst>
            <pc:docMk/>
            <pc:sldMk cId="0" sldId="271"/>
            <ac:spMk id="8" creationId="{00000000-0000-0000-0000-000000000000}"/>
          </ac:spMkLst>
        </pc:spChg>
      </pc:sldChg>
      <pc:sldChg chg="delSp modSp mod delAnim modNotesTx">
        <pc:chgData name="Jhonnatan Felipe" userId="fc0f9b16871f6711" providerId="LiveId" clId="{11F36618-8766-46D6-8259-5C0D09318CF3}" dt="2026-10-23T01:52:51.055" v="7" actId="478"/>
        <pc:sldMkLst>
          <pc:docMk/>
          <pc:sldMk cId="0" sldId="272"/>
        </pc:sldMkLst>
        <pc:spChg chg="del mod">
          <ac:chgData name="Jhonnatan Felipe" userId="fc0f9b16871f6711" providerId="LiveId" clId="{11F36618-8766-46D6-8259-5C0D09318CF3}" dt="2026-10-23T01:52:51.055" v="7" actId="478"/>
          <ac:spMkLst>
            <pc:docMk/>
            <pc:sldMk cId="0" sldId="27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94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[0:00–0:45 · Hook + </a:t>
            </a:r>
            <a:r>
              <a:rPr dirty="0" err="1"/>
              <a:t>problema</a:t>
            </a:r>
            <a:r>
              <a:rPr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 todos nos ha pasado: esperas días un examen urgente</a:t>
            </a:r>
          </a:p>
          <a:p>
            <a:r>
              <a:rPr lang="es-MX" dirty="0"/>
              <a:t>(Click) </a:t>
            </a:r>
            <a:br>
              <a:rPr lang="es-MX" dirty="0"/>
            </a:br>
            <a:r>
              <a:rPr lang="es-MX" dirty="0"/>
              <a:t>y al reclamar te dicen: </a:t>
            </a:r>
            <a:r>
              <a:rPr lang="es-MX" i="1" dirty="0"/>
              <a:t>“el doctor aún no lo revisa”</a:t>
            </a:r>
            <a:r>
              <a:rPr lang="es-MX" dirty="0"/>
              <a:t>. </a:t>
            </a:r>
            <a:br>
              <a:rPr lang="es-MX" dirty="0"/>
            </a:br>
            <a:r>
              <a:rPr lang="es-MX" dirty="0"/>
              <a:t>(Click)</a:t>
            </a:r>
            <a:br>
              <a:rPr lang="es-MX" dirty="0"/>
            </a:br>
            <a:r>
              <a:rPr lang="es-MX" dirty="0"/>
              <a:t>La verdad es que hay cientos de documentos que siguen leyéndose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Y un documento crítico estancado en la bandeja (</a:t>
            </a:r>
            <a:r>
              <a:rPr lang="es-419" dirty="0" err="1"/>
              <a:t>click</a:t>
            </a:r>
            <a:r>
              <a:rPr lang="es-419" dirty="0"/>
              <a:t>) equivocada no es un retraso administrativo: </a:t>
            </a:r>
            <a:r>
              <a:rPr lang="es-419" b="1" dirty="0"/>
              <a:t>es un riesgo para el paciente</a:t>
            </a:r>
            <a:r>
              <a:rPr lang="es-419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[0:45–1:30 · </a:t>
            </a:r>
            <a:r>
              <a:rPr dirty="0" err="1"/>
              <a:t>Propuesta</a:t>
            </a:r>
            <a:r>
              <a:rPr dirty="0"/>
              <a:t> de valor]</a:t>
            </a: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resolverlo creamos </a:t>
            </a:r>
            <a:r>
              <a:rPr lang="es-419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MediFlow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triaje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derivación clínica con IA. </a:t>
            </a: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Porque aquí: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IA clasifica, el sistema valida y las personas deciden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dirty="0"/>
              <a:t>(</a:t>
            </a:r>
            <a:r>
              <a:rPr lang="es-CL" dirty="0" err="1"/>
              <a:t>click</a:t>
            </a:r>
            <a:r>
              <a:rPr lang="es-CL" dirty="0"/>
              <a:t>)</a:t>
            </a:r>
          </a:p>
          <a:p>
            <a:r>
              <a:rPr lang="es-CL" dirty="0"/>
              <a:t>Nuestro sistema </a:t>
            </a:r>
            <a:r>
              <a:rPr dirty="0" err="1"/>
              <a:t>Identifica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lang="es-CL" dirty="0"/>
              <a:t>tipo de </a:t>
            </a:r>
            <a:r>
              <a:rPr dirty="0" err="1"/>
              <a:t>documento</a:t>
            </a:r>
            <a:r>
              <a:rPr lang="es-CL" dirty="0"/>
              <a:t> es</a:t>
            </a:r>
            <a:r>
              <a:rPr dirty="0"/>
              <a:t>.</a:t>
            </a:r>
            <a:endParaRPr lang="es-CL" dirty="0"/>
          </a:p>
          <a:p>
            <a:r>
              <a:rPr lang="es-419" dirty="0"/>
              <a:t>(Click)</a:t>
            </a:r>
            <a:r>
              <a:rPr dirty="0"/>
              <a:t> </a:t>
            </a:r>
            <a:endParaRPr lang="es-CL" dirty="0"/>
          </a:p>
          <a:p>
            <a:r>
              <a:rPr dirty="0" err="1"/>
              <a:t>Extrae</a:t>
            </a:r>
            <a:r>
              <a:rPr dirty="0"/>
              <a:t> lo </a:t>
            </a:r>
            <a:r>
              <a:rPr dirty="0" err="1"/>
              <a:t>importante</a:t>
            </a:r>
            <a:r>
              <a:rPr lang="es-CL" dirty="0"/>
              <a:t> del documento en cuanto a datos </a:t>
            </a:r>
          </a:p>
          <a:p>
            <a:r>
              <a:rPr lang="es-CL" dirty="0"/>
              <a:t>(Click)</a:t>
            </a:r>
          </a:p>
          <a:p>
            <a:r>
              <a:rPr lang="es-CL" dirty="0"/>
              <a:t>y</a:t>
            </a:r>
            <a:r>
              <a:rPr dirty="0"/>
              <a:t> lo </a:t>
            </a:r>
            <a:r>
              <a:rPr dirty="0" err="1"/>
              <a:t>deriva</a:t>
            </a:r>
            <a:r>
              <a:rPr dirty="0"/>
              <a:t> a la cola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corresponde</a:t>
            </a:r>
            <a:r>
              <a:rPr lang="es-CL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Lo </a:t>
            </a:r>
            <a:r>
              <a:rPr dirty="0" err="1"/>
              <a:t>que</a:t>
            </a:r>
            <a:r>
              <a:rPr dirty="0"/>
              <a:t> antes </a:t>
            </a:r>
            <a:r>
              <a:rPr dirty="0" err="1"/>
              <a:t>tomaba</a:t>
            </a:r>
            <a:r>
              <a:rPr dirty="0"/>
              <a:t> </a:t>
            </a:r>
            <a:r>
              <a:rPr dirty="0" err="1"/>
              <a:t>minutos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, </a:t>
            </a:r>
            <a:r>
              <a:rPr lang="es-CL" dirty="0"/>
              <a:t>(</a:t>
            </a:r>
            <a:r>
              <a:rPr lang="es-CL" dirty="0" err="1"/>
              <a:t>click</a:t>
            </a:r>
            <a:r>
              <a:rPr lang="es-CL" dirty="0"/>
              <a:t>)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toma</a:t>
            </a:r>
            <a:r>
              <a:rPr dirty="0"/>
              <a:t> </a:t>
            </a:r>
            <a:r>
              <a:rPr dirty="0" err="1"/>
              <a:t>segundos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«¿Y si la IA se equivoca? (click) Seguro los otros equipos les van a jurar que sus modelos tienen 99,9% de precisión y nunca fallan. (click) Nosotros preferimos no jugar a la ruleta rusa con la salud de la gente.</a:t>
            </a:r>
          </a:p>
          <a:p>
            <a:r>
              <a:rPr lang="es-419" dirty="0"/>
              <a:t>(click) En </a:t>
            </a:r>
            <a:r>
              <a:rPr lang="es-419" dirty="0" err="1"/>
              <a:t>MediFlow</a:t>
            </a:r>
            <a:r>
              <a:rPr lang="es-419" dirty="0"/>
              <a:t> asumimos que la IA puede fallar; por eso jamás la dejamos sola. (click) Vengan, veámoslo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[3:10–4:10 · </a:t>
            </a:r>
            <a:r>
              <a:rPr dirty="0" err="1"/>
              <a:t>Arquitectura</a:t>
            </a:r>
            <a:r>
              <a:rPr dirty="0"/>
              <a:t>, </a:t>
            </a:r>
            <a:r>
              <a:rPr dirty="0" err="1"/>
              <a:t>desafíos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destacamos</a:t>
            </a:r>
            <a:r>
              <a:rPr dirty="0"/>
              <a:t>]</a:t>
            </a:r>
          </a:p>
          <a:p>
            <a:r>
              <a:rPr lang="es-419" dirty="0"/>
              <a:t>La IA es la parte llamativa, pero nadie confía la vida de un paciente a un script armado a última hora.</a:t>
            </a:r>
          </a:p>
          <a:p>
            <a:r>
              <a:rPr lang="es-419" dirty="0"/>
              <a:t>(click) Detrás de esta interfaz hay trazabilidad real: </a:t>
            </a:r>
            <a:r>
              <a:rPr lang="es-419" b="1" dirty="0" err="1"/>
              <a:t>FastAPI</a:t>
            </a:r>
            <a:r>
              <a:rPr lang="es-419" dirty="0"/>
              <a:t>, </a:t>
            </a:r>
            <a:r>
              <a:rPr lang="es-419" b="1" dirty="0"/>
              <a:t>PostgreSQL</a:t>
            </a:r>
            <a:r>
              <a:rPr lang="es-419" dirty="0"/>
              <a:t>, </a:t>
            </a:r>
            <a:r>
              <a:rPr lang="es-419" b="1" dirty="0"/>
              <a:t>Oracle Cloud</a:t>
            </a:r>
            <a:r>
              <a:rPr lang="es-419" dirty="0"/>
              <a:t> (click) y pipelines controlados con </a:t>
            </a:r>
            <a:r>
              <a:rPr lang="es-419" b="1" dirty="0"/>
              <a:t>n8n</a:t>
            </a:r>
            <a:r>
              <a:rPr lang="es-419" dirty="0"/>
              <a:t> y </a:t>
            </a:r>
            <a:r>
              <a:rPr lang="es-419" b="1" dirty="0"/>
              <a:t>Gemini</a:t>
            </a:r>
            <a:r>
              <a:rPr lang="es-419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Para que esto funcione en la realidad resolvimos dos dolores: </a:t>
            </a:r>
            <a:r>
              <a:rPr lang="es-419" b="1" dirty="0"/>
              <a:t>confianza y costo</a:t>
            </a:r>
            <a:r>
              <a:rPr lang="es-419" dirty="0"/>
              <a:t>. (click) La IA nunca decide sola, y para no quemar presupuesto, (click) evitamos procesar duplicados y usamos modelos caros solo cuando el liviano duda.</a:t>
            </a:r>
          </a:p>
          <a:p>
            <a:endParaRPr lang="es-419" dirty="0"/>
          </a:p>
          <a:p>
            <a:r>
              <a:rPr lang="es-419" dirty="0"/>
              <a:t>(click) Además, cualquier hospital crea flujos en minutos sin depender de TI, bajo cuatro roles que blindan el acceso clínico.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[4:10–4:40 · Cierre + </a:t>
            </a:r>
            <a:r>
              <a:rPr dirty="0" err="1"/>
              <a:t>llamado</a:t>
            </a:r>
            <a:r>
              <a:rPr dirty="0"/>
              <a:t> a la </a:t>
            </a:r>
            <a:r>
              <a:rPr dirty="0" err="1"/>
              <a:t>acción</a:t>
            </a:r>
            <a:r>
              <a:rPr dirty="0"/>
              <a:t>]</a:t>
            </a:r>
          </a:p>
          <a:p>
            <a:r>
              <a:rPr dirty="0"/>
              <a:t>En </a:t>
            </a:r>
            <a:r>
              <a:rPr dirty="0" err="1"/>
              <a:t>resumen</a:t>
            </a:r>
            <a:r>
              <a:rPr dirty="0"/>
              <a:t>: </a:t>
            </a:r>
            <a:r>
              <a:rPr dirty="0" err="1"/>
              <a:t>MediFlow</a:t>
            </a:r>
            <a:r>
              <a:rPr dirty="0"/>
              <a:t> </a:t>
            </a:r>
            <a:r>
              <a:rPr dirty="0" err="1"/>
              <a:t>convierte</a:t>
            </a:r>
            <a:r>
              <a:rPr dirty="0"/>
              <a:t> un </a:t>
            </a:r>
            <a:r>
              <a:rPr dirty="0" err="1"/>
              <a:t>proceso</a:t>
            </a:r>
            <a:r>
              <a:rPr dirty="0"/>
              <a:t> (click) lento, manual y </a:t>
            </a:r>
            <a:r>
              <a:rPr dirty="0" err="1"/>
              <a:t>propenso</a:t>
            </a:r>
            <a:r>
              <a:rPr dirty="0"/>
              <a:t> a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(click) rápido</a:t>
            </a:r>
            <a:r>
              <a:rPr dirty="0"/>
              <a:t>, </a:t>
            </a:r>
            <a:r>
              <a:rPr dirty="0" err="1"/>
              <a:t>trazable</a:t>
            </a:r>
            <a:r>
              <a:rPr dirty="0"/>
              <a:t> y </a:t>
            </a:r>
            <a:r>
              <a:rPr dirty="0" err="1"/>
              <a:t>seguro</a:t>
            </a:r>
            <a:r>
              <a:rPr dirty="0"/>
              <a:t>. </a:t>
            </a:r>
            <a:endParaRPr lang="es-CL" dirty="0"/>
          </a:p>
          <a:p>
            <a:r>
              <a:rPr dirty="0"/>
              <a:t>(click) La IA </a:t>
            </a:r>
            <a:r>
              <a:rPr dirty="0" err="1"/>
              <a:t>clasifica</a:t>
            </a:r>
            <a:r>
              <a:rPr dirty="0"/>
              <a:t>, 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valida</a:t>
            </a:r>
            <a:r>
              <a:rPr dirty="0"/>
              <a:t> y las personas </a:t>
            </a:r>
            <a:r>
              <a:rPr dirty="0" err="1"/>
              <a:t>deciden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Somos el </a:t>
            </a:r>
            <a:r>
              <a:rPr dirty="0" err="1"/>
              <a:t>equipo</a:t>
            </a:r>
            <a:r>
              <a:rPr dirty="0"/>
              <a:t> 5 y </a:t>
            </a:r>
            <a:r>
              <a:rPr dirty="0" err="1"/>
              <a:t>esto</a:t>
            </a:r>
            <a:r>
              <a:rPr dirty="0"/>
              <a:t> es </a:t>
            </a:r>
            <a:r>
              <a:rPr dirty="0" err="1"/>
              <a:t>MediFlow</a:t>
            </a:r>
            <a:r>
              <a:rPr dirty="0"/>
              <a:t>. </a:t>
            </a:r>
            <a:r>
              <a:rPr dirty="0" err="1"/>
              <a:t>Muchas</a:t>
            </a:r>
            <a:r>
              <a:rPr dirty="0"/>
              <a:t>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photo.png"/><Relationship Id="rId11" Type="http://schemas.openxmlformats.org/officeDocument/2006/relationships/image" Target="../media/mf_scrim.png"/><Relationship Id="rId12" Type="http://schemas.openxmlformats.org/officeDocument/2006/relationships/image" Target="../media/mf_glow_rose.png"/><Relationship Id="rId13" Type="http://schemas.openxmlformats.org/officeDocument/2006/relationships/image" Target="../media/mf_glow_emerald.png"/><Relationship Id="rId14" Type="http://schemas.openxmlformats.org/officeDocument/2006/relationships/image" Target="../media/mf_robot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photo.png"/><Relationship Id="rId11" Type="http://schemas.openxmlformats.org/officeDocument/2006/relationships/image" Target="../media/mf_scrim.png"/><Relationship Id="rId12" Type="http://schemas.openxmlformats.org/officeDocument/2006/relationships/image" Target="../media/mf_glow_rose.png"/><Relationship Id="rId13" Type="http://schemas.openxmlformats.org/officeDocument/2006/relationships/image" Target="../media/mf_glow_emerald.png"/><Relationship Id="rId14" Type="http://schemas.openxmlformats.org/officeDocument/2006/relationships/image" Target="../media/mf_robot.png"/><Relationship Id="rId15" Type="http://schemas.openxmlformats.org/officeDocument/2006/relationships/image" Target="../media/mf_flask-conical.png"/><Relationship Id="rId16" Type="http://schemas.openxmlformats.org/officeDocument/2006/relationships/image" Target="../media/mf_hourglass.png"/><Relationship Id="rId17" Type="http://schemas.openxmlformats.org/officeDocument/2006/relationships/image" Target="../media/mf_scan-line.png"/><Relationship Id="rId18" Type="http://schemas.openxmlformats.org/officeDocument/2006/relationships/image" Target="../media/mf_pill.png"/><Relationship Id="rId19" Type="http://schemas.openxmlformats.org/officeDocument/2006/relationships/image" Target="../media/mf_calendar-clock.png"/><Relationship Id="rId20" Type="http://schemas.openxmlformats.org/officeDocument/2006/relationships/image" Target="../media/mf_clipboard-list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robot.png"/><Relationship Id="rId13" Type="http://schemas.openxmlformats.org/officeDocument/2006/relationships/image" Target="../media/mf_inbox.png"/><Relationship Id="rId14" Type="http://schemas.openxmlformats.org/officeDocument/2006/relationships/image" Target="../media/mf_activity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robot.png"/><Relationship Id="rId13" Type="http://schemas.openxmlformats.org/officeDocument/2006/relationships/image" Target="../media/mf_file-search.png"/><Relationship Id="rId14" Type="http://schemas.openxmlformats.org/officeDocument/2006/relationships/image" Target="../media/mf_circle-check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robot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glow_amber.png"/><Relationship Id="rId13" Type="http://schemas.openxmlformats.org/officeDocument/2006/relationships/image" Target="../media/mf_robot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robot.png"/><Relationship Id="rId13" Type="http://schemas.openxmlformats.org/officeDocument/2006/relationships/image" Target="../media/mf_monitor.png"/><Relationship Id="rId14" Type="http://schemas.openxmlformats.org/officeDocument/2006/relationships/image" Target="../media/mf_server.png"/><Relationship Id="rId15" Type="http://schemas.openxmlformats.org/officeDocument/2006/relationships/image" Target="../media/mf_database.png"/><Relationship Id="rId16" Type="http://schemas.openxmlformats.org/officeDocument/2006/relationships/image" Target="../media/mf_cloud.png"/><Relationship Id="rId17" Type="http://schemas.openxmlformats.org/officeDocument/2006/relationships/image" Target="../media/mf_workflow.png"/><Relationship Id="rId18" Type="http://schemas.openxmlformats.org/officeDocument/2006/relationships/image" Target="../media/mf_sparkles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glow_rose.png"/><Relationship Id="rId11" Type="http://schemas.openxmlformats.org/officeDocument/2006/relationships/image" Target="../media/mf_glow_emerald.png"/><Relationship Id="rId12" Type="http://schemas.openxmlformats.org/officeDocument/2006/relationships/image" Target="../media/mf_robot.png"/><Relationship Id="rId13" Type="http://schemas.openxmlformats.org/officeDocument/2006/relationships/image" Target="../media/mf_shield-check.png"/><Relationship Id="rId14" Type="http://schemas.openxmlformats.org/officeDocument/2006/relationships/image" Target="../media/mf_coins.png"/><Relationship Id="rId15" Type="http://schemas.openxmlformats.org/officeDocument/2006/relationships/image" Target="../media/mf_copy.png"/><Relationship Id="rId16" Type="http://schemas.openxmlformats.org/officeDocument/2006/relationships/image" Target="../media/mf_zap.png"/><Relationship Id="rId17" Type="http://schemas.openxmlformats.org/officeDocument/2006/relationships/image" Target="../media/mf_workflow.png"/><Relationship Id="rId18" Type="http://schemas.openxmlformats.org/officeDocument/2006/relationships/image" Target="../media/mf_lock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photo.png"/><Relationship Id="rId11" Type="http://schemas.openxmlformats.org/officeDocument/2006/relationships/image" Target="../media/mf_scrim.png"/><Relationship Id="rId12" Type="http://schemas.openxmlformats.org/officeDocument/2006/relationships/image" Target="../media/mf_glow_rose.png"/><Relationship Id="rId13" Type="http://schemas.openxmlformats.org/officeDocument/2006/relationships/image" Target="../media/mf_glow_emerald.png"/><Relationship Id="rId14" Type="http://schemas.openxmlformats.org/officeDocument/2006/relationships/image" Target="../media/mf_robot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mf_photo.png"/><Relationship Id="rId11" Type="http://schemas.openxmlformats.org/officeDocument/2006/relationships/image" Target="../media/mf_scrim.png"/><Relationship Id="rId12" Type="http://schemas.openxmlformats.org/officeDocument/2006/relationships/image" Target="../media/mf_glow_rose.png"/><Relationship Id="rId13" Type="http://schemas.openxmlformats.org/officeDocument/2006/relationships/image" Target="../media/mf_glow_emerald.png"/><Relationship Id="rId14" Type="http://schemas.openxmlformats.org/officeDocument/2006/relationships/image" Target="../media/mf_robo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hoto" descr="Pantalla de inicio de sesión de MediFlow en un mesón de recepción hospitalar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scrim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glowR" descr=""/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-2560320" y="2926080"/>
            <a:ext cx="7315200" cy="7315200"/>
          </a:xfrm>
          <a:prstGeom prst="rect">
            <a:avLst/>
          </a:prstGeom>
        </p:spPr>
      </p:pic>
      <p:pic>
        <p:nvPicPr>
          <p:cNvPr id="5" name="!!glowG" descr="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10972800" y="-3657600"/>
            <a:ext cx="4572000" cy="4572000"/>
          </a:xfrm>
          <a:prstGeom prst="rect">
            <a:avLst/>
          </a:prstGeom>
        </p:spPr>
      </p:pic>
      <p:pic>
        <p:nvPicPr>
          <p:cNvPr id="6" name="!!logoIcon" descr="Logo de MediFlow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960120"/>
            <a:ext cx="777240" cy="777240"/>
          </a:xfrm>
          <a:prstGeom prst="rect">
            <a:avLst/>
          </a:prstGeom>
        </p:spPr>
      </p:pic>
      <p:sp>
        <p:nvSpPr>
          <p:cNvPr id="7" name="!!kicker"/>
          <p:cNvSpPr txBox="1"/>
          <p:nvPr/>
        </p:nvSpPr>
        <p:spPr>
          <a:xfrm>
            <a:off x="777240" y="1874520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400" b="1" i="0" spc="300" dirty="0">
                <a:solidFill>
                  <a:srgbClr val="F0365F"/>
                </a:solidFill>
                <a:latin typeface="Calibri"/>
                <a:cs typeface="Calibri"/>
              </a:rPr>
              <a:t>HACKATHON ONE G10 · EQUIPO 5</a:t>
            </a:r>
            <a:endParaRPr lang="es-ES" sz="1400" dirty="0"/>
          </a:p>
        </p:txBody>
      </p:sp>
      <p:sp>
        <p:nvSpPr>
          <p:cNvPr id="8" name="!!brand"/>
          <p:cNvSpPr txBox="1"/>
          <p:nvPr/>
        </p:nvSpPr>
        <p:spPr>
          <a:xfrm>
            <a:off x="731520" y="224028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80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80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8000" dirty="0"/>
          </a:p>
        </p:txBody>
      </p:sp>
      <p:sp>
        <p:nvSpPr>
          <p:cNvPr id="9" name="sub"/>
          <p:cNvSpPr txBox="1"/>
          <p:nvPr/>
        </p:nvSpPr>
        <p:spPr>
          <a:xfrm>
            <a:off x="777240" y="35204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2400" b="0" i="0" dirty="0">
                <a:solidFill>
                  <a:srgbClr val="D6DCE6"/>
                </a:solidFill>
                <a:latin typeface="Calibri"/>
                <a:cs typeface="Calibri"/>
              </a:rPr>
              <a:t>Triaje, extracción y derivación de documentos clínicos con IA</a:t>
            </a:r>
            <a:endParaRPr lang="es-ES" sz="2400" dirty="0"/>
          </a:p>
        </p:txBody>
      </p:sp>
      <p:sp>
        <p:nvSpPr>
          <p:cNvPr id="10" name="tag"/>
          <p:cNvSpPr txBox="1"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600" b="0" i="0" dirty="0">
                <a:solidFill>
                  <a:srgbClr val="A9B4C8"/>
                </a:solidFill>
                <a:latin typeface="Calibri"/>
                <a:cs typeface="Calibri"/>
              </a:rPr>
              <a:t>La IA clasifica, el sistema valida y las personas deciden.</a:t>
            </a:r>
            <a:endParaRPr lang="es-E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hoto" descr="Pantalla de inicio de sesión de MediFlow en un mesón de recepción hospitalar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66015" y="0"/>
            <a:ext cx="12191695" cy="6858000"/>
          </a:xfrm>
          <a:prstGeom prst="rect">
            <a:avLst/>
          </a:prstGeom>
        </p:spPr>
      </p:pic>
      <p:pic>
        <p:nvPicPr>
          <p:cNvPr id="3" name="!!scrim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66015" y="0"/>
            <a:ext cx="12191695" cy="6858000"/>
          </a:xfrm>
          <a:prstGeom prst="rect">
            <a:avLst/>
          </a:prstGeom>
        </p:spPr>
      </p:pic>
      <p:pic>
        <p:nvPicPr>
          <p:cNvPr id="4" name="!!glowR" descr=""/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7589520" y="-2468880"/>
            <a:ext cx="6400800" cy="6400800"/>
          </a:xfrm>
          <a:prstGeom prst="rect">
            <a:avLst/>
          </a:prstGeom>
        </p:spPr>
      </p:pic>
      <p:pic>
        <p:nvPicPr>
          <p:cNvPr id="5" name="!!glowG" descr="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11430000" y="5486400"/>
            <a:ext cx="4572000" cy="4572000"/>
          </a:xfrm>
          <a:prstGeom prst="rect">
            <a:avLst/>
          </a:prstGeom>
        </p:spPr>
      </p:pic>
      <p:pic>
        <p:nvPicPr>
          <p:cNvPr id="6" name="!!logoIcon" descr="Logo de MediFlow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7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8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F0365F"/>
                </a:solidFill>
                <a:latin typeface="Calibri"/>
                <a:cs typeface="Calibri"/>
              </a:rPr>
              <a:t>EL PROBLEMA</a:t>
            </a:r>
            <a:endParaRPr lang="es-ES" sz="1300" dirty="0"/>
          </a:p>
        </p:txBody>
      </p:sp>
      <p:grpSp>
        <p:nvGrpSpPr>
          <p:cNvPr id="9" name="docIntro"/>
          <p:cNvGrpSpPr/>
          <p:nvPr/>
        </p:nvGrpSpPr>
        <p:grpSpPr>
          <a:xfrm>
            <a:off x="777240" y="1417320"/>
            <a:ext cx="3383280" cy="4206240"/>
            <a:chOff x="777240" y="1417320"/>
            <a:chExt cx="3383280" cy="4206240"/>
          </a:xfrm>
        </p:grpSpPr>
        <p:sp>
          <p:nvSpPr>
            <p:cNvPr id="10" name="docCard"/>
            <p:cNvSpPr/>
            <p:nvPr/>
          </p:nvSpPr>
          <p:spPr>
            <a:xfrm>
              <a:off x="777240" y="1417320"/>
              <a:ext cx="3383280" cy="420624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" name="docIco" descr="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43000" y="1783080"/>
              <a:ext cx="457200" cy="457200"/>
            </a:xfrm>
            <a:prstGeom prst="rect">
              <a:avLst/>
            </a:prstGeom>
          </p:spPr>
        </p:pic>
        <p:sp>
          <p:nvSpPr>
            <p:cNvPr id="12" name="docTag"/>
            <p:cNvSpPr/>
            <p:nvPr/>
          </p:nvSpPr>
          <p:spPr>
            <a:xfrm>
              <a:off x="1783080" y="1828800"/>
              <a:ext cx="1600200" cy="365760"/>
            </a:xfrm>
            <a:prstGeom prst="roundRect">
              <a:avLst>
                <a:gd name="adj" fmla="val 50000"/>
              </a:avLst>
            </a:prstGeom>
            <a:solidFill>
              <a:srgbClr val="F0365F">
                <a:alpha val="16000"/>
              </a:srgbClr>
            </a:solidFill>
            <a:ln w="12700" cap="rnd">
              <a:solidFill>
                <a:srgbClr val="F0365F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/>
              <a:r>
                <a:rPr lang="es-ES" sz="1100" b="1" i="0" spc="120" dirty="0">
                  <a:solidFill>
                    <a:srgbClr val="F0365F"/>
                  </a:solidFill>
                  <a:latin typeface="Calibri"/>
                  <a:cs typeface="Calibri"/>
                </a:rPr>
                <a:t>LABORATORIO</a:t>
              </a:r>
              <a:endParaRPr lang="es-ES" sz="1100" dirty="0"/>
            </a:p>
          </p:txBody>
        </p:sp>
        <p:sp>
          <p:nvSpPr>
            <p:cNvPr id="13" name="docT"/>
            <p:cNvSpPr txBox="1"/>
            <p:nvPr/>
          </p:nvSpPr>
          <p:spPr>
            <a:xfrm>
              <a:off x="1143000" y="2514600"/>
              <a:ext cx="2834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2600" b="1" i="0" dirty="0">
                  <a:solidFill>
                    <a:srgbClr val="EEF1F6"/>
                  </a:solidFill>
                  <a:latin typeface="Calibri"/>
                  <a:cs typeface="Calibri"/>
                </a:rPr>
                <a:t>Examen urgente</a:t>
              </a:r>
              <a:endParaRPr lang="es-ES" sz="2600" dirty="0"/>
            </a:p>
          </p:txBody>
        </p:sp>
        <p:sp>
          <p:nvSpPr>
            <p:cNvPr id="14" name="docS"/>
            <p:cNvSpPr txBox="1"/>
            <p:nvPr/>
          </p:nvSpPr>
          <p:spPr>
            <a:xfrm>
              <a:off x="1143000" y="301752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500" b="0" i="0" dirty="0">
                  <a:solidFill>
                    <a:srgbClr val="A9B4C8"/>
                  </a:solidFill>
                  <a:latin typeface="Calibri"/>
                  <a:cs typeface="Calibri"/>
                </a:rPr>
                <a:t>Potasio · Hemograma</a:t>
              </a:r>
              <a:endParaRPr lang="es-ES" sz="1500" dirty="0"/>
            </a:p>
          </p:txBody>
        </p:sp>
        <p:sp>
          <p:nvSpPr>
            <p:cNvPr id="15" name="docL0"/>
            <p:cNvSpPr/>
            <p:nvPr/>
          </p:nvSpPr>
          <p:spPr>
            <a:xfrm>
              <a:off x="1143000" y="3611880"/>
              <a:ext cx="2651760" cy="82296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16" name="docL1"/>
            <p:cNvSpPr/>
            <p:nvPr/>
          </p:nvSpPr>
          <p:spPr>
            <a:xfrm>
              <a:off x="1143000" y="3858768"/>
              <a:ext cx="2103120" cy="82296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17" name="docL2"/>
            <p:cNvSpPr/>
            <p:nvPr/>
          </p:nvSpPr>
          <p:spPr>
            <a:xfrm>
              <a:off x="1143000" y="4105656"/>
              <a:ext cx="2377440" cy="82296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18" name="docL3"/>
            <p:cNvSpPr/>
            <p:nvPr/>
          </p:nvSpPr>
          <p:spPr>
            <a:xfrm>
              <a:off x="1143000" y="4352544"/>
              <a:ext cx="1645920" cy="82296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19" name="docSt"/>
            <p:cNvSpPr/>
            <p:nvPr/>
          </p:nvSpPr>
          <p:spPr>
            <a:xfrm>
              <a:off x="1143000" y="4846320"/>
              <a:ext cx="1600200" cy="402336"/>
            </a:xfrm>
            <a:prstGeom prst="roundRect">
              <a:avLst>
                <a:gd name="adj" fmla="val 50000"/>
              </a:avLst>
            </a:prstGeom>
            <a:solidFill>
              <a:srgbClr val="F5B33D">
                <a:alpha val="16000"/>
              </a:srgbClr>
            </a:solidFill>
            <a:ln w="12700" cap="rnd">
              <a:solidFill>
                <a:srgbClr val="F5B33D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/>
              <a:r>
                <a:rPr lang="es-ES" sz="1200" b="1" i="0" spc="120" dirty="0">
                  <a:solidFill>
                    <a:srgbClr val="F5B33D"/>
                  </a:solidFill>
                  <a:latin typeface="Calibri"/>
                  <a:cs typeface="Calibri"/>
                </a:rPr>
                <a:t>PENDIENTE</a:t>
              </a:r>
              <a:endParaRPr lang="es-ES" sz="1200" dirty="0"/>
            </a:p>
          </p:txBody>
        </p:sp>
      </p:grpSp>
      <p:sp>
        <p:nvSpPr>
          <p:cNvPr id="20" name="day0"/>
          <p:cNvSpPr/>
          <p:nvPr/>
        </p:nvSpPr>
        <p:spPr>
          <a:xfrm>
            <a:off x="4754880" y="16002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41D33"/>
          </a:solidFill>
          <a:ln w="12700" cap="rnd">
            <a:solidFill>
              <a:srgbClr val="26335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A9B4C8"/>
                </a:solidFill>
                <a:latin typeface="Calibri"/>
                <a:cs typeface="Calibri"/>
              </a:rPr>
              <a:t>Lunes</a:t>
            </a:r>
            <a:endParaRPr lang="es-ES" sz="1400" dirty="0"/>
          </a:p>
        </p:txBody>
      </p:sp>
      <p:sp>
        <p:nvSpPr>
          <p:cNvPr id="21" name="day1"/>
          <p:cNvSpPr/>
          <p:nvPr/>
        </p:nvSpPr>
        <p:spPr>
          <a:xfrm>
            <a:off x="6172200" y="16002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41D33"/>
          </a:solidFill>
          <a:ln w="12700" cap="rnd">
            <a:solidFill>
              <a:srgbClr val="26335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A9B4C8"/>
                </a:solidFill>
                <a:latin typeface="Calibri"/>
                <a:cs typeface="Calibri"/>
              </a:rPr>
              <a:t>Martes</a:t>
            </a:r>
            <a:endParaRPr lang="es-ES" sz="1400" dirty="0"/>
          </a:p>
        </p:txBody>
      </p:sp>
      <p:sp>
        <p:nvSpPr>
          <p:cNvPr id="22" name="day2"/>
          <p:cNvSpPr/>
          <p:nvPr/>
        </p:nvSpPr>
        <p:spPr>
          <a:xfrm>
            <a:off x="7589520" y="16002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41D33"/>
          </a:solidFill>
          <a:ln w="12700" cap="rnd">
            <a:solidFill>
              <a:srgbClr val="26335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A9B4C8"/>
                </a:solidFill>
                <a:latin typeface="Calibri"/>
                <a:cs typeface="Calibri"/>
              </a:rPr>
              <a:t>Miércoles</a:t>
            </a:r>
            <a:endParaRPr lang="es-ES" sz="1400" dirty="0"/>
          </a:p>
        </p:txBody>
      </p:sp>
      <p:pic>
        <p:nvPicPr>
          <p:cNvPr id="23" name="dayClock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8280" y="1600200"/>
            <a:ext cx="457200" cy="457200"/>
          </a:xfrm>
          <a:prstGeom prst="rect">
            <a:avLst/>
          </a:prstGeom>
        </p:spPr>
      </p:pic>
      <p:sp>
        <p:nvSpPr>
          <p:cNvPr id="24" name="waitBig"/>
          <p:cNvSpPr txBox="1"/>
          <p:nvPr/>
        </p:nvSpPr>
        <p:spPr>
          <a:xfrm>
            <a:off x="4709160" y="219456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0000" b="1" i="0" dirty="0">
                <a:solidFill>
                  <a:srgbClr val="EEF1F6"/>
                </a:solidFill>
                <a:latin typeface="Calibri"/>
                <a:cs typeface="Calibri"/>
              </a:rPr>
              <a:t>3 días</a:t>
            </a:r>
            <a:endParaRPr lang="es-ES" sz="10000" dirty="0"/>
          </a:p>
        </p:txBody>
      </p:sp>
      <p:sp>
        <p:nvSpPr>
          <p:cNvPr id="25" name="waitLab"/>
          <p:cNvSpPr txBox="1"/>
          <p:nvPr/>
        </p:nvSpPr>
        <p:spPr>
          <a:xfrm>
            <a:off x="4754880" y="356616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2400" b="0" i="0" dirty="0">
                <a:solidFill>
                  <a:srgbClr val="A9B4C8"/>
                </a:solidFill>
                <a:latin typeface="Calibri"/>
                <a:cs typeface="Calibri"/>
              </a:rPr>
              <a:t>esperando un examen urgente</a:t>
            </a:r>
            <a:endParaRPr lang="es-ES" sz="2400" dirty="0"/>
          </a:p>
        </p:txBody>
      </p:sp>
      <p:sp>
        <p:nvSpPr>
          <p:cNvPr id="26" name="bubble"/>
          <p:cNvSpPr/>
          <p:nvPr/>
        </p:nvSpPr>
        <p:spPr>
          <a:xfrm>
            <a:off x="4754880" y="4389120"/>
            <a:ext cx="6309360" cy="1051560"/>
          </a:xfrm>
          <a:prstGeom prst="wedgeRoundRectCallout">
            <a:avLst>
              <a:gd name="adj1" fmla="val -62000"/>
              <a:gd name="adj2" fmla="val 15000"/>
              <a:gd name="adj3" fmla="val 16667"/>
            </a:avLst>
          </a:prstGeom>
          <a:solidFill>
            <a:srgbClr val="F0365F">
              <a:alpha val="14000"/>
            </a:srgbClr>
          </a:solidFill>
          <a:ln w="15875" cap="rnd">
            <a:solidFill>
              <a:srgbClr val="F0365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3000" b="0" i="1" dirty="0">
                <a:solidFill>
                  <a:srgbClr val="EEF1F6"/>
                </a:solidFill>
                <a:latin typeface="Calibri"/>
                <a:cs typeface="Calibri"/>
              </a:rPr>
              <a:t>“El doctor aún no lo revisa.”</a:t>
            </a:r>
            <a:endParaRPr lang="es-ES" sz="3000" dirty="0"/>
          </a:p>
        </p:txBody>
      </p:sp>
      <p:sp>
        <p:nvSpPr>
          <p:cNvPr id="27" name="t2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Cientos de documentos al día, </a:t>
            </a:r>
            <a:endParaRPr lang="es-ES" sz="3600" dirty="0"/>
          </a:p>
          <a:p>
            <a:pPr algn="l">
              <a:lnSpc>
                <a:spcPct val="92000"/>
              </a:lnSpc>
            </a:pP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y casi todos se siguen leyendo </a:t>
            </a:r>
            <a:r>
              <a:rPr lang="es-ES" sz="3600" b="1" i="0" dirty="0">
                <a:solidFill>
                  <a:srgbClr val="F0365F"/>
                </a:solidFill>
                <a:latin typeface="Calibri"/>
                <a:cs typeface="Calibri"/>
              </a:rPr>
              <a:t>a mano</a:t>
            </a:r>
            <a:endParaRPr lang="es-ES" sz="3600" dirty="0"/>
          </a:p>
        </p:txBody>
      </p:sp>
      <p:grpSp>
        <p:nvGrpSpPr>
          <p:cNvPr id="28" name="wallRow0"/>
          <p:cNvGrpSpPr/>
          <p:nvPr/>
        </p:nvGrpSpPr>
        <p:grpSpPr>
          <a:xfrm>
            <a:off x="777240" y="2514600"/>
            <a:ext cx="10486339" cy="566928"/>
            <a:chOff x="777240" y="2514600"/>
            <a:chExt cx="10486339" cy="566928"/>
          </a:xfrm>
        </p:grpSpPr>
        <p:sp>
          <p:nvSpPr>
            <p:cNvPr id="29" name="tile0_0"/>
            <p:cNvSpPr/>
            <p:nvPr/>
          </p:nvSpPr>
          <p:spPr>
            <a:xfrm>
              <a:off x="777240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0" name="tileI0_0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896112" y="2679192"/>
              <a:ext cx="237744" cy="237744"/>
            </a:xfrm>
            <a:prstGeom prst="rect">
              <a:avLst/>
            </a:prstGeom>
          </p:spPr>
        </p:pic>
        <p:sp>
          <p:nvSpPr>
            <p:cNvPr id="31" name="tile0_1"/>
            <p:cNvSpPr/>
            <p:nvPr/>
          </p:nvSpPr>
          <p:spPr>
            <a:xfrm>
              <a:off x="1366114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2" name="tileI0_1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1484986" y="2679192"/>
              <a:ext cx="237744" cy="237744"/>
            </a:xfrm>
            <a:prstGeom prst="rect">
              <a:avLst/>
            </a:prstGeom>
          </p:spPr>
        </p:pic>
        <p:sp>
          <p:nvSpPr>
            <p:cNvPr id="33" name="tile0_2"/>
            <p:cNvSpPr/>
            <p:nvPr/>
          </p:nvSpPr>
          <p:spPr>
            <a:xfrm>
              <a:off x="1954987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4" name="tileI0_2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2073859" y="2679192"/>
              <a:ext cx="237744" cy="237744"/>
            </a:xfrm>
            <a:prstGeom prst="rect">
              <a:avLst/>
            </a:prstGeom>
          </p:spPr>
        </p:pic>
        <p:sp>
          <p:nvSpPr>
            <p:cNvPr id="35" name="tile0_3"/>
            <p:cNvSpPr/>
            <p:nvPr/>
          </p:nvSpPr>
          <p:spPr>
            <a:xfrm>
              <a:off x="2543861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6" name="tileI0_3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2662733" y="2679192"/>
              <a:ext cx="237744" cy="237744"/>
            </a:xfrm>
            <a:prstGeom prst="rect">
              <a:avLst/>
            </a:prstGeom>
          </p:spPr>
        </p:pic>
        <p:sp>
          <p:nvSpPr>
            <p:cNvPr id="37" name="tile0_4"/>
            <p:cNvSpPr/>
            <p:nvPr/>
          </p:nvSpPr>
          <p:spPr>
            <a:xfrm>
              <a:off x="3132734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8" name="tileI0_4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3251606" y="2679192"/>
              <a:ext cx="237744" cy="237744"/>
            </a:xfrm>
            <a:prstGeom prst="rect">
              <a:avLst/>
            </a:prstGeom>
          </p:spPr>
        </p:pic>
        <p:sp>
          <p:nvSpPr>
            <p:cNvPr id="39" name="tile0_5"/>
            <p:cNvSpPr/>
            <p:nvPr/>
          </p:nvSpPr>
          <p:spPr>
            <a:xfrm>
              <a:off x="3721608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40" name="tileI0_5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3840480" y="2679192"/>
              <a:ext cx="237744" cy="237744"/>
            </a:xfrm>
            <a:prstGeom prst="rect">
              <a:avLst/>
            </a:prstGeom>
          </p:spPr>
        </p:pic>
        <p:sp>
          <p:nvSpPr>
            <p:cNvPr id="41" name="tile0_6"/>
            <p:cNvSpPr/>
            <p:nvPr/>
          </p:nvSpPr>
          <p:spPr>
            <a:xfrm>
              <a:off x="4310482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42" name="tileI0_6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4429354" y="2679192"/>
              <a:ext cx="237744" cy="237744"/>
            </a:xfrm>
            <a:prstGeom prst="rect">
              <a:avLst/>
            </a:prstGeom>
          </p:spPr>
        </p:pic>
        <p:sp>
          <p:nvSpPr>
            <p:cNvPr id="43" name="tile0_7"/>
            <p:cNvSpPr/>
            <p:nvPr/>
          </p:nvSpPr>
          <p:spPr>
            <a:xfrm>
              <a:off x="4899355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44" name="tileI0_7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5018227" y="2679192"/>
              <a:ext cx="237744" cy="237744"/>
            </a:xfrm>
            <a:prstGeom prst="rect">
              <a:avLst/>
            </a:prstGeom>
          </p:spPr>
        </p:pic>
        <p:sp>
          <p:nvSpPr>
            <p:cNvPr id="45" name="tile0_8"/>
            <p:cNvSpPr/>
            <p:nvPr/>
          </p:nvSpPr>
          <p:spPr>
            <a:xfrm>
              <a:off x="5488229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46" name="tileI0_8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5607101" y="2679192"/>
              <a:ext cx="237744" cy="237744"/>
            </a:xfrm>
            <a:prstGeom prst="rect">
              <a:avLst/>
            </a:prstGeom>
          </p:spPr>
        </p:pic>
        <p:sp>
          <p:nvSpPr>
            <p:cNvPr id="47" name="tile0_9"/>
            <p:cNvSpPr/>
            <p:nvPr/>
          </p:nvSpPr>
          <p:spPr>
            <a:xfrm>
              <a:off x="6077102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48" name="tileI0_9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6195974" y="2679192"/>
              <a:ext cx="237744" cy="237744"/>
            </a:xfrm>
            <a:prstGeom prst="rect">
              <a:avLst/>
            </a:prstGeom>
          </p:spPr>
        </p:pic>
        <p:sp>
          <p:nvSpPr>
            <p:cNvPr id="49" name="tile0_10"/>
            <p:cNvSpPr/>
            <p:nvPr/>
          </p:nvSpPr>
          <p:spPr>
            <a:xfrm>
              <a:off x="6665976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50" name="tileI0_10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6784848" y="2679192"/>
              <a:ext cx="237744" cy="237744"/>
            </a:xfrm>
            <a:prstGeom prst="rect">
              <a:avLst/>
            </a:prstGeom>
          </p:spPr>
        </p:pic>
        <p:sp>
          <p:nvSpPr>
            <p:cNvPr id="51" name="tile0_11"/>
            <p:cNvSpPr/>
            <p:nvPr/>
          </p:nvSpPr>
          <p:spPr>
            <a:xfrm>
              <a:off x="7254850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52" name="tileI0_11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7373722" y="2679192"/>
              <a:ext cx="237744" cy="237744"/>
            </a:xfrm>
            <a:prstGeom prst="rect">
              <a:avLst/>
            </a:prstGeom>
          </p:spPr>
        </p:pic>
        <p:sp>
          <p:nvSpPr>
            <p:cNvPr id="53" name="tile0_12"/>
            <p:cNvSpPr/>
            <p:nvPr/>
          </p:nvSpPr>
          <p:spPr>
            <a:xfrm>
              <a:off x="7843723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54" name="tileI0_12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7962595" y="2679192"/>
              <a:ext cx="237744" cy="237744"/>
            </a:xfrm>
            <a:prstGeom prst="rect">
              <a:avLst/>
            </a:prstGeom>
          </p:spPr>
        </p:pic>
        <p:sp>
          <p:nvSpPr>
            <p:cNvPr id="55" name="tile0_13"/>
            <p:cNvSpPr/>
            <p:nvPr/>
          </p:nvSpPr>
          <p:spPr>
            <a:xfrm>
              <a:off x="8432597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56" name="tileI0_13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8551469" y="2679192"/>
              <a:ext cx="237744" cy="237744"/>
            </a:xfrm>
            <a:prstGeom prst="rect">
              <a:avLst/>
            </a:prstGeom>
          </p:spPr>
        </p:pic>
        <p:sp>
          <p:nvSpPr>
            <p:cNvPr id="57" name="tile0_14"/>
            <p:cNvSpPr/>
            <p:nvPr/>
          </p:nvSpPr>
          <p:spPr>
            <a:xfrm>
              <a:off x="9021470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58" name="tileI0_14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9140342" y="2679192"/>
              <a:ext cx="237744" cy="237744"/>
            </a:xfrm>
            <a:prstGeom prst="rect">
              <a:avLst/>
            </a:prstGeom>
          </p:spPr>
        </p:pic>
        <p:sp>
          <p:nvSpPr>
            <p:cNvPr id="59" name="tile0_15"/>
            <p:cNvSpPr/>
            <p:nvPr/>
          </p:nvSpPr>
          <p:spPr>
            <a:xfrm>
              <a:off x="9610344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60" name="tileI0_15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9729216" y="2679192"/>
              <a:ext cx="237744" cy="237744"/>
            </a:xfrm>
            <a:prstGeom prst="rect">
              <a:avLst/>
            </a:prstGeom>
          </p:spPr>
        </p:pic>
        <p:sp>
          <p:nvSpPr>
            <p:cNvPr id="61" name="tile0_16"/>
            <p:cNvSpPr/>
            <p:nvPr/>
          </p:nvSpPr>
          <p:spPr>
            <a:xfrm>
              <a:off x="10199218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62" name="tileI0_16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10318090" y="2679192"/>
              <a:ext cx="237744" cy="237744"/>
            </a:xfrm>
            <a:prstGeom prst="rect">
              <a:avLst/>
            </a:prstGeom>
          </p:spPr>
        </p:pic>
        <p:sp>
          <p:nvSpPr>
            <p:cNvPr id="63" name="tile0_17"/>
            <p:cNvSpPr/>
            <p:nvPr/>
          </p:nvSpPr>
          <p:spPr>
            <a:xfrm>
              <a:off x="10788091" y="2514600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64" name="tileI0_17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10906963" y="2679192"/>
              <a:ext cx="237744" cy="237744"/>
            </a:xfrm>
            <a:prstGeom prst="rect">
              <a:avLst/>
            </a:prstGeom>
          </p:spPr>
        </p:pic>
      </p:grpSp>
      <p:grpSp>
        <p:nvGrpSpPr>
          <p:cNvPr id="65" name="wallRow1"/>
          <p:cNvGrpSpPr/>
          <p:nvPr/>
        </p:nvGrpSpPr>
        <p:grpSpPr>
          <a:xfrm>
            <a:off x="777240" y="3191256"/>
            <a:ext cx="10486339" cy="566928"/>
            <a:chOff x="777240" y="3191256"/>
            <a:chExt cx="10486339" cy="566928"/>
          </a:xfrm>
        </p:grpSpPr>
        <p:sp>
          <p:nvSpPr>
            <p:cNvPr id="66" name="tile1_0"/>
            <p:cNvSpPr/>
            <p:nvPr/>
          </p:nvSpPr>
          <p:spPr>
            <a:xfrm>
              <a:off x="777240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67" name="tileI1_0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896112" y="3355848"/>
              <a:ext cx="237744" cy="237744"/>
            </a:xfrm>
            <a:prstGeom prst="rect">
              <a:avLst/>
            </a:prstGeom>
          </p:spPr>
        </p:pic>
        <p:sp>
          <p:nvSpPr>
            <p:cNvPr id="68" name="tile1_1"/>
            <p:cNvSpPr/>
            <p:nvPr/>
          </p:nvSpPr>
          <p:spPr>
            <a:xfrm>
              <a:off x="1366114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69" name="tileI1_1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1484986" y="3355848"/>
              <a:ext cx="237744" cy="237744"/>
            </a:xfrm>
            <a:prstGeom prst="rect">
              <a:avLst/>
            </a:prstGeom>
          </p:spPr>
        </p:pic>
        <p:sp>
          <p:nvSpPr>
            <p:cNvPr id="70" name="tile1_2"/>
            <p:cNvSpPr/>
            <p:nvPr/>
          </p:nvSpPr>
          <p:spPr>
            <a:xfrm>
              <a:off x="1954987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71" name="tileI1_2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2073859" y="3355848"/>
              <a:ext cx="237744" cy="237744"/>
            </a:xfrm>
            <a:prstGeom prst="rect">
              <a:avLst/>
            </a:prstGeom>
          </p:spPr>
        </p:pic>
        <p:sp>
          <p:nvSpPr>
            <p:cNvPr id="72" name="tile1_3"/>
            <p:cNvSpPr/>
            <p:nvPr/>
          </p:nvSpPr>
          <p:spPr>
            <a:xfrm>
              <a:off x="2543861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73" name="tileI1_3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2662733" y="3355848"/>
              <a:ext cx="237744" cy="237744"/>
            </a:xfrm>
            <a:prstGeom prst="rect">
              <a:avLst/>
            </a:prstGeom>
          </p:spPr>
        </p:pic>
        <p:sp>
          <p:nvSpPr>
            <p:cNvPr id="74" name="tile1_4"/>
            <p:cNvSpPr/>
            <p:nvPr/>
          </p:nvSpPr>
          <p:spPr>
            <a:xfrm>
              <a:off x="3132734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75" name="tileI1_4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3251606" y="3355848"/>
              <a:ext cx="237744" cy="237744"/>
            </a:xfrm>
            <a:prstGeom prst="rect">
              <a:avLst/>
            </a:prstGeom>
          </p:spPr>
        </p:pic>
        <p:sp>
          <p:nvSpPr>
            <p:cNvPr id="76" name="tile1_5"/>
            <p:cNvSpPr/>
            <p:nvPr/>
          </p:nvSpPr>
          <p:spPr>
            <a:xfrm>
              <a:off x="3721608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77" name="tileI1_5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3840480" y="3355848"/>
              <a:ext cx="237744" cy="237744"/>
            </a:xfrm>
            <a:prstGeom prst="rect">
              <a:avLst/>
            </a:prstGeom>
          </p:spPr>
        </p:pic>
        <p:sp>
          <p:nvSpPr>
            <p:cNvPr id="78" name="tile1_6"/>
            <p:cNvSpPr/>
            <p:nvPr/>
          </p:nvSpPr>
          <p:spPr>
            <a:xfrm>
              <a:off x="4310482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79" name="tileI1_6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4429354" y="3355848"/>
              <a:ext cx="237744" cy="237744"/>
            </a:xfrm>
            <a:prstGeom prst="rect">
              <a:avLst/>
            </a:prstGeom>
          </p:spPr>
        </p:pic>
        <p:sp>
          <p:nvSpPr>
            <p:cNvPr id="80" name="tile1_7"/>
            <p:cNvSpPr/>
            <p:nvPr/>
          </p:nvSpPr>
          <p:spPr>
            <a:xfrm>
              <a:off x="4899355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81" name="tileI1_7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5018227" y="3355848"/>
              <a:ext cx="237744" cy="237744"/>
            </a:xfrm>
            <a:prstGeom prst="rect">
              <a:avLst/>
            </a:prstGeom>
          </p:spPr>
        </p:pic>
        <p:sp>
          <p:nvSpPr>
            <p:cNvPr id="82" name="tile1_8"/>
            <p:cNvSpPr/>
            <p:nvPr/>
          </p:nvSpPr>
          <p:spPr>
            <a:xfrm>
              <a:off x="5488229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83" name="tileI1_8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5607101" y="3355848"/>
              <a:ext cx="237744" cy="237744"/>
            </a:xfrm>
            <a:prstGeom prst="rect">
              <a:avLst/>
            </a:prstGeom>
          </p:spPr>
        </p:pic>
        <p:sp>
          <p:nvSpPr>
            <p:cNvPr id="84" name="tile1_9"/>
            <p:cNvSpPr/>
            <p:nvPr/>
          </p:nvSpPr>
          <p:spPr>
            <a:xfrm>
              <a:off x="6077102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85" name="tileI1_9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6195974" y="3355848"/>
              <a:ext cx="237744" cy="237744"/>
            </a:xfrm>
            <a:prstGeom prst="rect">
              <a:avLst/>
            </a:prstGeom>
          </p:spPr>
        </p:pic>
        <p:sp>
          <p:nvSpPr>
            <p:cNvPr id="86" name="tile1_10"/>
            <p:cNvSpPr/>
            <p:nvPr/>
          </p:nvSpPr>
          <p:spPr>
            <a:xfrm>
              <a:off x="6665976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87" name="tileI1_10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6784848" y="3355848"/>
              <a:ext cx="237744" cy="237744"/>
            </a:xfrm>
            <a:prstGeom prst="rect">
              <a:avLst/>
            </a:prstGeom>
          </p:spPr>
        </p:pic>
        <p:sp>
          <p:nvSpPr>
            <p:cNvPr id="88" name="tile1_11"/>
            <p:cNvSpPr/>
            <p:nvPr/>
          </p:nvSpPr>
          <p:spPr>
            <a:xfrm>
              <a:off x="7254850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89" name="tileI1_11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7373722" y="3355848"/>
              <a:ext cx="237744" cy="237744"/>
            </a:xfrm>
            <a:prstGeom prst="rect">
              <a:avLst/>
            </a:prstGeom>
          </p:spPr>
        </p:pic>
        <p:sp>
          <p:nvSpPr>
            <p:cNvPr id="90" name="tile1_12"/>
            <p:cNvSpPr/>
            <p:nvPr/>
          </p:nvSpPr>
          <p:spPr>
            <a:xfrm>
              <a:off x="7843723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91" name="tileI1_12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7962595" y="3355848"/>
              <a:ext cx="237744" cy="237744"/>
            </a:xfrm>
            <a:prstGeom prst="rect">
              <a:avLst/>
            </a:prstGeom>
          </p:spPr>
        </p:pic>
        <p:sp>
          <p:nvSpPr>
            <p:cNvPr id="92" name="tile1_13"/>
            <p:cNvSpPr/>
            <p:nvPr/>
          </p:nvSpPr>
          <p:spPr>
            <a:xfrm>
              <a:off x="8432597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93" name="tileI1_13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8551469" y="3355848"/>
              <a:ext cx="237744" cy="237744"/>
            </a:xfrm>
            <a:prstGeom prst="rect">
              <a:avLst/>
            </a:prstGeom>
          </p:spPr>
        </p:pic>
        <p:sp>
          <p:nvSpPr>
            <p:cNvPr id="94" name="tile1_14"/>
            <p:cNvSpPr/>
            <p:nvPr/>
          </p:nvSpPr>
          <p:spPr>
            <a:xfrm>
              <a:off x="9021470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95" name="tileI1_14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9140342" y="3355848"/>
              <a:ext cx="237744" cy="237744"/>
            </a:xfrm>
            <a:prstGeom prst="rect">
              <a:avLst/>
            </a:prstGeom>
          </p:spPr>
        </p:pic>
        <p:sp>
          <p:nvSpPr>
            <p:cNvPr id="96" name="tile1_15"/>
            <p:cNvSpPr/>
            <p:nvPr/>
          </p:nvSpPr>
          <p:spPr>
            <a:xfrm>
              <a:off x="9610344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97" name="tileI1_15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9729216" y="3355848"/>
              <a:ext cx="237744" cy="237744"/>
            </a:xfrm>
            <a:prstGeom prst="rect">
              <a:avLst/>
            </a:prstGeom>
          </p:spPr>
        </p:pic>
        <p:sp>
          <p:nvSpPr>
            <p:cNvPr id="98" name="tile1_16"/>
            <p:cNvSpPr/>
            <p:nvPr/>
          </p:nvSpPr>
          <p:spPr>
            <a:xfrm>
              <a:off x="10199218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99" name="tileI1_16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10318090" y="3355848"/>
              <a:ext cx="237744" cy="237744"/>
            </a:xfrm>
            <a:prstGeom prst="rect">
              <a:avLst/>
            </a:prstGeom>
          </p:spPr>
        </p:pic>
        <p:sp>
          <p:nvSpPr>
            <p:cNvPr id="100" name="tile1_17"/>
            <p:cNvSpPr/>
            <p:nvPr/>
          </p:nvSpPr>
          <p:spPr>
            <a:xfrm>
              <a:off x="10788091" y="3191256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01" name="tileI1_17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10906963" y="3355848"/>
              <a:ext cx="237744" cy="237744"/>
            </a:xfrm>
            <a:prstGeom prst="rect">
              <a:avLst/>
            </a:prstGeom>
          </p:spPr>
        </p:pic>
      </p:grpSp>
      <p:grpSp>
        <p:nvGrpSpPr>
          <p:cNvPr id="102" name="wallRow2"/>
          <p:cNvGrpSpPr/>
          <p:nvPr/>
        </p:nvGrpSpPr>
        <p:grpSpPr>
          <a:xfrm>
            <a:off x="777240" y="3867912"/>
            <a:ext cx="10486339" cy="566928"/>
            <a:chOff x="777240" y="3867912"/>
            <a:chExt cx="10486339" cy="566928"/>
          </a:xfrm>
        </p:grpSpPr>
        <p:sp>
          <p:nvSpPr>
            <p:cNvPr id="103" name="tile2_0"/>
            <p:cNvSpPr/>
            <p:nvPr/>
          </p:nvSpPr>
          <p:spPr>
            <a:xfrm>
              <a:off x="777240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04" name="tileI2_0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896112" y="4032504"/>
              <a:ext cx="237744" cy="237744"/>
            </a:xfrm>
            <a:prstGeom prst="rect">
              <a:avLst/>
            </a:prstGeom>
          </p:spPr>
        </p:pic>
        <p:sp>
          <p:nvSpPr>
            <p:cNvPr id="105" name="tile2_1"/>
            <p:cNvSpPr/>
            <p:nvPr/>
          </p:nvSpPr>
          <p:spPr>
            <a:xfrm>
              <a:off x="1366114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06" name="tileI2_1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1484986" y="4032504"/>
              <a:ext cx="237744" cy="237744"/>
            </a:xfrm>
            <a:prstGeom prst="rect">
              <a:avLst/>
            </a:prstGeom>
          </p:spPr>
        </p:pic>
        <p:sp>
          <p:nvSpPr>
            <p:cNvPr id="107" name="tile2_2"/>
            <p:cNvSpPr/>
            <p:nvPr/>
          </p:nvSpPr>
          <p:spPr>
            <a:xfrm>
              <a:off x="1954987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08" name="tileI2_2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2073859" y="4032504"/>
              <a:ext cx="237744" cy="237744"/>
            </a:xfrm>
            <a:prstGeom prst="rect">
              <a:avLst/>
            </a:prstGeom>
          </p:spPr>
        </p:pic>
        <p:sp>
          <p:nvSpPr>
            <p:cNvPr id="109" name="tile2_3"/>
            <p:cNvSpPr/>
            <p:nvPr/>
          </p:nvSpPr>
          <p:spPr>
            <a:xfrm>
              <a:off x="2543861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0" name="tileI2_3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2662733" y="4032504"/>
              <a:ext cx="237744" cy="237744"/>
            </a:xfrm>
            <a:prstGeom prst="rect">
              <a:avLst/>
            </a:prstGeom>
          </p:spPr>
        </p:pic>
        <p:sp>
          <p:nvSpPr>
            <p:cNvPr id="111" name="tile2_4"/>
            <p:cNvSpPr/>
            <p:nvPr/>
          </p:nvSpPr>
          <p:spPr>
            <a:xfrm>
              <a:off x="3132734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2" name="tileI2_4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3251606" y="4032504"/>
              <a:ext cx="237744" cy="237744"/>
            </a:xfrm>
            <a:prstGeom prst="rect">
              <a:avLst/>
            </a:prstGeom>
          </p:spPr>
        </p:pic>
        <p:sp>
          <p:nvSpPr>
            <p:cNvPr id="113" name="tile2_5"/>
            <p:cNvSpPr/>
            <p:nvPr/>
          </p:nvSpPr>
          <p:spPr>
            <a:xfrm>
              <a:off x="3721608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4" name="tileI2_5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3840480" y="4032504"/>
              <a:ext cx="237744" cy="237744"/>
            </a:xfrm>
            <a:prstGeom prst="rect">
              <a:avLst/>
            </a:prstGeom>
          </p:spPr>
        </p:pic>
        <p:sp>
          <p:nvSpPr>
            <p:cNvPr id="115" name="tile2_6"/>
            <p:cNvSpPr/>
            <p:nvPr/>
          </p:nvSpPr>
          <p:spPr>
            <a:xfrm>
              <a:off x="4310482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6" name="tileI2_6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4429354" y="4032504"/>
              <a:ext cx="237744" cy="237744"/>
            </a:xfrm>
            <a:prstGeom prst="rect">
              <a:avLst/>
            </a:prstGeom>
          </p:spPr>
        </p:pic>
        <p:sp>
          <p:nvSpPr>
            <p:cNvPr id="117" name="tile2_7"/>
            <p:cNvSpPr/>
            <p:nvPr/>
          </p:nvSpPr>
          <p:spPr>
            <a:xfrm>
              <a:off x="4899355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18" name="tileI2_7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5018227" y="4032504"/>
              <a:ext cx="237744" cy="237744"/>
            </a:xfrm>
            <a:prstGeom prst="rect">
              <a:avLst/>
            </a:prstGeom>
          </p:spPr>
        </p:pic>
        <p:sp>
          <p:nvSpPr>
            <p:cNvPr id="119" name="tile2_8"/>
            <p:cNvSpPr/>
            <p:nvPr/>
          </p:nvSpPr>
          <p:spPr>
            <a:xfrm>
              <a:off x="5488229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20" name="tileI2_8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5607101" y="4032504"/>
              <a:ext cx="237744" cy="237744"/>
            </a:xfrm>
            <a:prstGeom prst="rect">
              <a:avLst/>
            </a:prstGeom>
          </p:spPr>
        </p:pic>
        <p:sp>
          <p:nvSpPr>
            <p:cNvPr id="121" name="tile2_9"/>
            <p:cNvSpPr/>
            <p:nvPr/>
          </p:nvSpPr>
          <p:spPr>
            <a:xfrm>
              <a:off x="6077102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22" name="tileI2_9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6195974" y="4032504"/>
              <a:ext cx="237744" cy="237744"/>
            </a:xfrm>
            <a:prstGeom prst="rect">
              <a:avLst/>
            </a:prstGeom>
          </p:spPr>
        </p:pic>
        <p:sp>
          <p:nvSpPr>
            <p:cNvPr id="123" name="tile2_10"/>
            <p:cNvSpPr/>
            <p:nvPr/>
          </p:nvSpPr>
          <p:spPr>
            <a:xfrm>
              <a:off x="6665976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24" name="tileI2_10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6784848" y="4032504"/>
              <a:ext cx="237744" cy="237744"/>
            </a:xfrm>
            <a:prstGeom prst="rect">
              <a:avLst/>
            </a:prstGeom>
          </p:spPr>
        </p:pic>
        <p:sp>
          <p:nvSpPr>
            <p:cNvPr id="125" name="tile2_11"/>
            <p:cNvSpPr/>
            <p:nvPr/>
          </p:nvSpPr>
          <p:spPr>
            <a:xfrm>
              <a:off x="7254850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26" name="tileI2_11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7373722" y="4032504"/>
              <a:ext cx="237744" cy="237744"/>
            </a:xfrm>
            <a:prstGeom prst="rect">
              <a:avLst/>
            </a:prstGeom>
          </p:spPr>
        </p:pic>
        <p:sp>
          <p:nvSpPr>
            <p:cNvPr id="127" name="tile2_13"/>
            <p:cNvSpPr/>
            <p:nvPr/>
          </p:nvSpPr>
          <p:spPr>
            <a:xfrm>
              <a:off x="8432597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28" name="tileI2_13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8551469" y="4032504"/>
              <a:ext cx="237744" cy="237744"/>
            </a:xfrm>
            <a:prstGeom prst="rect">
              <a:avLst/>
            </a:prstGeom>
          </p:spPr>
        </p:pic>
        <p:sp>
          <p:nvSpPr>
            <p:cNvPr id="129" name="tile2_14"/>
            <p:cNvSpPr/>
            <p:nvPr/>
          </p:nvSpPr>
          <p:spPr>
            <a:xfrm>
              <a:off x="9021470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30" name="tileI2_14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9140342" y="4032504"/>
              <a:ext cx="237744" cy="237744"/>
            </a:xfrm>
            <a:prstGeom prst="rect">
              <a:avLst/>
            </a:prstGeom>
          </p:spPr>
        </p:pic>
        <p:sp>
          <p:nvSpPr>
            <p:cNvPr id="131" name="tile2_15"/>
            <p:cNvSpPr/>
            <p:nvPr/>
          </p:nvSpPr>
          <p:spPr>
            <a:xfrm>
              <a:off x="9610344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32" name="tileI2_15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9729216" y="4032504"/>
              <a:ext cx="237744" cy="237744"/>
            </a:xfrm>
            <a:prstGeom prst="rect">
              <a:avLst/>
            </a:prstGeom>
          </p:spPr>
        </p:pic>
        <p:sp>
          <p:nvSpPr>
            <p:cNvPr id="133" name="tile2_16"/>
            <p:cNvSpPr/>
            <p:nvPr/>
          </p:nvSpPr>
          <p:spPr>
            <a:xfrm>
              <a:off x="10199218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34" name="tileI2_16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10318090" y="4032504"/>
              <a:ext cx="237744" cy="237744"/>
            </a:xfrm>
            <a:prstGeom prst="rect">
              <a:avLst/>
            </a:prstGeom>
          </p:spPr>
        </p:pic>
        <p:sp>
          <p:nvSpPr>
            <p:cNvPr id="135" name="tile2_17"/>
            <p:cNvSpPr/>
            <p:nvPr/>
          </p:nvSpPr>
          <p:spPr>
            <a:xfrm>
              <a:off x="10788091" y="3867912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36" name="tileI2_17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10906963" y="4032504"/>
              <a:ext cx="237744" cy="237744"/>
            </a:xfrm>
            <a:prstGeom prst="rect">
              <a:avLst/>
            </a:prstGeom>
          </p:spPr>
        </p:pic>
      </p:grpSp>
      <p:grpSp>
        <p:nvGrpSpPr>
          <p:cNvPr id="137" name="wallRow3"/>
          <p:cNvGrpSpPr/>
          <p:nvPr/>
        </p:nvGrpSpPr>
        <p:grpSpPr>
          <a:xfrm>
            <a:off x="777240" y="4544568"/>
            <a:ext cx="10486339" cy="566928"/>
            <a:chOff x="777240" y="4544568"/>
            <a:chExt cx="10486339" cy="566928"/>
          </a:xfrm>
        </p:grpSpPr>
        <p:sp>
          <p:nvSpPr>
            <p:cNvPr id="138" name="tile3_0"/>
            <p:cNvSpPr/>
            <p:nvPr/>
          </p:nvSpPr>
          <p:spPr>
            <a:xfrm>
              <a:off x="777240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39" name="tileI3_0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896112" y="4709160"/>
              <a:ext cx="237744" cy="237744"/>
            </a:xfrm>
            <a:prstGeom prst="rect">
              <a:avLst/>
            </a:prstGeom>
          </p:spPr>
        </p:pic>
        <p:sp>
          <p:nvSpPr>
            <p:cNvPr id="140" name="tile3_1"/>
            <p:cNvSpPr/>
            <p:nvPr/>
          </p:nvSpPr>
          <p:spPr>
            <a:xfrm>
              <a:off x="1366114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41" name="tileI3_1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1484986" y="4709160"/>
              <a:ext cx="237744" cy="237744"/>
            </a:xfrm>
            <a:prstGeom prst="rect">
              <a:avLst/>
            </a:prstGeom>
          </p:spPr>
        </p:pic>
        <p:sp>
          <p:nvSpPr>
            <p:cNvPr id="142" name="tile3_2"/>
            <p:cNvSpPr/>
            <p:nvPr/>
          </p:nvSpPr>
          <p:spPr>
            <a:xfrm>
              <a:off x="1954987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43" name="tileI3_2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2073859" y="4709160"/>
              <a:ext cx="237744" cy="237744"/>
            </a:xfrm>
            <a:prstGeom prst="rect">
              <a:avLst/>
            </a:prstGeom>
          </p:spPr>
        </p:pic>
        <p:sp>
          <p:nvSpPr>
            <p:cNvPr id="144" name="tile3_3"/>
            <p:cNvSpPr/>
            <p:nvPr/>
          </p:nvSpPr>
          <p:spPr>
            <a:xfrm>
              <a:off x="2543861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45" name="tileI3_3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2662733" y="4709160"/>
              <a:ext cx="237744" cy="237744"/>
            </a:xfrm>
            <a:prstGeom prst="rect">
              <a:avLst/>
            </a:prstGeom>
          </p:spPr>
        </p:pic>
        <p:sp>
          <p:nvSpPr>
            <p:cNvPr id="146" name="tile3_4"/>
            <p:cNvSpPr/>
            <p:nvPr/>
          </p:nvSpPr>
          <p:spPr>
            <a:xfrm>
              <a:off x="3132734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47" name="tileI3_4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3251606" y="4709160"/>
              <a:ext cx="237744" cy="237744"/>
            </a:xfrm>
            <a:prstGeom prst="rect">
              <a:avLst/>
            </a:prstGeom>
          </p:spPr>
        </p:pic>
        <p:sp>
          <p:nvSpPr>
            <p:cNvPr id="148" name="tile3_5"/>
            <p:cNvSpPr/>
            <p:nvPr/>
          </p:nvSpPr>
          <p:spPr>
            <a:xfrm>
              <a:off x="3721608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49" name="tileI3_5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3840480" y="4709160"/>
              <a:ext cx="237744" cy="237744"/>
            </a:xfrm>
            <a:prstGeom prst="rect">
              <a:avLst/>
            </a:prstGeom>
          </p:spPr>
        </p:pic>
        <p:sp>
          <p:nvSpPr>
            <p:cNvPr id="150" name="tile3_6"/>
            <p:cNvSpPr/>
            <p:nvPr/>
          </p:nvSpPr>
          <p:spPr>
            <a:xfrm>
              <a:off x="4310482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51" name="tileI3_6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4429354" y="4709160"/>
              <a:ext cx="237744" cy="237744"/>
            </a:xfrm>
            <a:prstGeom prst="rect">
              <a:avLst/>
            </a:prstGeom>
          </p:spPr>
        </p:pic>
        <p:sp>
          <p:nvSpPr>
            <p:cNvPr id="152" name="tile3_7"/>
            <p:cNvSpPr/>
            <p:nvPr/>
          </p:nvSpPr>
          <p:spPr>
            <a:xfrm>
              <a:off x="4899355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53" name="tileI3_7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5018227" y="4709160"/>
              <a:ext cx="237744" cy="237744"/>
            </a:xfrm>
            <a:prstGeom prst="rect">
              <a:avLst/>
            </a:prstGeom>
          </p:spPr>
        </p:pic>
        <p:sp>
          <p:nvSpPr>
            <p:cNvPr id="154" name="tile3_8"/>
            <p:cNvSpPr/>
            <p:nvPr/>
          </p:nvSpPr>
          <p:spPr>
            <a:xfrm>
              <a:off x="5488229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55" name="tileI3_8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5607101" y="4709160"/>
              <a:ext cx="237744" cy="237744"/>
            </a:xfrm>
            <a:prstGeom prst="rect">
              <a:avLst/>
            </a:prstGeom>
          </p:spPr>
        </p:pic>
        <p:sp>
          <p:nvSpPr>
            <p:cNvPr id="156" name="tile3_9"/>
            <p:cNvSpPr/>
            <p:nvPr/>
          </p:nvSpPr>
          <p:spPr>
            <a:xfrm>
              <a:off x="6077102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57" name="tileI3_9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6195974" y="4709160"/>
              <a:ext cx="237744" cy="237744"/>
            </a:xfrm>
            <a:prstGeom prst="rect">
              <a:avLst/>
            </a:prstGeom>
          </p:spPr>
        </p:pic>
        <p:sp>
          <p:nvSpPr>
            <p:cNvPr id="158" name="tile3_10"/>
            <p:cNvSpPr/>
            <p:nvPr/>
          </p:nvSpPr>
          <p:spPr>
            <a:xfrm>
              <a:off x="6665976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59" name="tileI3_10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6784848" y="4709160"/>
              <a:ext cx="237744" cy="237744"/>
            </a:xfrm>
            <a:prstGeom prst="rect">
              <a:avLst/>
            </a:prstGeom>
          </p:spPr>
        </p:pic>
        <p:sp>
          <p:nvSpPr>
            <p:cNvPr id="160" name="tile3_11"/>
            <p:cNvSpPr/>
            <p:nvPr/>
          </p:nvSpPr>
          <p:spPr>
            <a:xfrm>
              <a:off x="7254850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61" name="tileI3_11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7373722" y="4709160"/>
              <a:ext cx="237744" cy="237744"/>
            </a:xfrm>
            <a:prstGeom prst="rect">
              <a:avLst/>
            </a:prstGeom>
          </p:spPr>
        </p:pic>
        <p:sp>
          <p:nvSpPr>
            <p:cNvPr id="162" name="tile3_12"/>
            <p:cNvSpPr/>
            <p:nvPr/>
          </p:nvSpPr>
          <p:spPr>
            <a:xfrm>
              <a:off x="7843723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63" name="tileI3_12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7962595" y="4709160"/>
              <a:ext cx="237744" cy="237744"/>
            </a:xfrm>
            <a:prstGeom prst="rect">
              <a:avLst/>
            </a:prstGeom>
          </p:spPr>
        </p:pic>
        <p:sp>
          <p:nvSpPr>
            <p:cNvPr id="164" name="tile3_13"/>
            <p:cNvSpPr/>
            <p:nvPr/>
          </p:nvSpPr>
          <p:spPr>
            <a:xfrm>
              <a:off x="8432597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65" name="tileI3_13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8551469" y="4709160"/>
              <a:ext cx="237744" cy="237744"/>
            </a:xfrm>
            <a:prstGeom prst="rect">
              <a:avLst/>
            </a:prstGeom>
          </p:spPr>
        </p:pic>
        <p:sp>
          <p:nvSpPr>
            <p:cNvPr id="166" name="tile3_14"/>
            <p:cNvSpPr/>
            <p:nvPr/>
          </p:nvSpPr>
          <p:spPr>
            <a:xfrm>
              <a:off x="9021470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67" name="tileI3_14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9140342" y="4709160"/>
              <a:ext cx="237744" cy="237744"/>
            </a:xfrm>
            <a:prstGeom prst="rect">
              <a:avLst/>
            </a:prstGeom>
          </p:spPr>
        </p:pic>
        <p:sp>
          <p:nvSpPr>
            <p:cNvPr id="168" name="tile3_15"/>
            <p:cNvSpPr/>
            <p:nvPr/>
          </p:nvSpPr>
          <p:spPr>
            <a:xfrm>
              <a:off x="9610344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69" name="tileI3_15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9729216" y="4709160"/>
              <a:ext cx="237744" cy="237744"/>
            </a:xfrm>
            <a:prstGeom prst="rect">
              <a:avLst/>
            </a:prstGeom>
          </p:spPr>
        </p:pic>
        <p:sp>
          <p:nvSpPr>
            <p:cNvPr id="170" name="tile3_16"/>
            <p:cNvSpPr/>
            <p:nvPr/>
          </p:nvSpPr>
          <p:spPr>
            <a:xfrm>
              <a:off x="10199218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71" name="tileI3_16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10318090" y="4709160"/>
              <a:ext cx="237744" cy="237744"/>
            </a:xfrm>
            <a:prstGeom prst="rect">
              <a:avLst/>
            </a:prstGeom>
          </p:spPr>
        </p:pic>
        <p:sp>
          <p:nvSpPr>
            <p:cNvPr id="172" name="tile3_17"/>
            <p:cNvSpPr/>
            <p:nvPr/>
          </p:nvSpPr>
          <p:spPr>
            <a:xfrm>
              <a:off x="10788091" y="4544568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73" name="tileI3_17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10906963" y="4709160"/>
              <a:ext cx="237744" cy="237744"/>
            </a:xfrm>
            <a:prstGeom prst="rect">
              <a:avLst/>
            </a:prstGeom>
          </p:spPr>
        </p:pic>
      </p:grpSp>
      <p:grpSp>
        <p:nvGrpSpPr>
          <p:cNvPr id="174" name="wallRow4"/>
          <p:cNvGrpSpPr/>
          <p:nvPr/>
        </p:nvGrpSpPr>
        <p:grpSpPr>
          <a:xfrm>
            <a:off x="777240" y="5221224"/>
            <a:ext cx="10486339" cy="566928"/>
            <a:chOff x="777240" y="5221224"/>
            <a:chExt cx="10486339" cy="566928"/>
          </a:xfrm>
        </p:grpSpPr>
        <p:sp>
          <p:nvSpPr>
            <p:cNvPr id="175" name="tile4_0"/>
            <p:cNvSpPr/>
            <p:nvPr/>
          </p:nvSpPr>
          <p:spPr>
            <a:xfrm>
              <a:off x="777240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76" name="tileI4_0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896112" y="5385816"/>
              <a:ext cx="237744" cy="237744"/>
            </a:xfrm>
            <a:prstGeom prst="rect">
              <a:avLst/>
            </a:prstGeom>
          </p:spPr>
        </p:pic>
        <p:sp>
          <p:nvSpPr>
            <p:cNvPr id="177" name="tile4_1"/>
            <p:cNvSpPr/>
            <p:nvPr/>
          </p:nvSpPr>
          <p:spPr>
            <a:xfrm>
              <a:off x="1366114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78" name="tileI4_1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1484986" y="5385816"/>
              <a:ext cx="237744" cy="237744"/>
            </a:xfrm>
            <a:prstGeom prst="rect">
              <a:avLst/>
            </a:prstGeom>
          </p:spPr>
        </p:pic>
        <p:sp>
          <p:nvSpPr>
            <p:cNvPr id="179" name="tile4_2"/>
            <p:cNvSpPr/>
            <p:nvPr/>
          </p:nvSpPr>
          <p:spPr>
            <a:xfrm>
              <a:off x="1954987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80" name="tileI4_2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2073859" y="5385816"/>
              <a:ext cx="237744" cy="237744"/>
            </a:xfrm>
            <a:prstGeom prst="rect">
              <a:avLst/>
            </a:prstGeom>
          </p:spPr>
        </p:pic>
        <p:sp>
          <p:nvSpPr>
            <p:cNvPr id="181" name="tile4_3"/>
            <p:cNvSpPr/>
            <p:nvPr/>
          </p:nvSpPr>
          <p:spPr>
            <a:xfrm>
              <a:off x="2543861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82" name="tileI4_3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2662733" y="5385816"/>
              <a:ext cx="237744" cy="237744"/>
            </a:xfrm>
            <a:prstGeom prst="rect">
              <a:avLst/>
            </a:prstGeom>
          </p:spPr>
        </p:pic>
        <p:sp>
          <p:nvSpPr>
            <p:cNvPr id="183" name="tile4_4"/>
            <p:cNvSpPr/>
            <p:nvPr/>
          </p:nvSpPr>
          <p:spPr>
            <a:xfrm>
              <a:off x="3132734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84" name="tileI4_4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3251606" y="5385816"/>
              <a:ext cx="237744" cy="237744"/>
            </a:xfrm>
            <a:prstGeom prst="rect">
              <a:avLst/>
            </a:prstGeom>
          </p:spPr>
        </p:pic>
        <p:sp>
          <p:nvSpPr>
            <p:cNvPr id="185" name="tile4_5"/>
            <p:cNvSpPr/>
            <p:nvPr/>
          </p:nvSpPr>
          <p:spPr>
            <a:xfrm>
              <a:off x="3721608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86" name="tileI4_5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3840480" y="5385816"/>
              <a:ext cx="237744" cy="237744"/>
            </a:xfrm>
            <a:prstGeom prst="rect">
              <a:avLst/>
            </a:prstGeom>
          </p:spPr>
        </p:pic>
        <p:sp>
          <p:nvSpPr>
            <p:cNvPr id="187" name="tile4_6"/>
            <p:cNvSpPr/>
            <p:nvPr/>
          </p:nvSpPr>
          <p:spPr>
            <a:xfrm>
              <a:off x="4310482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88" name="tileI4_6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4429354" y="5385816"/>
              <a:ext cx="237744" cy="237744"/>
            </a:xfrm>
            <a:prstGeom prst="rect">
              <a:avLst/>
            </a:prstGeom>
          </p:spPr>
        </p:pic>
        <p:sp>
          <p:nvSpPr>
            <p:cNvPr id="189" name="tile4_7"/>
            <p:cNvSpPr/>
            <p:nvPr/>
          </p:nvSpPr>
          <p:spPr>
            <a:xfrm>
              <a:off x="4899355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90" name="tileI4_7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5018227" y="5385816"/>
              <a:ext cx="237744" cy="237744"/>
            </a:xfrm>
            <a:prstGeom prst="rect">
              <a:avLst/>
            </a:prstGeom>
          </p:spPr>
        </p:pic>
        <p:sp>
          <p:nvSpPr>
            <p:cNvPr id="191" name="tile4_8"/>
            <p:cNvSpPr/>
            <p:nvPr/>
          </p:nvSpPr>
          <p:spPr>
            <a:xfrm>
              <a:off x="5488229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92" name="tileI4_8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5607101" y="5385816"/>
              <a:ext cx="237744" cy="237744"/>
            </a:xfrm>
            <a:prstGeom prst="rect">
              <a:avLst/>
            </a:prstGeom>
          </p:spPr>
        </p:pic>
        <p:sp>
          <p:nvSpPr>
            <p:cNvPr id="193" name="tile4_9"/>
            <p:cNvSpPr/>
            <p:nvPr/>
          </p:nvSpPr>
          <p:spPr>
            <a:xfrm>
              <a:off x="6077102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94" name="tileI4_9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6195974" y="5385816"/>
              <a:ext cx="237744" cy="237744"/>
            </a:xfrm>
            <a:prstGeom prst="rect">
              <a:avLst/>
            </a:prstGeom>
          </p:spPr>
        </p:pic>
        <p:sp>
          <p:nvSpPr>
            <p:cNvPr id="195" name="tile4_10"/>
            <p:cNvSpPr/>
            <p:nvPr/>
          </p:nvSpPr>
          <p:spPr>
            <a:xfrm>
              <a:off x="6665976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96" name="tileI4_10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6784848" y="5385816"/>
              <a:ext cx="237744" cy="237744"/>
            </a:xfrm>
            <a:prstGeom prst="rect">
              <a:avLst/>
            </a:prstGeom>
          </p:spPr>
        </p:pic>
        <p:sp>
          <p:nvSpPr>
            <p:cNvPr id="197" name="tile4_11"/>
            <p:cNvSpPr/>
            <p:nvPr/>
          </p:nvSpPr>
          <p:spPr>
            <a:xfrm>
              <a:off x="7254850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98" name="tileI4_11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7373722" y="5385816"/>
              <a:ext cx="237744" cy="237744"/>
            </a:xfrm>
            <a:prstGeom prst="rect">
              <a:avLst/>
            </a:prstGeom>
          </p:spPr>
        </p:pic>
        <p:sp>
          <p:nvSpPr>
            <p:cNvPr id="199" name="tile4_12"/>
            <p:cNvSpPr/>
            <p:nvPr/>
          </p:nvSpPr>
          <p:spPr>
            <a:xfrm>
              <a:off x="7843723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0" name="tileI4_12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7962595" y="5385816"/>
              <a:ext cx="237744" cy="237744"/>
            </a:xfrm>
            <a:prstGeom prst="rect">
              <a:avLst/>
            </a:prstGeom>
          </p:spPr>
        </p:pic>
        <p:sp>
          <p:nvSpPr>
            <p:cNvPr id="201" name="tile4_13"/>
            <p:cNvSpPr/>
            <p:nvPr/>
          </p:nvSpPr>
          <p:spPr>
            <a:xfrm>
              <a:off x="8432597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2" name="tileI4_13" descr=""/>
            <p:cNvPicPr>
              <a:picLocks noChangeAspect="1"/>
            </p:cNvPicPr>
            <p:nvPr/>
          </p:nvPicPr>
          <p:blipFill>
            <a:blip r:embed="rId20">
              <a:alphaModFix amt="45000"/>
            </a:blip>
            <a:stretch>
              <a:fillRect/>
            </a:stretch>
          </p:blipFill>
          <p:spPr>
            <a:xfrm>
              <a:off x="8551469" y="5385816"/>
              <a:ext cx="237744" cy="237744"/>
            </a:xfrm>
            <a:prstGeom prst="rect">
              <a:avLst/>
            </a:prstGeom>
          </p:spPr>
        </p:pic>
        <p:sp>
          <p:nvSpPr>
            <p:cNvPr id="203" name="tile4_14"/>
            <p:cNvSpPr/>
            <p:nvPr/>
          </p:nvSpPr>
          <p:spPr>
            <a:xfrm>
              <a:off x="9021470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4" name="tileI4_14" descr=""/>
            <p:cNvPicPr>
              <a:picLocks noChangeAspect="1"/>
            </p:cNvPicPr>
            <p:nvPr/>
          </p:nvPicPr>
          <p:blipFill>
            <a:blip r:embed="rId15">
              <a:alphaModFix amt="45000"/>
            </a:blip>
            <a:stretch>
              <a:fillRect/>
            </a:stretch>
          </p:blipFill>
          <p:spPr>
            <a:xfrm>
              <a:off x="9140342" y="5385816"/>
              <a:ext cx="237744" cy="237744"/>
            </a:xfrm>
            <a:prstGeom prst="rect">
              <a:avLst/>
            </a:prstGeom>
          </p:spPr>
        </p:pic>
        <p:sp>
          <p:nvSpPr>
            <p:cNvPr id="205" name="tile4_15"/>
            <p:cNvSpPr/>
            <p:nvPr/>
          </p:nvSpPr>
          <p:spPr>
            <a:xfrm>
              <a:off x="9610344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6" name="tileI4_15" descr=""/>
            <p:cNvPicPr>
              <a:picLocks noChangeAspect="1"/>
            </p:cNvPicPr>
            <p:nvPr/>
          </p:nvPicPr>
          <p:blipFill>
            <a:blip r:embed="rId17">
              <a:alphaModFix amt="45000"/>
            </a:blip>
            <a:stretch>
              <a:fillRect/>
            </a:stretch>
          </p:blipFill>
          <p:spPr>
            <a:xfrm>
              <a:off x="9729216" y="5385816"/>
              <a:ext cx="237744" cy="237744"/>
            </a:xfrm>
            <a:prstGeom prst="rect">
              <a:avLst/>
            </a:prstGeom>
          </p:spPr>
        </p:pic>
        <p:sp>
          <p:nvSpPr>
            <p:cNvPr id="207" name="tile4_16"/>
            <p:cNvSpPr/>
            <p:nvPr/>
          </p:nvSpPr>
          <p:spPr>
            <a:xfrm>
              <a:off x="10199218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8" name="tileI4_16" descr=""/>
            <p:cNvPicPr>
              <a:picLocks noChangeAspect="1"/>
            </p:cNvPicPr>
            <p:nvPr/>
          </p:nvPicPr>
          <p:blipFill>
            <a:blip r:embed="rId18">
              <a:alphaModFix amt="45000"/>
            </a:blip>
            <a:stretch>
              <a:fillRect/>
            </a:stretch>
          </p:blipFill>
          <p:spPr>
            <a:xfrm>
              <a:off x="10318090" y="5385816"/>
              <a:ext cx="237744" cy="237744"/>
            </a:xfrm>
            <a:prstGeom prst="rect">
              <a:avLst/>
            </a:prstGeom>
          </p:spPr>
        </p:pic>
        <p:sp>
          <p:nvSpPr>
            <p:cNvPr id="209" name="tile4_17"/>
            <p:cNvSpPr/>
            <p:nvPr/>
          </p:nvSpPr>
          <p:spPr>
            <a:xfrm>
              <a:off x="10788091" y="5221224"/>
              <a:ext cx="475488" cy="566928"/>
            </a:xfrm>
            <a:prstGeom prst="roundRect">
              <a:avLst>
                <a:gd name="adj" fmla="val 14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10" name="tileI4_17" descr=""/>
            <p:cNvPicPr>
              <a:picLocks noChangeAspect="1"/>
            </p:cNvPicPr>
            <p:nvPr/>
          </p:nvPicPr>
          <p:blipFill>
            <a:blip r:embed="rId19">
              <a:alphaModFix amt="45000"/>
            </a:blip>
            <a:stretch>
              <a:fillRect/>
            </a:stretch>
          </p:blipFill>
          <p:spPr>
            <a:xfrm>
              <a:off x="10906963" y="5385816"/>
              <a:ext cx="237744" cy="237744"/>
            </a:xfrm>
            <a:prstGeom prst="rect">
              <a:avLst/>
            </a:prstGeom>
          </p:spPr>
        </p:pic>
      </p:grpSp>
      <p:sp>
        <p:nvSpPr>
          <p:cNvPr id="211" name="!!doc"/>
          <p:cNvSpPr/>
          <p:nvPr/>
        </p:nvSpPr>
        <p:spPr>
          <a:xfrm>
            <a:off x="7843723" y="3867912"/>
            <a:ext cx="475488" cy="566928"/>
          </a:xfrm>
          <a:prstGeom prst="roundRect">
            <a:avLst>
              <a:gd name="adj" fmla="val 14000"/>
            </a:avLst>
          </a:prstGeom>
          <a:solidFill>
            <a:srgbClr val="F0365F">
              <a:alpha val="30000"/>
            </a:srgbClr>
          </a:solidFill>
          <a:ln w="19050" cap="rnd">
            <a:solidFill>
              <a:srgbClr val="F0365F"/>
            </a:solidFill>
            <a:round/>
          </a:ln>
        </p:spPr>
      </p:sp>
      <p:pic>
        <p:nvPicPr>
          <p:cNvPr id="212" name="hotIco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2595" y="4032504"/>
            <a:ext cx="237744" cy="237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ac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ac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ac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ac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ac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ac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ac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ac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ac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ac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ac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ac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ac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ac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ac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0.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ac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0.8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decel="100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decel="100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decel="100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decel="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decel="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116" dur="600" autoRev="1" fill="hold" repeatCount="2" accel="50000" decel="50000"/>
                                        <p:tgtEl>
                                          <p:spTgt spid="2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0" grpId="1" animBg="1"/>
      <p:bldP spid="21" grpId="1" animBg="1"/>
      <p:bldP spid="22" grpId="1" animBg="1"/>
      <p:bldP spid="24" grpId="1" animBg="1"/>
      <p:bldP spid="25" grpId="1" animBg="1"/>
      <p:bldP spid="26" grpId="1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-3657600" y="1371600"/>
            <a:ext cx="10058400" cy="100584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11430000" y="5486400"/>
            <a:ext cx="4572000" cy="4572000"/>
          </a:xfrm>
          <a:prstGeom prst="rect">
            <a:avLst/>
          </a:prstGeom>
        </p:spPr>
      </p:pic>
      <p:pic>
        <p:nvPicPr>
          <p:cNvPr id="4" name="!!logoIcon" descr="Logo de MediFlo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6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F0365F"/>
                </a:solidFill>
                <a:latin typeface="Calibri"/>
                <a:cs typeface="Calibri"/>
              </a:rPr>
              <a:t>EL RIESGO</a:t>
            </a:r>
            <a:endParaRPr lang="es-ES" sz="1300" dirty="0"/>
          </a:p>
        </p:txBody>
      </p:sp>
      <p:sp>
        <p:nvSpPr>
          <p:cNvPr id="7" name="trayA"/>
          <p:cNvSpPr/>
          <p:nvPr/>
        </p:nvSpPr>
        <p:spPr>
          <a:xfrm>
            <a:off x="777240" y="1143000"/>
            <a:ext cx="5166360" cy="2880360"/>
          </a:xfrm>
          <a:prstGeom prst="roundRect">
            <a:avLst>
              <a:gd name="adj" fmla="val 9000"/>
            </a:avLst>
          </a:prstGeom>
          <a:solidFill>
            <a:srgbClr val="0F1729"/>
          </a:solidFill>
          <a:ln w="12700" cap="rnd">
            <a:solidFill>
              <a:srgbClr val="263352"/>
            </a:solidFill>
            <a:round/>
          </a:ln>
        </p:spPr>
      </p:sp>
      <p:pic>
        <p:nvPicPr>
          <p:cNvPr id="8" name="trayAIco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" y="1371600"/>
            <a:ext cx="329184" cy="329184"/>
          </a:xfrm>
          <a:prstGeom prst="rect">
            <a:avLst/>
          </a:prstGeom>
        </p:spPr>
      </p:pic>
      <p:sp>
        <p:nvSpPr>
          <p:cNvPr id="9" name="trayAT"/>
          <p:cNvSpPr txBox="1"/>
          <p:nvPr/>
        </p:nvSpPr>
        <p:spPr>
          <a:xfrm>
            <a:off x="1536192" y="134416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600" b="1" i="0" dirty="0">
                <a:solidFill>
                  <a:srgbClr val="A9B4C8"/>
                </a:solidFill>
                <a:latin typeface="Calibri"/>
                <a:cs typeface="Calibri"/>
              </a:rPr>
              <a:t>Bandeja · Administración</a:t>
            </a:r>
            <a:endParaRPr lang="es-ES" sz="1600" dirty="0"/>
          </a:p>
        </p:txBody>
      </p:sp>
      <p:sp>
        <p:nvSpPr>
          <p:cNvPr id="10" name="trayB"/>
          <p:cNvSpPr/>
          <p:nvPr/>
        </p:nvSpPr>
        <p:spPr>
          <a:xfrm>
            <a:off x="6245352" y="1143000"/>
            <a:ext cx="5166360" cy="2880360"/>
          </a:xfrm>
          <a:prstGeom prst="roundRect">
            <a:avLst>
              <a:gd name="adj" fmla="val 9000"/>
            </a:avLst>
          </a:prstGeom>
          <a:solidFill>
            <a:srgbClr val="0F1729"/>
          </a:solidFill>
          <a:ln w="12700" cap="rnd">
            <a:solidFill>
              <a:srgbClr val="263352"/>
            </a:solidFill>
            <a:round/>
          </a:ln>
        </p:spPr>
      </p:sp>
      <p:pic>
        <p:nvPicPr>
          <p:cNvPr id="11" name="trayBIco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5392" y="1371600"/>
            <a:ext cx="329184" cy="329184"/>
          </a:xfrm>
          <a:prstGeom prst="rect">
            <a:avLst/>
          </a:prstGeom>
        </p:spPr>
      </p:pic>
      <p:sp>
        <p:nvSpPr>
          <p:cNvPr id="12" name="trayBT"/>
          <p:cNvSpPr txBox="1"/>
          <p:nvPr/>
        </p:nvSpPr>
        <p:spPr>
          <a:xfrm>
            <a:off x="7004304" y="134416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600" b="1" i="0" dirty="0">
                <a:solidFill>
                  <a:srgbClr val="A9B4C8"/>
                </a:solidFill>
                <a:latin typeface="Calibri"/>
                <a:cs typeface="Calibri"/>
              </a:rPr>
              <a:t>Bandeja · Urgencias</a:t>
            </a:r>
            <a:endParaRPr lang="es-ES" sz="1600" dirty="0"/>
          </a:p>
        </p:txBody>
      </p:sp>
      <p:sp>
        <p:nvSpPr>
          <p:cNvPr id="13" name="!!doc"/>
          <p:cNvSpPr/>
          <p:nvPr/>
        </p:nvSpPr>
        <p:spPr>
          <a:xfrm>
            <a:off x="1097280" y="2011680"/>
            <a:ext cx="3383280" cy="1691640"/>
          </a:xfrm>
          <a:prstGeom prst="roundRect">
            <a:avLst>
              <a:gd name="adj" fmla="val 9000"/>
            </a:avLst>
          </a:prstGeom>
          <a:solidFill>
            <a:srgbClr val="F0365F">
              <a:alpha val="14000"/>
            </a:srgbClr>
          </a:solidFill>
          <a:ln w="19050" cap="rnd">
            <a:solidFill>
              <a:srgbClr val="F0365F"/>
            </a:solidFill>
            <a:round/>
          </a:ln>
        </p:spPr>
      </p:sp>
      <p:sp>
        <p:nvSpPr>
          <p:cNvPr id="14" name="docK"/>
          <p:cNvSpPr txBox="1"/>
          <p:nvPr/>
        </p:nvSpPr>
        <p:spPr>
          <a:xfrm>
            <a:off x="1371600" y="2194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200" b="1" i="0" spc="250" dirty="0">
                <a:solidFill>
                  <a:srgbClr val="F0365F"/>
                </a:solidFill>
                <a:latin typeface="Calibri"/>
                <a:cs typeface="Calibri"/>
              </a:rPr>
              <a:t>CRÍTICO</a:t>
            </a:r>
            <a:endParaRPr lang="es-ES" sz="1200" dirty="0"/>
          </a:p>
        </p:txBody>
      </p:sp>
      <p:sp>
        <p:nvSpPr>
          <p:cNvPr id="15" name="docV"/>
          <p:cNvSpPr txBox="1"/>
          <p:nvPr/>
        </p:nvSpPr>
        <p:spPr>
          <a:xfrm>
            <a:off x="1371600" y="248716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2600" b="1" i="0" dirty="0">
                <a:solidFill>
                  <a:srgbClr val="EEF1F6"/>
                </a:solidFill>
                <a:latin typeface="Calibri"/>
                <a:cs typeface="Calibri"/>
              </a:rPr>
              <a:t>Potasio 6,8 mEq/L</a:t>
            </a:r>
            <a:endParaRPr lang="es-ES" sz="2600" dirty="0"/>
          </a:p>
        </p:txBody>
      </p:sp>
      <p:sp>
        <p:nvSpPr>
          <p:cNvPr id="16" name="docM"/>
          <p:cNvSpPr txBox="1"/>
          <p:nvPr/>
        </p:nvSpPr>
        <p:spPr>
          <a:xfrm>
            <a:off x="1371600" y="303580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500" b="0" i="0" dirty="0">
                <a:solidFill>
                  <a:srgbClr val="A9B4C8"/>
                </a:solidFill>
                <a:latin typeface="Calibri"/>
                <a:cs typeface="Calibri"/>
              </a:rPr>
              <a:t>Laboratorio · sin revisar</a:t>
            </a:r>
            <a:endParaRPr lang="es-ES" sz="1500" dirty="0"/>
          </a:p>
        </p:txBody>
      </p:sp>
      <p:pic>
        <p:nvPicPr>
          <p:cNvPr id="17" name="docIco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2194560"/>
            <a:ext cx="365760" cy="365760"/>
          </a:xfrm>
          <a:prstGeom prst="rect">
            <a:avLst/>
          </a:prstGeom>
        </p:spPr>
      </p:pic>
      <p:sp>
        <p:nvSpPr>
          <p:cNvPr id="18" name="trayWrong"/>
          <p:cNvSpPr/>
          <p:nvPr/>
        </p:nvSpPr>
        <p:spPr>
          <a:xfrm>
            <a:off x="777240" y="1143000"/>
            <a:ext cx="5166360" cy="2880360"/>
          </a:xfrm>
          <a:prstGeom prst="roundRect">
            <a:avLst>
              <a:gd name="adj" fmla="val 9000"/>
            </a:avLst>
          </a:prstGeom>
          <a:noFill/>
          <a:ln w="28575" cap="rnd">
            <a:solidFill>
              <a:srgbClr val="F0365F"/>
            </a:solidFill>
            <a:round/>
          </a:ln>
        </p:spPr>
      </p:sp>
      <p:sp>
        <p:nvSpPr>
          <p:cNvPr id="19" name="badgeWrong"/>
          <p:cNvSpPr/>
          <p:nvPr/>
        </p:nvSpPr>
        <p:spPr>
          <a:xfrm>
            <a:off x="3931920" y="95097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365F">
              <a:alpha val="100000"/>
            </a:srgbClr>
          </a:solidFill>
          <a:ln w="12700" cap="rnd">
            <a:solidFill>
              <a:srgbClr val="F0365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200" b="1" i="0" spc="200" dirty="0">
                <a:solidFill>
                  <a:srgbClr val="FFFFFF"/>
                </a:solidFill>
                <a:latin typeface="Calibri"/>
                <a:cs typeface="Calibri"/>
              </a:rPr>
              <a:t>EQUIVOCADA</a:t>
            </a:r>
            <a:endParaRPr lang="es-ES" sz="1200" dirty="0"/>
          </a:p>
        </p:txBody>
      </p:sp>
      <p:cxnSp>
        <p:nvCxnSpPr>
          <p:cNvPr id="20" name="arrowTo"/>
          <p:cNvCxnSpPr/>
          <p:nvPr/>
        </p:nvCxnSpPr>
        <p:spPr>
          <a:xfrm>
            <a:off x="4617720" y="2852928"/>
            <a:ext cx="2057400" cy="0"/>
          </a:xfrm>
          <a:prstGeom prst="line">
            <a:avLst/>
          </a:prstGeom>
          <a:ln w="25400" cap="rnd">
            <a:solidFill>
              <a:srgbClr val="2BD49A"/>
            </a:solidFill>
            <a:prstDash val="dash"/>
            <a:round/>
            <a:tailEnd type="triangle" w="med" len="med"/>
          </a:ln>
        </p:spPr>
      </p:cxnSp>
      <p:sp>
        <p:nvSpPr>
          <p:cNvPr id="21" name="slotB"/>
          <p:cNvSpPr/>
          <p:nvPr/>
        </p:nvSpPr>
        <p:spPr>
          <a:xfrm>
            <a:off x="6812280" y="2011680"/>
            <a:ext cx="3383280" cy="1691640"/>
          </a:xfrm>
          <a:prstGeom prst="roundRect">
            <a:avLst>
              <a:gd name="adj" fmla="val 9000"/>
            </a:avLst>
          </a:prstGeom>
          <a:solidFill>
            <a:srgbClr val="2BD49A">
              <a:alpha val="6000"/>
            </a:srgbClr>
          </a:solidFill>
          <a:ln w="15875" cap="rnd">
            <a:solidFill>
              <a:srgbClr val="2BD49A"/>
            </a:solidFill>
            <a:prstDash val="dash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700" b="1" i="0" dirty="0">
                <a:solidFill>
                  <a:srgbClr val="2BD49A"/>
                </a:solidFill>
                <a:latin typeface="Calibri"/>
                <a:cs typeface="Calibri"/>
              </a:rPr>
              <a:t>Aquí tenía que llegar</a:t>
            </a:r>
            <a:endParaRPr lang="es-ES" sz="1700" dirty="0"/>
          </a:p>
        </p:txBody>
      </p:sp>
      <p:sp>
        <p:nvSpPr>
          <p:cNvPr id="22" name="notAdmin"/>
          <p:cNvSpPr txBox="1"/>
          <p:nvPr/>
        </p:nvSpPr>
        <p:spPr>
          <a:xfrm>
            <a:off x="777240" y="4389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2800" b="0" i="0" dirty="0">
                <a:solidFill>
                  <a:srgbClr val="A9B4C8"/>
                </a:solidFill>
                <a:latin typeface="Calibri"/>
                <a:cs typeface="Calibri"/>
              </a:rPr>
              <a:t>No es un retraso administrativo.</a:t>
            </a:r>
            <a:endParaRPr lang="es-ES" sz="2800" dirty="0"/>
          </a:p>
        </p:txBody>
      </p:sp>
      <p:cxnSp>
        <p:nvCxnSpPr>
          <p:cNvPr id="23" name="strike"/>
          <p:cNvCxnSpPr/>
          <p:nvPr/>
        </p:nvCxnSpPr>
        <p:spPr>
          <a:xfrm>
            <a:off x="777240" y="4681728"/>
            <a:ext cx="4599432" cy="0"/>
          </a:xfrm>
          <a:prstGeom prst="line">
            <a:avLst/>
          </a:prstGeom>
          <a:ln w="31750" cap="rnd">
            <a:solidFill>
              <a:srgbClr val="F0365F"/>
            </a:solidFill>
            <a:round/>
          </a:ln>
        </p:spPr>
      </p:cxnSp>
      <p:sp>
        <p:nvSpPr>
          <p:cNvPr id="24" name="risk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54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Es un </a:t>
            </a:r>
            <a:r>
              <a:rPr lang="es-ES" sz="5400" b="1" i="0" dirty="0">
                <a:solidFill>
                  <a:srgbClr val="F0365F"/>
                </a:solidFill>
                <a:latin typeface="Calibri"/>
                <a:cs typeface="Calibri"/>
              </a:rPr>
              <a:t>riesgo</a:t>
            </a:r>
            <a:r>
              <a:rPr lang="es-ES" sz="54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 para el paciente.</a:t>
            </a:r>
            <a:endParaRPr lang="es-E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filter="image" prLst="opacity: 0.45">
                                      <p:cBhvr rctx="IE">
                                        <p:cTn id="27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2" grpId="1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11430000" y="-3657600"/>
            <a:ext cx="4572000" cy="45720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>
            <a:off x="1069848" y="-1737360"/>
            <a:ext cx="10058400" cy="10058400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2BD49A"/>
                </a:solidFill>
                <a:latin typeface="Calibri"/>
                <a:cs typeface="Calibri"/>
              </a:rPr>
              <a:t>LA SOLUCIÓN</a:t>
            </a:r>
            <a:endParaRPr lang="es-ES" sz="1300" dirty="0"/>
          </a:p>
        </p:txBody>
      </p:sp>
      <p:pic>
        <p:nvPicPr>
          <p:cNvPr id="5" name="!!logoIcon" descr="Logo de MediFlo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7528" y="960120"/>
            <a:ext cx="1463040" cy="1463040"/>
          </a:xfrm>
          <a:prstGeom prst="rect">
            <a:avLst/>
          </a:prstGeom>
        </p:spPr>
      </p:pic>
      <p:sp>
        <p:nvSpPr>
          <p:cNvPr id="6" name="!!brand"/>
          <p:cNvSpPr txBox="1"/>
          <p:nvPr/>
        </p:nvSpPr>
        <p:spPr>
          <a:xfrm>
            <a:off x="1371600" y="2514600"/>
            <a:ext cx="944575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80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80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8000" dirty="0"/>
          </a:p>
        </p:txBody>
      </p:sp>
      <p:sp>
        <p:nvSpPr>
          <p:cNvPr id="7" name="sub"/>
          <p:cNvSpPr txBox="1"/>
          <p:nvPr/>
        </p:nvSpPr>
        <p:spPr>
          <a:xfrm>
            <a:off x="1371600" y="370332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s-ES" sz="2800" b="0" i="0" dirty="0">
                <a:solidFill>
                  <a:srgbClr val="D6DCE6"/>
                </a:solidFill>
                <a:latin typeface="Calibri"/>
                <a:cs typeface="Calibri"/>
              </a:rPr>
              <a:t>Triaje y derivación clínica con IA</a:t>
            </a:r>
            <a:endParaRPr lang="es-ES" sz="2800" dirty="0"/>
          </a:p>
        </p:txBody>
      </p:sp>
      <p:sp>
        <p:nvSpPr>
          <p:cNvPr id="8" name="tag0"/>
          <p:cNvSpPr txBox="1"/>
          <p:nvPr/>
        </p:nvSpPr>
        <p:spPr>
          <a:xfrm>
            <a:off x="914400" y="4709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600" b="0" i="0" dirty="0">
                <a:solidFill>
                  <a:srgbClr val="A9B4C8"/>
                </a:solidFill>
                <a:latin typeface="Calibri"/>
                <a:cs typeface="Calibri"/>
              </a:rPr>
              <a:t xml:space="preserve">La IA </a:t>
            </a:r>
            <a:r>
              <a:rPr lang="es-ES" sz="2600" b="1" i="0" dirty="0">
                <a:solidFill>
                  <a:srgbClr val="2BD49A"/>
                </a:solidFill>
                <a:latin typeface="Calibri"/>
                <a:cs typeface="Calibri"/>
              </a:rPr>
              <a:t>clasifica</a:t>
            </a:r>
            <a:endParaRPr lang="es-ES" sz="2600" dirty="0"/>
          </a:p>
        </p:txBody>
      </p:sp>
      <p:sp>
        <p:nvSpPr>
          <p:cNvPr id="9" name="tag1"/>
          <p:cNvSpPr txBox="1"/>
          <p:nvPr/>
        </p:nvSpPr>
        <p:spPr>
          <a:xfrm>
            <a:off x="4389120" y="4709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600" b="0" i="0" dirty="0">
                <a:solidFill>
                  <a:srgbClr val="A9B4C8"/>
                </a:solidFill>
                <a:latin typeface="Calibri"/>
                <a:cs typeface="Calibri"/>
              </a:rPr>
              <a:t xml:space="preserve">el sistema </a:t>
            </a:r>
            <a:r>
              <a:rPr lang="es-ES" sz="2600" b="1" i="0" dirty="0">
                <a:solidFill>
                  <a:srgbClr val="F5B33D"/>
                </a:solidFill>
                <a:latin typeface="Calibri"/>
                <a:cs typeface="Calibri"/>
              </a:rPr>
              <a:t>valida</a:t>
            </a:r>
            <a:endParaRPr lang="es-ES" sz="2600" dirty="0"/>
          </a:p>
        </p:txBody>
      </p:sp>
      <p:sp>
        <p:nvSpPr>
          <p:cNvPr id="10" name="tag2"/>
          <p:cNvSpPr txBox="1"/>
          <p:nvPr/>
        </p:nvSpPr>
        <p:spPr>
          <a:xfrm>
            <a:off x="7863840" y="4709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600" b="0" i="0" dirty="0">
                <a:solidFill>
                  <a:srgbClr val="A9B4C8"/>
                </a:solidFill>
                <a:latin typeface="Calibri"/>
                <a:cs typeface="Calibri"/>
              </a:rPr>
              <a:t xml:space="preserve">las personas </a:t>
            </a:r>
            <a:r>
              <a:rPr lang="es-ES" sz="2600" b="1" i="0" dirty="0">
                <a:solidFill>
                  <a:srgbClr val="F0365F"/>
                </a:solidFill>
                <a:latin typeface="Calibri"/>
                <a:cs typeface="Calibri"/>
              </a:rPr>
              <a:t>deciden</a:t>
            </a:r>
            <a:endParaRPr lang="es-ES" sz="2600" dirty="0"/>
          </a:p>
        </p:txBody>
      </p:sp>
      <p:sp>
        <p:nvSpPr>
          <p:cNvPr id="11" name="pipeTitle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Entra un documento. </a:t>
            </a:r>
            <a:r>
              <a:rPr lang="es-ES" sz="3600" b="1" i="0" dirty="0">
                <a:solidFill>
                  <a:srgbClr val="2BD49A"/>
                </a:solidFill>
                <a:latin typeface="Calibri"/>
                <a:cs typeface="Calibri"/>
              </a:rPr>
              <a:t>Sale un caso listo.</a:t>
            </a:r>
            <a:endParaRPr lang="es-ES" sz="3600" dirty="0"/>
          </a:p>
        </p:txBody>
      </p:sp>
      <p:grpSp>
        <p:nvGrpSpPr>
          <p:cNvPr id="12" name="step0"/>
          <p:cNvGrpSpPr/>
          <p:nvPr/>
        </p:nvGrpSpPr>
        <p:grpSpPr>
          <a:xfrm>
            <a:off x="777240" y="1920240"/>
            <a:ext cx="3044952" cy="4160520"/>
            <a:chOff x="777240" y="1920240"/>
            <a:chExt cx="3044952" cy="4160520"/>
          </a:xfrm>
        </p:grpSpPr>
        <p:sp>
          <p:nvSpPr>
            <p:cNvPr id="13" name="stepCard0"/>
            <p:cNvSpPr/>
            <p:nvPr/>
          </p:nvSpPr>
          <p:spPr>
            <a:xfrm>
              <a:off x="777240" y="1920240"/>
              <a:ext cx="3044952" cy="416052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14" name="stepN0"/>
            <p:cNvSpPr txBox="1"/>
            <p:nvPr/>
          </p:nvSpPr>
          <p:spPr>
            <a:xfrm>
              <a:off x="1097280" y="21945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600" b="1" i="0" spc="150" dirty="0">
                  <a:solidFill>
                    <a:srgbClr val="2BD49A"/>
                  </a:solidFill>
                  <a:latin typeface="Calibri"/>
                  <a:cs typeface="Calibri"/>
                </a:rPr>
                <a:t>01</a:t>
              </a:r>
              <a:endParaRPr lang="es-ES" sz="1600" dirty="0"/>
            </a:p>
          </p:txBody>
        </p:sp>
        <p:sp>
          <p:nvSpPr>
            <p:cNvPr id="15" name="stepT0"/>
            <p:cNvSpPr txBox="1"/>
            <p:nvPr/>
          </p:nvSpPr>
          <p:spPr>
            <a:xfrm>
              <a:off x="1097280" y="2542032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3000" b="1" i="0" dirty="0">
                  <a:solidFill>
                    <a:srgbClr val="EEF1F6"/>
                  </a:solidFill>
                  <a:latin typeface="Calibri"/>
                  <a:cs typeface="Calibri"/>
                </a:rPr>
                <a:t>Identifica</a:t>
              </a:r>
              <a:endParaRPr lang="es-ES" sz="3000" dirty="0"/>
            </a:p>
          </p:txBody>
        </p:sp>
        <p:sp>
          <p:nvSpPr>
            <p:cNvPr id="16" name="stepC0"/>
            <p:cNvSpPr txBox="1"/>
            <p:nvPr/>
          </p:nvSpPr>
          <p:spPr>
            <a:xfrm>
              <a:off x="1097280" y="5440680"/>
              <a:ext cx="2560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500" b="0" i="0" dirty="0">
                  <a:solidFill>
                    <a:srgbClr val="A9B4C8"/>
                  </a:solidFill>
                  <a:latin typeface="Calibri"/>
                  <a:cs typeface="Calibri"/>
                </a:rPr>
                <a:t>Qué tipo de documento es.</a:t>
              </a:r>
              <a:endParaRPr lang="es-ES" sz="1500" dirty="0"/>
            </a:p>
          </p:txBody>
        </p:sp>
      </p:grpSp>
      <p:grpSp>
        <p:nvGrpSpPr>
          <p:cNvPr id="17" name="idDoc"/>
          <p:cNvGrpSpPr/>
          <p:nvPr/>
        </p:nvGrpSpPr>
        <p:grpSpPr>
          <a:xfrm>
            <a:off x="1097280" y="3291840"/>
            <a:ext cx="1234440" cy="1508760"/>
            <a:chOff x="1097280" y="3291840"/>
            <a:chExt cx="1234440" cy="1508760"/>
          </a:xfrm>
        </p:grpSpPr>
        <p:sp>
          <p:nvSpPr>
            <p:cNvPr id="18" name="idPaper"/>
            <p:cNvSpPr/>
            <p:nvPr/>
          </p:nvSpPr>
          <p:spPr>
            <a:xfrm>
              <a:off x="1097280" y="3291840"/>
              <a:ext cx="1234440" cy="1508760"/>
            </a:xfrm>
            <a:prstGeom prst="roundRect">
              <a:avLst>
                <a:gd name="adj" fmla="val 8000"/>
              </a:avLst>
            </a:prstGeom>
            <a:solidFill>
              <a:srgbClr val="0F1729"/>
            </a:solidFill>
            <a:ln w="12700" cap="rnd">
              <a:solidFill>
                <a:srgbClr val="4A5878"/>
              </a:solidFill>
              <a:round/>
            </a:ln>
          </p:spPr>
        </p:sp>
        <p:sp>
          <p:nvSpPr>
            <p:cNvPr id="19" name="idL0"/>
            <p:cNvSpPr/>
            <p:nvPr/>
          </p:nvSpPr>
          <p:spPr>
            <a:xfrm>
              <a:off x="1280160" y="3566160"/>
              <a:ext cx="868680" cy="64008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20" name="idL1"/>
            <p:cNvSpPr/>
            <p:nvPr/>
          </p:nvSpPr>
          <p:spPr>
            <a:xfrm>
              <a:off x="1280160" y="3794760"/>
              <a:ext cx="685800" cy="64008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sp>
          <p:nvSpPr>
            <p:cNvPr id="21" name="idL2"/>
            <p:cNvSpPr/>
            <p:nvPr/>
          </p:nvSpPr>
          <p:spPr>
            <a:xfrm>
              <a:off x="1280160" y="4023360"/>
              <a:ext cx="777240" cy="64008"/>
            </a:xfrm>
            <a:prstGeom prst="roundRect">
              <a:avLst>
                <a:gd name="adj" fmla="val 50000"/>
              </a:avLst>
            </a:prstGeom>
            <a:solidFill>
              <a:srgbClr val="263352"/>
            </a:solidFill>
            <a:ln>
              <a:noFill/>
            </a:ln>
          </p:spPr>
        </p:sp>
        <p:pic>
          <p:nvPicPr>
            <p:cNvPr id="22" name="idIco" descr="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81328" y="4251960"/>
              <a:ext cx="411480" cy="411480"/>
            </a:xfrm>
            <a:prstGeom prst="rect">
              <a:avLst/>
            </a:prstGeom>
          </p:spPr>
        </p:pic>
      </p:grpSp>
      <p:sp>
        <p:nvSpPr>
          <p:cNvPr id="23" name="idTag"/>
          <p:cNvSpPr/>
          <p:nvPr/>
        </p:nvSpPr>
        <p:spPr>
          <a:xfrm>
            <a:off x="2057400" y="352044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BD49A">
              <a:alpha val="16000"/>
            </a:srgbClr>
          </a:solidFill>
          <a:ln w="12700" cap="rnd">
            <a:solidFill>
              <a:srgbClr val="2BD49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200" b="1" i="0" spc="120" dirty="0">
                <a:solidFill>
                  <a:srgbClr val="2BD49A"/>
                </a:solidFill>
                <a:latin typeface="Calibri"/>
                <a:cs typeface="Calibri"/>
              </a:rPr>
              <a:t>LABORATORIO</a:t>
            </a:r>
            <a:endParaRPr lang="es-ES" sz="1200" dirty="0"/>
          </a:p>
        </p:txBody>
      </p:sp>
      <p:pic>
        <p:nvPicPr>
          <p:cNvPr id="24" name="idChk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3472" y="4114800"/>
            <a:ext cx="457200" cy="457200"/>
          </a:xfrm>
          <a:prstGeom prst="rect">
            <a:avLst/>
          </a:prstGeom>
        </p:spPr>
      </p:pic>
      <p:grpSp>
        <p:nvGrpSpPr>
          <p:cNvPr id="25" name="step1"/>
          <p:cNvGrpSpPr/>
          <p:nvPr/>
        </p:nvGrpSpPr>
        <p:grpSpPr>
          <a:xfrm>
            <a:off x="4572000" y="1920240"/>
            <a:ext cx="3044952" cy="4160520"/>
            <a:chOff x="4572000" y="1920240"/>
            <a:chExt cx="3044952" cy="4160520"/>
          </a:xfrm>
        </p:grpSpPr>
        <p:sp>
          <p:nvSpPr>
            <p:cNvPr id="26" name="stepCard1"/>
            <p:cNvSpPr/>
            <p:nvPr/>
          </p:nvSpPr>
          <p:spPr>
            <a:xfrm>
              <a:off x="4572000" y="1920240"/>
              <a:ext cx="3044952" cy="416052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27" name="stepN1"/>
            <p:cNvSpPr txBox="1"/>
            <p:nvPr/>
          </p:nvSpPr>
          <p:spPr>
            <a:xfrm>
              <a:off x="4892040" y="21945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600" b="1" i="0" spc="150" dirty="0">
                  <a:solidFill>
                    <a:srgbClr val="2BD49A"/>
                  </a:solidFill>
                  <a:latin typeface="Calibri"/>
                  <a:cs typeface="Calibri"/>
                </a:rPr>
                <a:t>02</a:t>
              </a:r>
              <a:endParaRPr lang="es-ES" sz="1600" dirty="0"/>
            </a:p>
          </p:txBody>
        </p:sp>
        <p:sp>
          <p:nvSpPr>
            <p:cNvPr id="28" name="stepT1"/>
            <p:cNvSpPr txBox="1"/>
            <p:nvPr/>
          </p:nvSpPr>
          <p:spPr>
            <a:xfrm>
              <a:off x="4892040" y="2542032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3000" b="1" i="0" dirty="0">
                  <a:solidFill>
                    <a:srgbClr val="EEF1F6"/>
                  </a:solidFill>
                  <a:latin typeface="Calibri"/>
                  <a:cs typeface="Calibri"/>
                </a:rPr>
                <a:t>Extrae</a:t>
              </a:r>
              <a:endParaRPr lang="es-ES" sz="3000" dirty="0"/>
            </a:p>
          </p:txBody>
        </p:sp>
        <p:sp>
          <p:nvSpPr>
            <p:cNvPr id="29" name="stepC1"/>
            <p:cNvSpPr txBox="1"/>
            <p:nvPr/>
          </p:nvSpPr>
          <p:spPr>
            <a:xfrm>
              <a:off x="4892040" y="5440680"/>
              <a:ext cx="2560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500" b="0" i="0" dirty="0">
                  <a:solidFill>
                    <a:srgbClr val="A9B4C8"/>
                  </a:solidFill>
                  <a:latin typeface="Calibri"/>
                  <a:cs typeface="Calibri"/>
                </a:rPr>
                <a:t>Los datos que importan.</a:t>
              </a:r>
              <a:endParaRPr lang="es-ES" sz="1500" dirty="0"/>
            </a:p>
          </p:txBody>
        </p:sp>
      </p:grpSp>
      <p:sp>
        <p:nvSpPr>
          <p:cNvPr id="30" name="field0"/>
          <p:cNvSpPr/>
          <p:nvPr/>
        </p:nvSpPr>
        <p:spPr>
          <a:xfrm>
            <a:off x="4892040" y="3291840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EEF1F6"/>
                </a:solidFill>
                <a:latin typeface="Calibri"/>
                <a:cs typeface="Calibri"/>
              </a:rPr>
              <a:t>Paciente</a:t>
            </a:r>
            <a:endParaRPr lang="es-ES" sz="1300" dirty="0"/>
          </a:p>
        </p:txBody>
      </p:sp>
      <p:sp>
        <p:nvSpPr>
          <p:cNvPr id="31" name="field1"/>
          <p:cNvSpPr/>
          <p:nvPr/>
        </p:nvSpPr>
        <p:spPr>
          <a:xfrm>
            <a:off x="4892040" y="3767328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EEF1F6"/>
                </a:solidFill>
                <a:latin typeface="Calibri"/>
                <a:cs typeface="Calibri"/>
              </a:rPr>
              <a:t>Profesional</a:t>
            </a:r>
            <a:endParaRPr lang="es-ES" sz="1300" dirty="0"/>
          </a:p>
        </p:txBody>
      </p:sp>
      <p:sp>
        <p:nvSpPr>
          <p:cNvPr id="32" name="field2"/>
          <p:cNvSpPr/>
          <p:nvPr/>
        </p:nvSpPr>
        <p:spPr>
          <a:xfrm>
            <a:off x="4892040" y="4242816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EEF1F6"/>
                </a:solidFill>
                <a:latin typeface="Calibri"/>
                <a:cs typeface="Calibri"/>
              </a:rPr>
              <a:t>Diagnóstico · CIE-10</a:t>
            </a:r>
            <a:endParaRPr lang="es-ES" sz="1300" dirty="0"/>
          </a:p>
        </p:txBody>
      </p:sp>
      <p:sp>
        <p:nvSpPr>
          <p:cNvPr id="33" name="field3"/>
          <p:cNvSpPr/>
          <p:nvPr/>
        </p:nvSpPr>
        <p:spPr>
          <a:xfrm>
            <a:off x="4892040" y="4718304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F0365F">
              <a:alpha val="16000"/>
            </a:srgbClr>
          </a:solidFill>
          <a:ln w="12700" cap="rnd">
            <a:solidFill>
              <a:srgbClr val="F0365F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F0365F"/>
                </a:solidFill>
                <a:latin typeface="Calibri"/>
                <a:cs typeface="Calibri"/>
              </a:rPr>
              <a:t>Prioridad · URGENTE</a:t>
            </a:r>
            <a:endParaRPr lang="es-ES" sz="1300" dirty="0"/>
          </a:p>
        </p:txBody>
      </p:sp>
      <p:grpSp>
        <p:nvGrpSpPr>
          <p:cNvPr id="34" name="step2"/>
          <p:cNvGrpSpPr/>
          <p:nvPr/>
        </p:nvGrpSpPr>
        <p:grpSpPr>
          <a:xfrm>
            <a:off x="8366760" y="1920240"/>
            <a:ext cx="3044952" cy="4160520"/>
            <a:chOff x="8366760" y="1920240"/>
            <a:chExt cx="3044952" cy="4160520"/>
          </a:xfrm>
        </p:grpSpPr>
        <p:sp>
          <p:nvSpPr>
            <p:cNvPr id="35" name="stepCard2"/>
            <p:cNvSpPr/>
            <p:nvPr/>
          </p:nvSpPr>
          <p:spPr>
            <a:xfrm>
              <a:off x="8366760" y="1920240"/>
              <a:ext cx="3044952" cy="416052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36" name="stepN2"/>
            <p:cNvSpPr txBox="1"/>
            <p:nvPr/>
          </p:nvSpPr>
          <p:spPr>
            <a:xfrm>
              <a:off x="8686800" y="21945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600" b="1" i="0" spc="150" dirty="0">
                  <a:solidFill>
                    <a:srgbClr val="2BD49A"/>
                  </a:solidFill>
                  <a:latin typeface="Calibri"/>
                  <a:cs typeface="Calibri"/>
                </a:rPr>
                <a:t>03</a:t>
              </a:r>
              <a:endParaRPr lang="es-ES" sz="1600" dirty="0"/>
            </a:p>
          </p:txBody>
        </p:sp>
        <p:sp>
          <p:nvSpPr>
            <p:cNvPr id="37" name="stepT2"/>
            <p:cNvSpPr txBox="1"/>
            <p:nvPr/>
          </p:nvSpPr>
          <p:spPr>
            <a:xfrm>
              <a:off x="8686800" y="2542032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3000" b="1" i="0" dirty="0">
                  <a:solidFill>
                    <a:srgbClr val="EEF1F6"/>
                  </a:solidFill>
                  <a:latin typeface="Calibri"/>
                  <a:cs typeface="Calibri"/>
                </a:rPr>
                <a:t>Deriva</a:t>
              </a:r>
              <a:endParaRPr lang="es-ES" sz="3000" dirty="0"/>
            </a:p>
          </p:txBody>
        </p:sp>
        <p:sp>
          <p:nvSpPr>
            <p:cNvPr id="38" name="stepC2"/>
            <p:cNvSpPr txBox="1"/>
            <p:nvPr/>
          </p:nvSpPr>
          <p:spPr>
            <a:xfrm>
              <a:off x="8686800" y="5440680"/>
              <a:ext cx="2560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500" b="0" i="0" dirty="0">
                  <a:solidFill>
                    <a:srgbClr val="A9B4C8"/>
                  </a:solidFill>
                  <a:latin typeface="Calibri"/>
                  <a:cs typeface="Calibri"/>
                </a:rPr>
                <a:t>A la cola que corresponde.</a:t>
              </a:r>
              <a:endParaRPr lang="es-ES" sz="1500" dirty="0"/>
            </a:p>
          </p:txBody>
        </p:sp>
      </p:grpSp>
      <p:sp>
        <p:nvSpPr>
          <p:cNvPr id="39" name="queue0"/>
          <p:cNvSpPr/>
          <p:nvPr/>
        </p:nvSpPr>
        <p:spPr>
          <a:xfrm>
            <a:off x="8686800" y="3291840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2BD49A">
              <a:alpha val="18000"/>
            </a:srgbClr>
          </a:solidFill>
          <a:ln w="15875" cap="rnd">
            <a:solidFill>
              <a:srgbClr val="2BD49A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2BD49A"/>
                </a:solidFill>
                <a:latin typeface="Calibri"/>
                <a:cs typeface="Calibri"/>
              </a:rPr>
              <a:t>Urgencias</a:t>
            </a:r>
            <a:endParaRPr lang="es-ES" sz="1300" dirty="0"/>
          </a:p>
        </p:txBody>
      </p:sp>
      <p:sp>
        <p:nvSpPr>
          <p:cNvPr id="40" name="queue1"/>
          <p:cNvSpPr/>
          <p:nvPr/>
        </p:nvSpPr>
        <p:spPr>
          <a:xfrm>
            <a:off x="8686800" y="3767328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A9B4C8"/>
                </a:solidFill>
                <a:latin typeface="Calibri"/>
                <a:cs typeface="Calibri"/>
              </a:rPr>
              <a:t>Farmacia</a:t>
            </a:r>
            <a:endParaRPr lang="es-ES" sz="1300" dirty="0"/>
          </a:p>
        </p:txBody>
      </p:sp>
      <p:sp>
        <p:nvSpPr>
          <p:cNvPr id="41" name="queue2"/>
          <p:cNvSpPr/>
          <p:nvPr/>
        </p:nvSpPr>
        <p:spPr>
          <a:xfrm>
            <a:off x="8686800" y="4242816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A9B4C8"/>
                </a:solidFill>
                <a:latin typeface="Calibri"/>
                <a:cs typeface="Calibri"/>
              </a:rPr>
              <a:t>Oncología</a:t>
            </a:r>
            <a:endParaRPr lang="es-ES" sz="1300" dirty="0"/>
          </a:p>
        </p:txBody>
      </p:sp>
      <p:sp>
        <p:nvSpPr>
          <p:cNvPr id="42" name="queue3"/>
          <p:cNvSpPr/>
          <p:nvPr/>
        </p:nvSpPr>
        <p:spPr>
          <a:xfrm>
            <a:off x="8686800" y="4718304"/>
            <a:ext cx="2404872" cy="38404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 w="12700" cap="rnd">
            <a:solidFill>
              <a:srgbClr val="4A5878"/>
            </a:solidFill>
            <a:round/>
          </a:ln>
        </p:spPr>
        <p:txBody>
          <a:bodyPr wrap="square" lIns="164592" tIns="0" rIns="91440" bIns="0" anchor="ctr" rtlCol="0">
            <a:noAutofit/>
          </a:bodyPr>
          <a:lstStyle/>
          <a:p>
            <a:pPr algn="l"/>
            <a:r>
              <a:rPr lang="es-ES" sz="1300" b="1" i="0" dirty="0">
                <a:solidFill>
                  <a:srgbClr val="A9B4C8"/>
                </a:solidFill>
                <a:latin typeface="Calibri"/>
                <a:cs typeface="Calibri"/>
              </a:rPr>
              <a:t>Ficha Clínica</a:t>
            </a:r>
            <a:endParaRPr lang="es-ES" sz="1300" dirty="0"/>
          </a:p>
        </p:txBody>
      </p:sp>
      <p:pic>
        <p:nvPicPr>
          <p:cNvPr id="43" name="queueChk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3328416"/>
            <a:ext cx="310896" cy="310896"/>
          </a:xfrm>
          <a:prstGeom prst="rect">
            <a:avLst/>
          </a:prstGeom>
        </p:spPr>
      </p:pic>
      <p:cxnSp>
        <p:nvCxnSpPr>
          <p:cNvPr id="44" name="arrow1"/>
          <p:cNvCxnSpPr/>
          <p:nvPr/>
        </p:nvCxnSpPr>
        <p:spPr>
          <a:xfrm>
            <a:off x="3931920" y="4000500"/>
            <a:ext cx="530352" cy="0"/>
          </a:xfrm>
          <a:prstGeom prst="line">
            <a:avLst/>
          </a:prstGeom>
          <a:ln w="31750" cap="rnd">
            <a:solidFill>
              <a:srgbClr val="2BD49A"/>
            </a:solidFill>
            <a:round/>
            <a:tailEnd type="triangle" w="med" len="med"/>
          </a:ln>
        </p:spPr>
      </p:cxnSp>
      <p:cxnSp>
        <p:nvCxnSpPr>
          <p:cNvPr id="45" name="arrow2"/>
          <p:cNvCxnSpPr/>
          <p:nvPr/>
        </p:nvCxnSpPr>
        <p:spPr>
          <a:xfrm>
            <a:off x="7726680" y="4000500"/>
            <a:ext cx="530352" cy="0"/>
          </a:xfrm>
          <a:prstGeom prst="line">
            <a:avLst/>
          </a:prstGeom>
          <a:ln w="31750" cap="rnd">
            <a:solidFill>
              <a:srgbClr val="2BD49A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ac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ac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ac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ac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ac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ac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0.04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6" presetClass="emph" presetSubtype="0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120" dur="350" autoRev="1" fill="hold" repeatCount="1" accel="50000" decel="50000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6" grpId="0" animBg="1"/>
      <p:bldP spid="7" grpId="1" animBg="1"/>
      <p:bldP spid="8" grpId="1" animBg="1"/>
      <p:bldP spid="9" grpId="1" animBg="1"/>
      <p:bldP spid="10" grpId="1" animBg="1"/>
      <p:bldP spid="11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9" grpId="0" animBg="1"/>
      <p:bldP spid="40" grpId="0" animBg="1"/>
      <p:bldP spid="41" grpId="0" animBg="1"/>
      <p:bldP spid="42" grpId="0" animBg="1"/>
      <p:bldP spid="3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5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-3657600" y="-3657600"/>
            <a:ext cx="4572000" cy="45720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5029200" y="-1005840"/>
            <a:ext cx="8229600" cy="8229600"/>
          </a:xfrm>
          <a:prstGeom prst="rect">
            <a:avLst/>
          </a:prstGeom>
        </p:spPr>
      </p:pic>
      <p:pic>
        <p:nvPicPr>
          <p:cNvPr id="4" name="!!logoIcon" descr="Logo de MediFlo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6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2BD49A"/>
                </a:solidFill>
                <a:latin typeface="Calibri"/>
                <a:cs typeface="Calibri"/>
              </a:rPr>
              <a:t>EL RESULTADO</a:t>
            </a:r>
            <a:endParaRPr lang="es-ES" sz="1300" dirty="0"/>
          </a:p>
        </p:txBody>
      </p:sp>
      <p:sp>
        <p:nvSpPr>
          <p:cNvPr id="7" name="lblBefore"/>
          <p:cNvSpPr txBox="1"/>
          <p:nvPr/>
        </p:nvSpPr>
        <p:spPr>
          <a:xfrm>
            <a:off x="7772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500" b="1" i="0" spc="250" dirty="0">
                <a:solidFill>
                  <a:srgbClr val="7D89A0"/>
                </a:solidFill>
                <a:latin typeface="Calibri"/>
                <a:cs typeface="Calibri"/>
              </a:rPr>
              <a:t>ANTES, POR DOCUMENTO</a:t>
            </a:r>
            <a:endParaRPr lang="es-ES" sz="1500" dirty="0"/>
          </a:p>
        </p:txBody>
      </p:sp>
      <p:sp>
        <p:nvSpPr>
          <p:cNvPr id="8" name="mins"/>
          <p:cNvSpPr txBox="1"/>
          <p:nvPr/>
        </p:nvSpPr>
        <p:spPr>
          <a:xfrm>
            <a:off x="731520" y="2057400"/>
            <a:ext cx="484632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9200" b="1" i="0" dirty="0">
                <a:solidFill>
                  <a:srgbClr val="8A95AB"/>
                </a:solidFill>
                <a:latin typeface="Calibri"/>
                <a:cs typeface="Calibri"/>
              </a:rPr>
              <a:t>Minutos</a:t>
            </a:r>
            <a:endParaRPr lang="es-ES" sz="9200" dirty="0"/>
          </a:p>
        </p:txBody>
      </p:sp>
      <p:sp>
        <p:nvSpPr>
          <p:cNvPr id="9" name="lblAfter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500" b="1" i="0" spc="250" dirty="0">
                <a:solidFill>
                  <a:srgbClr val="2BD49A"/>
                </a:solidFill>
                <a:latin typeface="Calibri"/>
                <a:cs typeface="Calibri"/>
              </a:rPr>
              <a:t>AHORA, CON MEDIFLOW</a:t>
            </a:r>
            <a:endParaRPr lang="es-ES" sz="1500" dirty="0"/>
          </a:p>
        </p:txBody>
      </p:sp>
      <p:sp>
        <p:nvSpPr>
          <p:cNvPr id="10" name="secs"/>
          <p:cNvSpPr txBox="1"/>
          <p:nvPr/>
        </p:nvSpPr>
        <p:spPr>
          <a:xfrm>
            <a:off x="6629400" y="2057400"/>
            <a:ext cx="502920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9200" b="1" i="0" dirty="0">
                <a:solidFill>
                  <a:srgbClr val="2BD49A"/>
                </a:solidFill>
                <a:latin typeface="Calibri"/>
                <a:cs typeface="Calibri"/>
              </a:rPr>
              <a:t>Segundos</a:t>
            </a:r>
            <a:endParaRPr lang="es-ES" sz="9200" dirty="0"/>
          </a:p>
        </p:txBody>
      </p:sp>
      <p:cxnSp>
        <p:nvCxnSpPr>
          <p:cNvPr id="11" name="strike"/>
          <p:cNvCxnSpPr/>
          <p:nvPr/>
        </p:nvCxnSpPr>
        <p:spPr>
          <a:xfrm>
            <a:off x="777240" y="2834640"/>
            <a:ext cx="4023360" cy="0"/>
          </a:xfrm>
          <a:prstGeom prst="line">
            <a:avLst/>
          </a:prstGeom>
          <a:ln w="50800" cap="rnd">
            <a:solidFill>
              <a:srgbClr val="F0365F"/>
            </a:solidFill>
            <a:round/>
          </a:ln>
        </p:spPr>
      </p:cxnSp>
      <p:cxnSp>
        <p:nvCxnSpPr>
          <p:cNvPr id="12" name="arrow"/>
          <p:cNvCxnSpPr/>
          <p:nvPr/>
        </p:nvCxnSpPr>
        <p:spPr>
          <a:xfrm>
            <a:off x="5074920" y="2816352"/>
            <a:ext cx="1188720" cy="0"/>
          </a:xfrm>
          <a:prstGeom prst="line">
            <a:avLst/>
          </a:prstGeom>
          <a:ln w="50800" cap="rnd">
            <a:solidFill>
              <a:srgbClr val="2BD49A"/>
            </a:solidFill>
            <a:round/>
            <a:tailEnd type="triangle" w="med" len="med"/>
          </a:ln>
        </p:spPr>
      </p:cxnSp>
      <p:sp>
        <p:nvSpPr>
          <p:cNvPr id="13" name="barTrack"/>
          <p:cNvSpPr/>
          <p:nvPr/>
        </p:nvSpPr>
        <p:spPr>
          <a:xfrm>
            <a:off x="777240" y="4572000"/>
            <a:ext cx="10634472" cy="146304"/>
          </a:xfrm>
          <a:prstGeom prst="roundRect">
            <a:avLst>
              <a:gd name="adj" fmla="val 50000"/>
            </a:avLst>
          </a:prstGeom>
          <a:solidFill>
            <a:srgbClr val="141D33"/>
          </a:solidFill>
          <a:ln>
            <a:noFill/>
          </a:ln>
        </p:spPr>
      </p:sp>
      <p:sp>
        <p:nvSpPr>
          <p:cNvPr id="14" name="barLA"/>
          <p:cNvSpPr txBox="1"/>
          <p:nvPr/>
        </p:nvSpPr>
        <p:spPr>
          <a:xfrm>
            <a:off x="777240" y="4114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500" b="1" i="0" dirty="0">
                <a:solidFill>
                  <a:srgbClr val="7D89A0"/>
                </a:solidFill>
                <a:latin typeface="Calibri"/>
                <a:cs typeface="Calibri"/>
              </a:rPr>
              <a:t>Lectura manual</a:t>
            </a:r>
            <a:endParaRPr lang="es-ES" sz="1500" dirty="0"/>
          </a:p>
        </p:txBody>
      </p:sp>
      <p:sp>
        <p:nvSpPr>
          <p:cNvPr id="15" name="barA"/>
          <p:cNvSpPr/>
          <p:nvPr/>
        </p:nvSpPr>
        <p:spPr>
          <a:xfrm>
            <a:off x="777240" y="4572000"/>
            <a:ext cx="10634472" cy="146304"/>
          </a:xfrm>
          <a:prstGeom prst="roundRect">
            <a:avLst>
              <a:gd name="adj" fmla="val 50000"/>
            </a:avLst>
          </a:prstGeom>
          <a:solidFill>
            <a:srgbClr val="5A6888"/>
          </a:solidFill>
          <a:ln>
            <a:noFill/>
          </a:ln>
        </p:spPr>
      </p:sp>
      <p:sp>
        <p:nvSpPr>
          <p:cNvPr id="16" name="barTrack2"/>
          <p:cNvSpPr/>
          <p:nvPr/>
        </p:nvSpPr>
        <p:spPr>
          <a:xfrm>
            <a:off x="777240" y="5486400"/>
            <a:ext cx="10634472" cy="146304"/>
          </a:xfrm>
          <a:prstGeom prst="roundRect">
            <a:avLst>
              <a:gd name="adj" fmla="val 50000"/>
            </a:avLst>
          </a:prstGeom>
          <a:solidFill>
            <a:srgbClr val="141D33"/>
          </a:solidFill>
          <a:ln>
            <a:noFill/>
          </a:ln>
        </p:spPr>
      </p:sp>
      <p:sp>
        <p:nvSpPr>
          <p:cNvPr id="17" name="barLB"/>
          <p:cNvSpPr txBox="1"/>
          <p:nvPr/>
        </p:nvSpPr>
        <p:spPr>
          <a:xfrm>
            <a:off x="777240" y="5029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500" b="1" i="0" dirty="0">
                <a:solidFill>
                  <a:srgbClr val="2BD49A"/>
                </a:solidFill>
                <a:latin typeface="Calibri"/>
                <a:cs typeface="Calibri"/>
              </a:rPr>
              <a:t>Con MediFlow</a:t>
            </a:r>
            <a:endParaRPr lang="es-ES" sz="1500" dirty="0"/>
          </a:p>
        </p:txBody>
      </p:sp>
      <p:sp>
        <p:nvSpPr>
          <p:cNvPr id="18" name="barB"/>
          <p:cNvSpPr/>
          <p:nvPr/>
        </p:nvSpPr>
        <p:spPr>
          <a:xfrm>
            <a:off x="777240" y="5486400"/>
            <a:ext cx="411480" cy="146304"/>
          </a:xfrm>
          <a:prstGeom prst="roundRect">
            <a:avLst>
              <a:gd name="adj" fmla="val 50000"/>
            </a:avLst>
          </a:prstGeom>
          <a:solidFill>
            <a:srgbClr val="2BD49A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2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filter="image" prLst="opacity: 0.4">
                                      <p:cBhvr rctx="IE"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6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-4114800" y="5029200"/>
            <a:ext cx="5486400" cy="54864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11430000" y="-3200400"/>
            <a:ext cx="3657600" cy="3657600"/>
          </a:xfrm>
          <a:prstGeom prst="rect">
            <a:avLst/>
          </a:prstGeom>
        </p:spPr>
      </p:pic>
      <p:pic>
        <p:nvPicPr>
          <p:cNvPr id="4" name="glowAmber" descr="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-914400" y="-2743200"/>
            <a:ext cx="8229600" cy="8229600"/>
          </a:xfrm>
          <a:prstGeom prst="rect">
            <a:avLst/>
          </a:prstGeom>
        </p:spPr>
      </p:pic>
      <p:pic>
        <p:nvPicPr>
          <p:cNvPr id="5" name="!!logoIcon" descr="Logo de MediFlow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6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7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F5B33D"/>
                </a:solidFill>
                <a:latin typeface="Calibri"/>
                <a:cs typeface="Calibri"/>
              </a:rPr>
              <a:t>LA PREGUNTA CLAVE</a:t>
            </a:r>
            <a:endParaRPr lang="es-ES" sz="1300" dirty="0"/>
          </a:p>
        </p:txBody>
      </p:sp>
      <p:sp>
        <p:nvSpPr>
          <p:cNvPr id="8" name="q"/>
          <p:cNvSpPr txBox="1"/>
          <p:nvPr/>
        </p:nvSpPr>
        <p:spPr>
          <a:xfrm>
            <a:off x="731520" y="96012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7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¿Y si la IA </a:t>
            </a:r>
            <a:r>
              <a:rPr lang="es-ES" sz="7600" b="1" i="0" dirty="0">
                <a:solidFill>
                  <a:srgbClr val="F5B33D"/>
                </a:solidFill>
                <a:latin typeface="Calibri"/>
                <a:cs typeface="Calibri"/>
              </a:rPr>
              <a:t>se equivoca</a:t>
            </a:r>
            <a:r>
              <a:rPr lang="es-ES" sz="7600" b="1" i="0" dirty="0">
                <a:solidFill>
                  <a:srgbClr val="EEF1F6"/>
                </a:solidFill>
                <a:latin typeface="Calibri"/>
                <a:cs typeface="Calibri"/>
              </a:rPr>
              <a:t>?</a:t>
            </a:r>
            <a:endParaRPr lang="es-ES" sz="7600" dirty="0"/>
          </a:p>
        </p:txBody>
      </p:sp>
      <p:grpSp>
        <p:nvGrpSpPr>
          <p:cNvPr id="9" name="promise"/>
          <p:cNvGrpSpPr/>
          <p:nvPr/>
        </p:nvGrpSpPr>
        <p:grpSpPr>
          <a:xfrm>
            <a:off x="777240" y="2697480"/>
            <a:ext cx="5577840" cy="1234440"/>
            <a:chOff x="777240" y="2697480"/>
            <a:chExt cx="5577840" cy="1234440"/>
          </a:xfrm>
        </p:grpSpPr>
        <p:sp>
          <p:nvSpPr>
            <p:cNvPr id="10" name="promL"/>
            <p:cNvSpPr txBox="1"/>
            <p:nvPr/>
          </p:nvSpPr>
          <p:spPr>
            <a:xfrm>
              <a:off x="777240" y="2697480"/>
              <a:ext cx="45720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1200" b="1" i="0" spc="250" dirty="0">
                  <a:solidFill>
                    <a:srgbClr val="7D89A0"/>
                  </a:solidFill>
                  <a:latin typeface="Calibri"/>
                  <a:cs typeface="Calibri"/>
                </a:rPr>
                <a:t>LO QUE SUELE PROMETERSE</a:t>
              </a:r>
              <a:endParaRPr lang="es-ES" sz="1200" dirty="0"/>
            </a:p>
          </p:txBody>
        </p:sp>
        <p:sp>
          <p:nvSpPr>
            <p:cNvPr id="11" name="promCard"/>
            <p:cNvSpPr/>
            <p:nvPr/>
          </p:nvSpPr>
          <p:spPr>
            <a:xfrm>
              <a:off x="777240" y="3063240"/>
              <a:ext cx="5577840" cy="86868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12" name="promT"/>
            <p:cNvSpPr txBox="1"/>
            <p:nvPr/>
          </p:nvSpPr>
          <p:spPr>
            <a:xfrm>
              <a:off x="1097280" y="3063240"/>
              <a:ext cx="512064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2600" b="0" i="1" dirty="0">
                  <a:solidFill>
                    <a:srgbClr val="A9B4C8"/>
                  </a:solidFill>
                  <a:latin typeface="Calibri"/>
                  <a:cs typeface="Calibri"/>
                </a:rPr>
                <a:t>“99,9 % de precisión. Nunca falla.”</a:t>
              </a:r>
              <a:endParaRPr lang="es-ES" sz="2600" dirty="0"/>
            </a:p>
          </p:txBody>
        </p:sp>
      </p:grpSp>
      <p:cxnSp>
        <p:nvCxnSpPr>
          <p:cNvPr id="13" name="promStrike"/>
          <p:cNvCxnSpPr/>
          <p:nvPr/>
        </p:nvCxnSpPr>
        <p:spPr>
          <a:xfrm>
            <a:off x="1051560" y="3502152"/>
            <a:ext cx="5029200" cy="0"/>
          </a:xfrm>
          <a:prstGeom prst="line">
            <a:avLst/>
          </a:prstGeom>
          <a:ln w="38100" cap="rnd">
            <a:solidFill>
              <a:srgbClr val="F0365F"/>
            </a:solidFill>
            <a:round/>
          </a:ln>
        </p:spPr>
      </p:cxnSp>
      <p:sp>
        <p:nvSpPr>
          <p:cNvPr id="14" name="assume"/>
          <p:cNvSpPr txBox="1"/>
          <p:nvPr/>
        </p:nvSpPr>
        <p:spPr>
          <a:xfrm>
            <a:off x="777240" y="43434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>En MediFlow asumimos que la IA puede fallar.</a:t>
            </a:r>
            <a:endParaRPr lang="es-ES" sz="3600" dirty="0"/>
          </a:p>
        </p:txBody>
      </p:sp>
      <p:sp>
        <p:nvSpPr>
          <p:cNvPr id="15" name="never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Por eso </a:t>
            </a:r>
            <a:r>
              <a:rPr lang="es-ES" sz="3600" b="1" i="0" dirty="0">
                <a:solidFill>
                  <a:srgbClr val="2BD49A"/>
                </a:solidFill>
                <a:latin typeface="Calibri"/>
                <a:cs typeface="Calibri"/>
              </a:rPr>
              <a:t>jamás la dejamos sola.</a:t>
            </a:r>
            <a:endParaRPr lang="es-ES" sz="3600" dirty="0"/>
          </a:p>
        </p:txBody>
      </p:sp>
      <p:grpSp>
        <p:nvGrpSpPr>
          <p:cNvPr id="16" name="live"/>
          <p:cNvGrpSpPr/>
          <p:nvPr/>
        </p:nvGrpSpPr>
        <p:grpSpPr>
          <a:xfrm>
            <a:off x="9418320" y="5806440"/>
            <a:ext cx="1993392" cy="530352"/>
            <a:chOff x="9418320" y="5806440"/>
            <a:chExt cx="1993392" cy="530352"/>
          </a:xfrm>
        </p:grpSpPr>
        <p:sp>
          <p:nvSpPr>
            <p:cNvPr id="17" name="livePill"/>
            <p:cNvSpPr/>
            <p:nvPr/>
          </p:nvSpPr>
          <p:spPr>
            <a:xfrm>
              <a:off x="9418320" y="5806440"/>
              <a:ext cx="1993392" cy="530352"/>
            </a:xfrm>
            <a:prstGeom prst="roundRect">
              <a:avLst>
                <a:gd name="adj" fmla="val 50000"/>
              </a:avLst>
            </a:prstGeom>
            <a:solidFill>
              <a:srgbClr val="F0365F">
                <a:alpha val="15000"/>
              </a:srgbClr>
            </a:solidFill>
            <a:ln w="15875" cap="rnd">
              <a:solidFill>
                <a:srgbClr val="F0365F"/>
              </a:solidFill>
              <a:round/>
            </a:ln>
          </p:spPr>
        </p:sp>
        <p:sp>
          <p:nvSpPr>
            <p:cNvPr id="18" name="liveT"/>
            <p:cNvSpPr txBox="1"/>
            <p:nvPr/>
          </p:nvSpPr>
          <p:spPr>
            <a:xfrm>
              <a:off x="9893808" y="5806440"/>
              <a:ext cx="14630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600" b="1" i="0" spc="300" dirty="0">
                  <a:solidFill>
                    <a:srgbClr val="F0365F"/>
                  </a:solidFill>
                  <a:latin typeface="Calibri"/>
                  <a:cs typeface="Calibri"/>
                </a:rPr>
                <a:t>EN VIVO</a:t>
              </a:r>
              <a:endParaRPr lang="es-ES" sz="1600" dirty="0"/>
            </a:p>
          </p:txBody>
        </p:sp>
      </p:grpSp>
      <p:sp>
        <p:nvSpPr>
          <p:cNvPr id="19" name="liveDot"/>
          <p:cNvSpPr/>
          <p:nvPr/>
        </p:nvSpPr>
        <p:spPr>
          <a:xfrm>
            <a:off x="9646920" y="5998464"/>
            <a:ext cx="146304" cy="146304"/>
          </a:xfrm>
          <a:prstGeom prst="ellipse">
            <a:avLst/>
          </a:prstGeom>
          <a:solidFill>
            <a:srgbClr val="F0365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Effect filter="image" prLst="opacity: 0.4">
                                      <p:cBhvr rctx="I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7" dur="600" autoRev="1" fill="hold" repeatCount="indefinite" accel="50000" decel="50000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7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10972800" y="5486400"/>
            <a:ext cx="4572000" cy="45720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1527048" y="-960120"/>
            <a:ext cx="9144000" cy="9144000"/>
          </a:xfrm>
          <a:prstGeom prst="rect">
            <a:avLst/>
          </a:prstGeom>
        </p:spPr>
      </p:pic>
      <p:pic>
        <p:nvPicPr>
          <p:cNvPr id="4" name="!!logoIcon" descr="Logo de MediFlo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6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2BD49A"/>
                </a:solidFill>
                <a:latin typeface="Calibri"/>
                <a:cs typeface="Calibri"/>
              </a:rPr>
              <a:t>SOLIDEZ TÉCNICA</a:t>
            </a:r>
            <a:endParaRPr lang="es-ES" sz="1300" dirty="0"/>
          </a:p>
        </p:txBody>
      </p:sp>
      <p:sp>
        <p:nvSpPr>
          <p:cNvPr id="7" name="!!title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Trazabilidad real, </a:t>
            </a:r>
            <a:r>
              <a:rPr lang="es-ES" sz="3600" b="1" i="0" dirty="0">
                <a:solidFill>
                  <a:srgbClr val="2BD49A"/>
                </a:solidFill>
                <a:latin typeface="Calibri"/>
                <a:cs typeface="Calibri"/>
              </a:rPr>
              <a:t>no un script de última hora</a:t>
            </a:r>
            <a:endParaRPr lang="es-ES" sz="3600" dirty="0"/>
          </a:p>
        </p:txBody>
      </p:sp>
      <p:sp>
        <p:nvSpPr>
          <p:cNvPr id="8" name="ghost_react"/>
          <p:cNvSpPr/>
          <p:nvPr/>
        </p:nvSpPr>
        <p:spPr>
          <a:xfrm>
            <a:off x="777240" y="32004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sp>
        <p:nvSpPr>
          <p:cNvPr id="9" name="ghost_api"/>
          <p:cNvSpPr/>
          <p:nvPr/>
        </p:nvSpPr>
        <p:spPr>
          <a:xfrm>
            <a:off x="4837176" y="32004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sp>
        <p:nvSpPr>
          <p:cNvPr id="10" name="ghost_pg"/>
          <p:cNvSpPr/>
          <p:nvPr/>
        </p:nvSpPr>
        <p:spPr>
          <a:xfrm>
            <a:off x="8897112" y="32004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sp>
        <p:nvSpPr>
          <p:cNvPr id="11" name="ghost_oci"/>
          <p:cNvSpPr/>
          <p:nvPr/>
        </p:nvSpPr>
        <p:spPr>
          <a:xfrm>
            <a:off x="4837176" y="45720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sp>
        <p:nvSpPr>
          <p:cNvPr id="12" name="ghost_n8n"/>
          <p:cNvSpPr/>
          <p:nvPr/>
        </p:nvSpPr>
        <p:spPr>
          <a:xfrm>
            <a:off x="4837176" y="18288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sp>
        <p:nvSpPr>
          <p:cNvPr id="13" name="ghost_gem"/>
          <p:cNvSpPr/>
          <p:nvPr/>
        </p:nvSpPr>
        <p:spPr>
          <a:xfrm>
            <a:off x="8897112" y="1828800"/>
            <a:ext cx="2514600" cy="914400"/>
          </a:xfrm>
          <a:prstGeom prst="roundRect">
            <a:avLst>
              <a:gd name="adj" fmla="val 9000"/>
            </a:avLst>
          </a:prstGeom>
          <a:noFill/>
          <a:ln w="12700" cap="rnd">
            <a:solidFill>
              <a:srgbClr val="263352"/>
            </a:solidFill>
            <a:round/>
          </a:ln>
        </p:spPr>
      </p:sp>
      <p:cxnSp>
        <p:nvCxnSpPr>
          <p:cNvPr id="14" name="ghostE_react_api"/>
          <p:cNvCxnSpPr/>
          <p:nvPr/>
        </p:nvCxnSpPr>
        <p:spPr>
          <a:xfrm>
            <a:off x="3291840" y="3657600"/>
            <a:ext cx="1545336" cy="0"/>
          </a:xfrm>
          <a:prstGeom prst="line">
            <a:avLst/>
          </a:prstGeom>
          <a:ln w="15875" cap="rnd">
            <a:solidFill>
              <a:srgbClr val="263352"/>
            </a:solidFill>
            <a:round/>
          </a:ln>
        </p:spPr>
      </p:cxnSp>
      <p:cxnSp>
        <p:nvCxnSpPr>
          <p:cNvPr id="15" name="ghostE_api_pg"/>
          <p:cNvCxnSpPr/>
          <p:nvPr/>
        </p:nvCxnSpPr>
        <p:spPr>
          <a:xfrm>
            <a:off x="7351776" y="3657600"/>
            <a:ext cx="1545336" cy="0"/>
          </a:xfrm>
          <a:prstGeom prst="line">
            <a:avLst/>
          </a:prstGeom>
          <a:ln w="15875" cap="rnd">
            <a:solidFill>
              <a:srgbClr val="263352"/>
            </a:solidFill>
            <a:round/>
          </a:ln>
        </p:spPr>
      </p:cxnSp>
      <p:cxnSp>
        <p:nvCxnSpPr>
          <p:cNvPr id="16" name="ghostE_api_n8n"/>
          <p:cNvCxnSpPr/>
          <p:nvPr/>
        </p:nvCxnSpPr>
        <p:spPr>
          <a:xfrm flipV="1">
            <a:off x="6094476" y="2743200"/>
            <a:ext cx="0" cy="457200"/>
          </a:xfrm>
          <a:prstGeom prst="line">
            <a:avLst/>
          </a:prstGeom>
          <a:ln w="15875" cap="rnd">
            <a:solidFill>
              <a:srgbClr val="263352"/>
            </a:solidFill>
            <a:round/>
          </a:ln>
        </p:spPr>
      </p:cxnSp>
      <p:cxnSp>
        <p:nvCxnSpPr>
          <p:cNvPr id="17" name="ghostE_n8n_gem"/>
          <p:cNvCxnSpPr/>
          <p:nvPr/>
        </p:nvCxnSpPr>
        <p:spPr>
          <a:xfrm>
            <a:off x="7351776" y="2286000"/>
            <a:ext cx="1545336" cy="0"/>
          </a:xfrm>
          <a:prstGeom prst="line">
            <a:avLst/>
          </a:prstGeom>
          <a:ln w="15875" cap="rnd">
            <a:solidFill>
              <a:srgbClr val="263352"/>
            </a:solidFill>
            <a:round/>
          </a:ln>
        </p:spPr>
      </p:cxnSp>
      <p:cxnSp>
        <p:nvCxnSpPr>
          <p:cNvPr id="18" name="ghostE_api_oci"/>
          <p:cNvCxnSpPr/>
          <p:nvPr/>
        </p:nvCxnSpPr>
        <p:spPr>
          <a:xfrm>
            <a:off x="6094476" y="4114800"/>
            <a:ext cx="0" cy="457200"/>
          </a:xfrm>
          <a:prstGeom prst="line">
            <a:avLst/>
          </a:prstGeom>
          <a:ln w="15875" cap="rnd">
            <a:solidFill>
              <a:srgbClr val="263352"/>
            </a:solidFill>
            <a:round/>
          </a:ln>
        </p:spPr>
      </p:cxnSp>
      <p:grpSp>
        <p:nvGrpSpPr>
          <p:cNvPr id="19" name="node_react"/>
          <p:cNvGrpSpPr/>
          <p:nvPr/>
        </p:nvGrpSpPr>
        <p:grpSpPr>
          <a:xfrm>
            <a:off x="777240" y="3200400"/>
            <a:ext cx="2514600" cy="914400"/>
            <a:chOff x="777240" y="3200400"/>
            <a:chExt cx="2514600" cy="914400"/>
          </a:xfrm>
        </p:grpSpPr>
        <p:sp>
          <p:nvSpPr>
            <p:cNvPr id="20" name="nodeBox_react"/>
            <p:cNvSpPr/>
            <p:nvPr/>
          </p:nvSpPr>
          <p:spPr>
            <a:xfrm>
              <a:off x="777240" y="32004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34436A"/>
              </a:solidFill>
              <a:round/>
            </a:ln>
          </p:spPr>
        </p:sp>
        <p:pic>
          <p:nvPicPr>
            <p:cNvPr id="21" name="nodeIco_react" descr="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05840" y="3465576"/>
              <a:ext cx="384048" cy="384048"/>
            </a:xfrm>
            <a:prstGeom prst="rect">
              <a:avLst/>
            </a:prstGeom>
          </p:spPr>
        </p:pic>
        <p:sp>
          <p:nvSpPr>
            <p:cNvPr id="22" name="nodeT_react"/>
            <p:cNvSpPr txBox="1"/>
            <p:nvPr/>
          </p:nvSpPr>
          <p:spPr>
            <a:xfrm>
              <a:off x="1554480" y="33467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React</a:t>
              </a:r>
              <a:endParaRPr lang="es-ES" sz="1700" dirty="0"/>
            </a:p>
          </p:txBody>
        </p:sp>
        <p:sp>
          <p:nvSpPr>
            <p:cNvPr id="23" name="nodeD_react"/>
            <p:cNvSpPr txBox="1"/>
            <p:nvPr/>
          </p:nvSpPr>
          <p:spPr>
            <a:xfrm>
              <a:off x="1554480" y="36850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La interfaz</a:t>
              </a:r>
              <a:endParaRPr lang="es-ES" sz="1300" dirty="0"/>
            </a:p>
          </p:txBody>
        </p:sp>
      </p:grpSp>
      <p:grpSp>
        <p:nvGrpSpPr>
          <p:cNvPr id="24" name="node_api"/>
          <p:cNvGrpSpPr/>
          <p:nvPr/>
        </p:nvGrpSpPr>
        <p:grpSpPr>
          <a:xfrm>
            <a:off x="4837176" y="3200400"/>
            <a:ext cx="2514600" cy="914400"/>
            <a:chOff x="4837176" y="3200400"/>
            <a:chExt cx="2514600" cy="914400"/>
          </a:xfrm>
        </p:grpSpPr>
        <p:sp>
          <p:nvSpPr>
            <p:cNvPr id="25" name="nodeBox_api"/>
            <p:cNvSpPr/>
            <p:nvPr/>
          </p:nvSpPr>
          <p:spPr>
            <a:xfrm>
              <a:off x="4837176" y="32004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0F2A26"/>
            </a:solidFill>
            <a:ln w="19050" cap="rnd">
              <a:solidFill>
                <a:srgbClr val="2BD49A"/>
              </a:solidFill>
              <a:round/>
            </a:ln>
          </p:spPr>
        </p:sp>
        <p:pic>
          <p:nvPicPr>
            <p:cNvPr id="26" name="nodeIco_api" descr="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65776" y="3465576"/>
              <a:ext cx="384048" cy="384048"/>
            </a:xfrm>
            <a:prstGeom prst="rect">
              <a:avLst/>
            </a:prstGeom>
          </p:spPr>
        </p:pic>
        <p:sp>
          <p:nvSpPr>
            <p:cNvPr id="27" name="nodeT_api"/>
            <p:cNvSpPr txBox="1"/>
            <p:nvPr/>
          </p:nvSpPr>
          <p:spPr>
            <a:xfrm>
              <a:off x="5614416" y="33467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Python · FastAPI</a:t>
              </a:r>
              <a:endParaRPr lang="es-ES" sz="1700" dirty="0"/>
            </a:p>
          </p:txBody>
        </p:sp>
        <p:sp>
          <p:nvSpPr>
            <p:cNvPr id="28" name="nodeD_api"/>
            <p:cNvSpPr txBox="1"/>
            <p:nvPr/>
          </p:nvSpPr>
          <p:spPr>
            <a:xfrm>
              <a:off x="5614416" y="36850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Fuente única de verdad</a:t>
              </a:r>
              <a:endParaRPr lang="es-ES" sz="1300" dirty="0"/>
            </a:p>
          </p:txBody>
        </p:sp>
      </p:grpSp>
      <p:grpSp>
        <p:nvGrpSpPr>
          <p:cNvPr id="29" name="node_pg"/>
          <p:cNvGrpSpPr/>
          <p:nvPr/>
        </p:nvGrpSpPr>
        <p:grpSpPr>
          <a:xfrm>
            <a:off x="8897112" y="3200400"/>
            <a:ext cx="2514600" cy="914400"/>
            <a:chOff x="8897112" y="3200400"/>
            <a:chExt cx="2514600" cy="914400"/>
          </a:xfrm>
        </p:grpSpPr>
        <p:sp>
          <p:nvSpPr>
            <p:cNvPr id="30" name="nodeBox_pg"/>
            <p:cNvSpPr/>
            <p:nvPr/>
          </p:nvSpPr>
          <p:spPr>
            <a:xfrm>
              <a:off x="8897112" y="32004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34436A"/>
              </a:solidFill>
              <a:round/>
            </a:ln>
          </p:spPr>
        </p:sp>
        <p:pic>
          <p:nvPicPr>
            <p:cNvPr id="31" name="nodeIco_pg" descr="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25712" y="3465576"/>
              <a:ext cx="384048" cy="384048"/>
            </a:xfrm>
            <a:prstGeom prst="rect">
              <a:avLst/>
            </a:prstGeom>
          </p:spPr>
        </p:pic>
        <p:sp>
          <p:nvSpPr>
            <p:cNvPr id="32" name="nodeT_pg"/>
            <p:cNvSpPr txBox="1"/>
            <p:nvPr/>
          </p:nvSpPr>
          <p:spPr>
            <a:xfrm>
              <a:off x="9674352" y="33467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PostgreSQL</a:t>
              </a:r>
              <a:endParaRPr lang="es-ES" sz="1700" dirty="0"/>
            </a:p>
          </p:txBody>
        </p:sp>
        <p:sp>
          <p:nvSpPr>
            <p:cNvPr id="33" name="nodeD_pg"/>
            <p:cNvSpPr txBox="1"/>
            <p:nvPr/>
          </p:nvSpPr>
          <p:spPr>
            <a:xfrm>
              <a:off x="9674352" y="36850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Registros clínicos</a:t>
              </a:r>
              <a:endParaRPr lang="es-ES" sz="1300" dirty="0"/>
            </a:p>
          </p:txBody>
        </p:sp>
      </p:grpSp>
      <p:grpSp>
        <p:nvGrpSpPr>
          <p:cNvPr id="34" name="node_oci"/>
          <p:cNvGrpSpPr/>
          <p:nvPr/>
        </p:nvGrpSpPr>
        <p:grpSpPr>
          <a:xfrm>
            <a:off x="4837176" y="4572000"/>
            <a:ext cx="2514600" cy="914400"/>
            <a:chOff x="4837176" y="4572000"/>
            <a:chExt cx="2514600" cy="914400"/>
          </a:xfrm>
        </p:grpSpPr>
        <p:sp>
          <p:nvSpPr>
            <p:cNvPr id="35" name="nodeBox_oci"/>
            <p:cNvSpPr/>
            <p:nvPr/>
          </p:nvSpPr>
          <p:spPr>
            <a:xfrm>
              <a:off x="4837176" y="45720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34436A"/>
              </a:solidFill>
              <a:round/>
            </a:ln>
          </p:spPr>
        </p:sp>
        <p:pic>
          <p:nvPicPr>
            <p:cNvPr id="36" name="nodeIco_oci" descr="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65776" y="4837176"/>
              <a:ext cx="384048" cy="384048"/>
            </a:xfrm>
            <a:prstGeom prst="rect">
              <a:avLst/>
            </a:prstGeom>
          </p:spPr>
        </p:pic>
        <p:sp>
          <p:nvSpPr>
            <p:cNvPr id="37" name="nodeT_oci"/>
            <p:cNvSpPr txBox="1"/>
            <p:nvPr/>
          </p:nvSpPr>
          <p:spPr>
            <a:xfrm>
              <a:off x="5614416" y="47183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Oracle Cloud</a:t>
              </a:r>
              <a:endParaRPr lang="es-ES" sz="1700" dirty="0"/>
            </a:p>
          </p:txBody>
        </p:sp>
        <p:sp>
          <p:nvSpPr>
            <p:cNvPr id="38" name="nodeD_oci"/>
            <p:cNvSpPr txBox="1"/>
            <p:nvPr/>
          </p:nvSpPr>
          <p:spPr>
            <a:xfrm>
              <a:off x="5614416" y="50566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Archivos originales</a:t>
              </a:r>
              <a:endParaRPr lang="es-ES" sz="1300" dirty="0"/>
            </a:p>
          </p:txBody>
        </p:sp>
      </p:grpSp>
      <p:grpSp>
        <p:nvGrpSpPr>
          <p:cNvPr id="39" name="node_n8n"/>
          <p:cNvGrpSpPr/>
          <p:nvPr/>
        </p:nvGrpSpPr>
        <p:grpSpPr>
          <a:xfrm>
            <a:off x="4837176" y="1828800"/>
            <a:ext cx="2514600" cy="914400"/>
            <a:chOff x="4837176" y="1828800"/>
            <a:chExt cx="2514600" cy="914400"/>
          </a:xfrm>
        </p:grpSpPr>
        <p:sp>
          <p:nvSpPr>
            <p:cNvPr id="40" name="nodeBox_n8n"/>
            <p:cNvSpPr/>
            <p:nvPr/>
          </p:nvSpPr>
          <p:spPr>
            <a:xfrm>
              <a:off x="4837176" y="18288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34436A"/>
              </a:solidFill>
              <a:round/>
            </a:ln>
          </p:spPr>
        </p:sp>
        <p:pic>
          <p:nvPicPr>
            <p:cNvPr id="41" name="nodeIco_n8n" descr="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065776" y="2093976"/>
              <a:ext cx="384048" cy="384048"/>
            </a:xfrm>
            <a:prstGeom prst="rect">
              <a:avLst/>
            </a:prstGeom>
          </p:spPr>
        </p:pic>
        <p:sp>
          <p:nvSpPr>
            <p:cNvPr id="42" name="nodeT_n8n"/>
            <p:cNvSpPr txBox="1"/>
            <p:nvPr/>
          </p:nvSpPr>
          <p:spPr>
            <a:xfrm>
              <a:off x="5614416" y="19751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n8n</a:t>
              </a:r>
              <a:endParaRPr lang="es-ES" sz="1700" dirty="0"/>
            </a:p>
          </p:txBody>
        </p:sp>
        <p:sp>
          <p:nvSpPr>
            <p:cNvPr id="43" name="nodeD_n8n"/>
            <p:cNvSpPr txBox="1"/>
            <p:nvPr/>
          </p:nvSpPr>
          <p:spPr>
            <a:xfrm>
              <a:off x="5614416" y="23134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Pipelines controlados</a:t>
              </a:r>
              <a:endParaRPr lang="es-ES" sz="1300" dirty="0"/>
            </a:p>
          </p:txBody>
        </p:sp>
      </p:grpSp>
      <p:grpSp>
        <p:nvGrpSpPr>
          <p:cNvPr id="44" name="node_gem"/>
          <p:cNvGrpSpPr/>
          <p:nvPr/>
        </p:nvGrpSpPr>
        <p:grpSpPr>
          <a:xfrm>
            <a:off x="8897112" y="1828800"/>
            <a:ext cx="2514600" cy="914400"/>
            <a:chOff x="8897112" y="1828800"/>
            <a:chExt cx="2514600" cy="914400"/>
          </a:xfrm>
        </p:grpSpPr>
        <p:sp>
          <p:nvSpPr>
            <p:cNvPr id="45" name="nodeBox_gem"/>
            <p:cNvSpPr/>
            <p:nvPr/>
          </p:nvSpPr>
          <p:spPr>
            <a:xfrm>
              <a:off x="8897112" y="1828800"/>
              <a:ext cx="2514600" cy="9144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34436A"/>
              </a:solidFill>
              <a:round/>
            </a:ln>
          </p:spPr>
        </p:sp>
        <p:pic>
          <p:nvPicPr>
            <p:cNvPr id="46" name="nodeIco_gem" descr="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125712" y="2093976"/>
              <a:ext cx="384048" cy="384048"/>
            </a:xfrm>
            <a:prstGeom prst="rect">
              <a:avLst/>
            </a:prstGeom>
          </p:spPr>
        </p:pic>
        <p:sp>
          <p:nvSpPr>
            <p:cNvPr id="47" name="nodeT_gem"/>
            <p:cNvSpPr txBox="1"/>
            <p:nvPr/>
          </p:nvSpPr>
          <p:spPr>
            <a:xfrm>
              <a:off x="9674352" y="1975104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700" b="1" i="0" dirty="0">
                  <a:solidFill>
                    <a:srgbClr val="EEF1F6"/>
                  </a:solidFill>
                  <a:latin typeface="Calibri"/>
                  <a:cs typeface="Calibri"/>
                </a:rPr>
                <a:t>Google Gemini</a:t>
              </a:r>
              <a:endParaRPr lang="es-ES" sz="1700" dirty="0"/>
            </a:p>
          </p:txBody>
        </p:sp>
        <p:sp>
          <p:nvSpPr>
            <p:cNvPr id="48" name="nodeD_gem"/>
            <p:cNvSpPr txBox="1"/>
            <p:nvPr/>
          </p:nvSpPr>
          <p:spPr>
            <a:xfrm>
              <a:off x="9674352" y="2313432"/>
              <a:ext cx="1645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300" b="0" i="0" dirty="0">
                  <a:solidFill>
                    <a:srgbClr val="A9B4C8"/>
                  </a:solidFill>
                  <a:latin typeface="Calibri"/>
                  <a:cs typeface="Calibri"/>
                </a:rPr>
                <a:t>Clasifica y extrae</a:t>
              </a:r>
              <a:endParaRPr lang="es-ES" sz="1300" dirty="0"/>
            </a:p>
          </p:txBody>
        </p:sp>
      </p:grpSp>
      <p:cxnSp>
        <p:nvCxnSpPr>
          <p:cNvPr id="49" name="edge_react_api"/>
          <p:cNvCxnSpPr/>
          <p:nvPr/>
        </p:nvCxnSpPr>
        <p:spPr>
          <a:xfrm>
            <a:off x="3291840" y="3657600"/>
            <a:ext cx="1545336" cy="0"/>
          </a:xfrm>
          <a:prstGeom prst="line">
            <a:avLst/>
          </a:prstGeom>
          <a:ln w="22225" cap="rnd">
            <a:solidFill>
              <a:srgbClr val="2BD49A"/>
            </a:solidFill>
            <a:round/>
            <a:tailEnd type="triangle" w="med" len="med"/>
          </a:ln>
        </p:spPr>
      </p:cxnSp>
      <p:cxnSp>
        <p:nvCxnSpPr>
          <p:cNvPr id="50" name="edge_api_pg"/>
          <p:cNvCxnSpPr/>
          <p:nvPr/>
        </p:nvCxnSpPr>
        <p:spPr>
          <a:xfrm>
            <a:off x="7351776" y="3657600"/>
            <a:ext cx="1545336" cy="0"/>
          </a:xfrm>
          <a:prstGeom prst="line">
            <a:avLst/>
          </a:prstGeom>
          <a:ln w="22225" cap="rnd">
            <a:solidFill>
              <a:srgbClr val="2BD49A"/>
            </a:solidFill>
            <a:round/>
            <a:tailEnd type="triangle" w="med" len="med"/>
          </a:ln>
        </p:spPr>
      </p:cxnSp>
      <p:cxnSp>
        <p:nvCxnSpPr>
          <p:cNvPr id="51" name="edge_api_n8n"/>
          <p:cNvCxnSpPr/>
          <p:nvPr/>
        </p:nvCxnSpPr>
        <p:spPr>
          <a:xfrm flipV="1">
            <a:off x="6094476" y="2743200"/>
            <a:ext cx="0" cy="457200"/>
          </a:xfrm>
          <a:prstGeom prst="line">
            <a:avLst/>
          </a:prstGeom>
          <a:ln w="22225" cap="rnd">
            <a:solidFill>
              <a:srgbClr val="2BD49A"/>
            </a:solidFill>
            <a:round/>
            <a:tailEnd type="triangle" w="med" len="med"/>
          </a:ln>
        </p:spPr>
      </p:cxnSp>
      <p:cxnSp>
        <p:nvCxnSpPr>
          <p:cNvPr id="52" name="edge_n8n_gem"/>
          <p:cNvCxnSpPr/>
          <p:nvPr/>
        </p:nvCxnSpPr>
        <p:spPr>
          <a:xfrm>
            <a:off x="7351776" y="2286000"/>
            <a:ext cx="1545336" cy="0"/>
          </a:xfrm>
          <a:prstGeom prst="line">
            <a:avLst/>
          </a:prstGeom>
          <a:ln w="22225" cap="rnd">
            <a:solidFill>
              <a:srgbClr val="2BD49A"/>
            </a:solidFill>
            <a:round/>
            <a:tailEnd type="triangle" w="med" len="med"/>
          </a:ln>
        </p:spPr>
      </p:cxnSp>
      <p:cxnSp>
        <p:nvCxnSpPr>
          <p:cNvPr id="53" name="edge_api_oci"/>
          <p:cNvCxnSpPr/>
          <p:nvPr/>
        </p:nvCxnSpPr>
        <p:spPr>
          <a:xfrm>
            <a:off x="6094476" y="4114800"/>
            <a:ext cx="0" cy="457200"/>
          </a:xfrm>
          <a:prstGeom prst="line">
            <a:avLst/>
          </a:prstGeom>
          <a:ln w="22225" cap="rnd">
            <a:solidFill>
              <a:srgbClr val="2BD49A"/>
            </a:solidFill>
            <a:round/>
            <a:tailEnd type="triangle" w="med" len="med"/>
          </a:ln>
        </p:spPr>
      </p:cxnSp>
      <p:sp>
        <p:nvSpPr>
          <p:cNvPr id="54" name="foot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600" b="0" i="0" dirty="0">
                <a:solidFill>
                  <a:srgbClr val="D6DCE6"/>
                </a:solidFill>
                <a:latin typeface="Calibri"/>
                <a:cs typeface="Calibri"/>
              </a:rPr>
              <a:t xml:space="preserve">Contenerizado, documentado y validado con pruebas. </a:t>
            </a:r>
            <a:r>
              <a:rPr lang="es-ES" sz="1600" b="1" i="0" dirty="0">
                <a:solidFill>
                  <a:srgbClr val="2BD49A"/>
                </a:solidFill>
                <a:latin typeface="Calibri"/>
                <a:cs typeface="Calibri"/>
              </a:rPr>
              <a:t>Lista para producción.</a:t>
            </a:r>
            <a:endParaRPr lang="es-ES" sz="1600" dirty="0"/>
          </a:p>
        </p:txBody>
      </p:sp>
      <p:sp>
        <p:nvSpPr>
          <p:cNvPr id="55" name="packet1"/>
          <p:cNvSpPr/>
          <p:nvPr/>
        </p:nvSpPr>
        <p:spPr>
          <a:xfrm>
            <a:off x="3209544" y="3575304"/>
            <a:ext cx="164592" cy="164592"/>
          </a:xfrm>
          <a:prstGeom prst="ellipse">
            <a:avLst/>
          </a:prstGeom>
          <a:solidFill>
            <a:srgbClr val="2BD49A"/>
          </a:solidFill>
          <a:ln>
            <a:noFill/>
          </a:ln>
        </p:spPr>
      </p:sp>
      <p:sp>
        <p:nvSpPr>
          <p:cNvPr id="56" name="packet2"/>
          <p:cNvSpPr/>
          <p:nvPr/>
        </p:nvSpPr>
        <p:spPr>
          <a:xfrm>
            <a:off x="6012180" y="3118104"/>
            <a:ext cx="164592" cy="164592"/>
          </a:xfrm>
          <a:prstGeom prst="ellipse">
            <a:avLst/>
          </a:prstGeom>
          <a:solidFill>
            <a:srgbClr val="F5B33D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3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0.4598 0 E" pathEditMode="relative" ptsTypes="">
                                      <p:cBhvr>
                                        <p:cTn id="60" dur="2600" fill="hold" repeatCount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3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0" presetClass="path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 L 0 -0.1333 L 0.2299 -0.1333 E" pathEditMode="relative" ptsTypes="">
                                      <p:cBhvr>
                                        <p:cTn id="67" dur="2600" fill="hold" repeatCount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R" descr="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6858000" y="-365760"/>
            <a:ext cx="7315200" cy="7315200"/>
          </a:xfrm>
          <a:prstGeom prst="rect">
            <a:avLst/>
          </a:prstGeom>
        </p:spPr>
      </p:pic>
      <p:pic>
        <p:nvPicPr>
          <p:cNvPr id="3" name="!!glowG" descr="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71600" y="-365760"/>
            <a:ext cx="7315200" cy="7315200"/>
          </a:xfrm>
          <a:prstGeom prst="rect">
            <a:avLst/>
          </a:prstGeom>
        </p:spPr>
      </p:pic>
      <p:pic>
        <p:nvPicPr>
          <p:cNvPr id="4" name="!!logoIcon" descr="Logo de MediFlo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6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F0365F"/>
                </a:solidFill>
                <a:latin typeface="Calibri"/>
                <a:cs typeface="Calibri"/>
              </a:rPr>
              <a:t>EL VALOR</a:t>
            </a:r>
            <a:endParaRPr lang="es-ES" sz="1300" dirty="0"/>
          </a:p>
        </p:txBody>
      </p:sp>
      <p:sp>
        <p:nvSpPr>
          <p:cNvPr id="7" name="!!title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Resolvimos dos dolores: </a:t>
            </a:r>
            <a:r>
              <a:rPr lang="es-ES" sz="3600" b="1" i="0" dirty="0">
                <a:solidFill>
                  <a:srgbClr val="2BD49A"/>
                </a:solidFill>
                <a:latin typeface="Calibri"/>
                <a:cs typeface="Calibri"/>
              </a:rPr>
              <a:t>confianza</a:t>
            </a:r>
            <a:r>
              <a:rPr lang="es-ES" sz="3600" b="1" i="0" dirty="0">
                <a:solidFill>
                  <a:srgbClr val="EEF1F6"/>
                </a:solidFill>
                <a:latin typeface="Calibri"/>
                <a:cs typeface="Calibri"/>
              </a:rPr>
              <a:t xml:space="preserve"> y </a:t>
            </a:r>
            <a:r>
              <a:rPr lang="es-ES" sz="3600" b="1" i="0" dirty="0">
                <a:solidFill>
                  <a:srgbClr val="F5B33D"/>
                </a:solidFill>
                <a:latin typeface="Calibri"/>
                <a:cs typeface="Calibri"/>
              </a:rPr>
              <a:t>costo</a:t>
            </a:r>
            <a:endParaRPr lang="es-ES" sz="3600" dirty="0"/>
          </a:p>
        </p:txBody>
      </p:sp>
      <p:grpSp>
        <p:nvGrpSpPr>
          <p:cNvPr id="8" name="cardTrust"/>
          <p:cNvGrpSpPr/>
          <p:nvPr/>
        </p:nvGrpSpPr>
        <p:grpSpPr>
          <a:xfrm>
            <a:off x="777240" y="1874520"/>
            <a:ext cx="5166360" cy="2743200"/>
            <a:chOff x="777240" y="1874520"/>
            <a:chExt cx="5166360" cy="2743200"/>
          </a:xfrm>
        </p:grpSpPr>
        <p:sp>
          <p:nvSpPr>
            <p:cNvPr id="9" name="trustCard"/>
            <p:cNvSpPr/>
            <p:nvPr/>
          </p:nvSpPr>
          <p:spPr>
            <a:xfrm>
              <a:off x="777240" y="1874520"/>
              <a:ext cx="5166360" cy="27432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10" name="trustIco" descr="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7280" y="2176272"/>
              <a:ext cx="502920" cy="502920"/>
            </a:xfrm>
            <a:prstGeom prst="rect">
              <a:avLst/>
            </a:prstGeom>
          </p:spPr>
        </p:pic>
        <p:sp>
          <p:nvSpPr>
            <p:cNvPr id="11" name="trustT"/>
            <p:cNvSpPr txBox="1"/>
            <p:nvPr/>
          </p:nvSpPr>
          <p:spPr>
            <a:xfrm>
              <a:off x="1783080" y="2148840"/>
              <a:ext cx="36576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3000" b="1" i="0" dirty="0">
                  <a:solidFill>
                    <a:srgbClr val="EEF1F6"/>
                  </a:solidFill>
                  <a:latin typeface="Calibri"/>
                  <a:cs typeface="Calibri"/>
                </a:rPr>
                <a:t>Confianza</a:t>
              </a:r>
              <a:endParaRPr lang="es-ES" sz="3000" dirty="0"/>
            </a:p>
          </p:txBody>
        </p:sp>
      </p:grpSp>
      <p:sp>
        <p:nvSpPr>
          <p:cNvPr id="12" name="trustB"/>
          <p:cNvSpPr txBox="1"/>
          <p:nvPr/>
        </p:nvSpPr>
        <p:spPr>
          <a:xfrm>
            <a:off x="1097280" y="2898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2200" b="1" i="0" dirty="0">
                <a:solidFill>
                  <a:srgbClr val="EEF1F6"/>
                </a:solidFill>
                <a:latin typeface="Calibri"/>
                <a:cs typeface="Calibri"/>
              </a:rPr>
              <a:t>La IA nunca decide sola.</a:t>
            </a:r>
            <a:endParaRPr lang="es-ES" sz="2200" dirty="0"/>
          </a:p>
        </p:txBody>
      </p:sp>
      <p:sp>
        <p:nvSpPr>
          <p:cNvPr id="13" name="chain0"/>
          <p:cNvSpPr/>
          <p:nvPr/>
        </p:nvSpPr>
        <p:spPr>
          <a:xfrm>
            <a:off x="1097280" y="36576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7D89A0">
              <a:alpha val="14000"/>
            </a:srgbClr>
          </a:solidFill>
          <a:ln w="12700" cap="rnd">
            <a:solidFill>
              <a:srgbClr val="7D89A0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7D89A0"/>
                </a:solidFill>
                <a:latin typeface="Calibri"/>
                <a:cs typeface="Calibri"/>
              </a:rPr>
              <a:t>IA propone</a:t>
            </a:r>
            <a:endParaRPr lang="es-ES" sz="1400" dirty="0"/>
          </a:p>
        </p:txBody>
      </p:sp>
      <p:cxnSp>
        <p:nvCxnSpPr>
          <p:cNvPr id="14" name="chainA0"/>
          <p:cNvCxnSpPr/>
          <p:nvPr/>
        </p:nvCxnSpPr>
        <p:spPr>
          <a:xfrm>
            <a:off x="2487168" y="3886200"/>
            <a:ext cx="182880" cy="0"/>
          </a:xfrm>
          <a:prstGeom prst="line">
            <a:avLst/>
          </a:prstGeom>
          <a:ln w="19050" cap="rnd">
            <a:solidFill>
              <a:srgbClr val="4A5878"/>
            </a:solidFill>
            <a:round/>
            <a:tailEnd type="triangle" w="med" len="med"/>
          </a:ln>
        </p:spPr>
      </p:cxnSp>
      <p:sp>
        <p:nvSpPr>
          <p:cNvPr id="15" name="chain1"/>
          <p:cNvSpPr/>
          <p:nvPr/>
        </p:nvSpPr>
        <p:spPr>
          <a:xfrm>
            <a:off x="2697480" y="36576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5B33D">
              <a:alpha val="14000"/>
            </a:srgbClr>
          </a:solidFill>
          <a:ln w="12700" cap="rnd">
            <a:solidFill>
              <a:srgbClr val="F5B33D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F5B33D"/>
                </a:solidFill>
                <a:latin typeface="Calibri"/>
                <a:cs typeface="Calibri"/>
              </a:rPr>
              <a:t>Sistema valida</a:t>
            </a:r>
            <a:endParaRPr lang="es-ES" sz="1400" dirty="0"/>
          </a:p>
        </p:txBody>
      </p:sp>
      <p:cxnSp>
        <p:nvCxnSpPr>
          <p:cNvPr id="16" name="chainA1"/>
          <p:cNvCxnSpPr/>
          <p:nvPr/>
        </p:nvCxnSpPr>
        <p:spPr>
          <a:xfrm>
            <a:off x="4087368" y="3886200"/>
            <a:ext cx="182880" cy="0"/>
          </a:xfrm>
          <a:prstGeom prst="line">
            <a:avLst/>
          </a:prstGeom>
          <a:ln w="19050" cap="rnd">
            <a:solidFill>
              <a:srgbClr val="4A5878"/>
            </a:solidFill>
            <a:round/>
            <a:tailEnd type="triangle" w="med" len="med"/>
          </a:ln>
        </p:spPr>
      </p:cxnSp>
      <p:sp>
        <p:nvSpPr>
          <p:cNvPr id="17" name="chain2"/>
          <p:cNvSpPr/>
          <p:nvPr/>
        </p:nvSpPr>
        <p:spPr>
          <a:xfrm>
            <a:off x="4297680" y="36576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D49A">
              <a:alpha val="14000"/>
            </a:srgbClr>
          </a:solidFill>
          <a:ln w="12700" cap="rnd">
            <a:solidFill>
              <a:srgbClr val="2BD49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1400" b="1" i="0" dirty="0">
                <a:solidFill>
                  <a:srgbClr val="2BD49A"/>
                </a:solidFill>
                <a:latin typeface="Calibri"/>
                <a:cs typeface="Calibri"/>
              </a:rPr>
              <a:t>Persona decide</a:t>
            </a:r>
            <a:endParaRPr lang="es-ES" sz="1400" dirty="0"/>
          </a:p>
        </p:txBody>
      </p:sp>
      <p:grpSp>
        <p:nvGrpSpPr>
          <p:cNvPr id="18" name="cardCost"/>
          <p:cNvGrpSpPr/>
          <p:nvPr/>
        </p:nvGrpSpPr>
        <p:grpSpPr>
          <a:xfrm>
            <a:off x="6245352" y="1874520"/>
            <a:ext cx="5166360" cy="2743200"/>
            <a:chOff x="6245352" y="1874520"/>
            <a:chExt cx="5166360" cy="2743200"/>
          </a:xfrm>
        </p:grpSpPr>
        <p:sp>
          <p:nvSpPr>
            <p:cNvPr id="19" name="costCard"/>
            <p:cNvSpPr/>
            <p:nvPr/>
          </p:nvSpPr>
          <p:spPr>
            <a:xfrm>
              <a:off x="6245352" y="1874520"/>
              <a:ext cx="5166360" cy="2743200"/>
            </a:xfrm>
            <a:prstGeom prst="roundRect">
              <a:avLst>
                <a:gd name="adj" fmla="val 9000"/>
              </a:avLst>
            </a:prstGeom>
            <a:solidFill>
              <a:srgbClr val="141D33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20" name="costIco" descr="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65392" y="2176272"/>
              <a:ext cx="502920" cy="502920"/>
            </a:xfrm>
            <a:prstGeom prst="rect">
              <a:avLst/>
            </a:prstGeom>
          </p:spPr>
        </p:pic>
        <p:sp>
          <p:nvSpPr>
            <p:cNvPr id="21" name="costT"/>
            <p:cNvSpPr txBox="1"/>
            <p:nvPr/>
          </p:nvSpPr>
          <p:spPr>
            <a:xfrm>
              <a:off x="7251192" y="2148840"/>
              <a:ext cx="36576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3000" b="1" i="0" dirty="0">
                  <a:solidFill>
                    <a:srgbClr val="EEF1F6"/>
                  </a:solidFill>
                  <a:latin typeface="Calibri"/>
                  <a:cs typeface="Calibri"/>
                </a:rPr>
                <a:t>Costo</a:t>
              </a:r>
              <a:endParaRPr lang="es-ES" sz="3000" dirty="0"/>
            </a:p>
          </p:txBody>
        </p:sp>
      </p:grpSp>
      <p:grpSp>
        <p:nvGrpSpPr>
          <p:cNvPr id="22" name="costR1"/>
          <p:cNvGrpSpPr/>
          <p:nvPr/>
        </p:nvGrpSpPr>
        <p:grpSpPr>
          <a:xfrm>
            <a:off x="6565392" y="2862072"/>
            <a:ext cx="4572000" cy="548640"/>
            <a:chOff x="6565392" y="2862072"/>
            <a:chExt cx="4572000" cy="548640"/>
          </a:xfrm>
        </p:grpSpPr>
        <p:pic>
          <p:nvPicPr>
            <p:cNvPr id="23" name="c1Ico" descr="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565392" y="2926080"/>
              <a:ext cx="384048" cy="384048"/>
            </a:xfrm>
            <a:prstGeom prst="rect">
              <a:avLst/>
            </a:prstGeom>
          </p:spPr>
        </p:pic>
        <p:sp>
          <p:nvSpPr>
            <p:cNvPr id="24" name="c1T"/>
            <p:cNvSpPr txBox="1"/>
            <p:nvPr/>
          </p:nvSpPr>
          <p:spPr>
            <a:xfrm>
              <a:off x="7114032" y="2862072"/>
              <a:ext cx="40233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800" b="1" i="0" dirty="0">
                  <a:solidFill>
                    <a:srgbClr val="EEF1F6"/>
                  </a:solidFill>
                  <a:latin typeface="Calibri"/>
                  <a:cs typeface="Calibri"/>
                </a:rPr>
                <a:t xml:space="preserve">Duplicados: </a:t>
              </a:r>
              <a:r>
                <a:rPr lang="es-ES" sz="1800" b="0" i="0" dirty="0">
                  <a:solidFill>
                    <a:srgbClr val="A9B4C8"/>
                  </a:solidFill>
                  <a:latin typeface="Calibri"/>
                  <a:cs typeface="Calibri"/>
                </a:rPr>
                <a:t>se detectan y no se procesan.</a:t>
              </a:r>
              <a:endParaRPr lang="es-ES" sz="1800" dirty="0"/>
            </a:p>
          </p:txBody>
        </p:sp>
      </p:grpSp>
      <p:grpSp>
        <p:nvGrpSpPr>
          <p:cNvPr id="25" name="costR2"/>
          <p:cNvGrpSpPr/>
          <p:nvPr/>
        </p:nvGrpSpPr>
        <p:grpSpPr>
          <a:xfrm>
            <a:off x="6565392" y="3520440"/>
            <a:ext cx="4572000" cy="685800"/>
            <a:chOff x="6565392" y="3520440"/>
            <a:chExt cx="4572000" cy="685800"/>
          </a:xfrm>
        </p:grpSpPr>
        <p:pic>
          <p:nvPicPr>
            <p:cNvPr id="26" name="c2Ico" descr="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565392" y="3657600"/>
              <a:ext cx="384048" cy="384048"/>
            </a:xfrm>
            <a:prstGeom prst="rect">
              <a:avLst/>
            </a:prstGeom>
          </p:spPr>
        </p:pic>
        <p:sp>
          <p:nvSpPr>
            <p:cNvPr id="27" name="c2T"/>
            <p:cNvSpPr txBox="1"/>
            <p:nvPr/>
          </p:nvSpPr>
          <p:spPr>
            <a:xfrm>
              <a:off x="7114032" y="3520440"/>
              <a:ext cx="402336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800" b="1" i="0" dirty="0">
                  <a:solidFill>
                    <a:srgbClr val="EEF1F6"/>
                  </a:solidFill>
                  <a:latin typeface="Calibri"/>
                  <a:cs typeface="Calibri"/>
                </a:rPr>
                <a:t xml:space="preserve">Modelo caro </a:t>
              </a:r>
              <a:r>
                <a:rPr lang="es-ES" sz="1800" b="0" i="0" dirty="0">
                  <a:solidFill>
                    <a:srgbClr val="A9B4C8"/>
                  </a:solidFill>
                  <a:latin typeface="Calibri"/>
                  <a:cs typeface="Calibri"/>
                </a:rPr>
                <a:t>solo cuando el liviano duda.</a:t>
              </a:r>
              <a:endParaRPr lang="es-ES" sz="1800" dirty="0"/>
            </a:p>
          </p:txBody>
        </p:sp>
      </p:grpSp>
      <p:grpSp>
        <p:nvGrpSpPr>
          <p:cNvPr id="28" name="flexRow"/>
          <p:cNvGrpSpPr/>
          <p:nvPr/>
        </p:nvGrpSpPr>
        <p:grpSpPr>
          <a:xfrm>
            <a:off x="777240" y="4892040"/>
            <a:ext cx="5166360" cy="1005840"/>
            <a:chOff x="777240" y="4892040"/>
            <a:chExt cx="5166360" cy="1005840"/>
          </a:xfrm>
        </p:grpSpPr>
        <p:sp>
          <p:nvSpPr>
            <p:cNvPr id="29" name="flexCard"/>
            <p:cNvSpPr/>
            <p:nvPr/>
          </p:nvSpPr>
          <p:spPr>
            <a:xfrm>
              <a:off x="777240" y="4892040"/>
              <a:ext cx="5166360" cy="100584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0" name="flexIco" descr="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97280" y="5175504"/>
              <a:ext cx="438912" cy="438912"/>
            </a:xfrm>
            <a:prstGeom prst="rect">
              <a:avLst/>
            </a:prstGeom>
          </p:spPr>
        </p:pic>
        <p:sp>
          <p:nvSpPr>
            <p:cNvPr id="31" name="flexT"/>
            <p:cNvSpPr txBox="1"/>
            <p:nvPr/>
          </p:nvSpPr>
          <p:spPr>
            <a:xfrm>
              <a:off x="1737360" y="4892040"/>
              <a:ext cx="402336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800" b="1" i="0" dirty="0">
                  <a:solidFill>
                    <a:srgbClr val="EEF1F6"/>
                  </a:solidFill>
                  <a:latin typeface="Calibri"/>
                  <a:cs typeface="Calibri"/>
                </a:rPr>
                <a:t>Flujos nuevos en minutos</a:t>
              </a:r>
              <a:endParaRPr lang="es-ES" sz="1800" dirty="0"/>
            </a:p>
            <a:p>
              <a:pPr algn="l"/>
              <a:r>
                <a:rPr lang="es-ES" sz="1600" b="0" i="0" dirty="0">
                  <a:solidFill>
                    <a:srgbClr val="A9B4C8"/>
                  </a:solidFill>
                  <a:latin typeface="Calibri"/>
                  <a:cs typeface="Calibri"/>
                </a:rPr>
                <a:t>sin depender de TI</a:t>
              </a:r>
              <a:endParaRPr lang="es-ES" sz="1600" dirty="0"/>
            </a:p>
          </p:txBody>
        </p:sp>
      </p:grpSp>
      <p:grpSp>
        <p:nvGrpSpPr>
          <p:cNvPr id="32" name="rolesRow"/>
          <p:cNvGrpSpPr/>
          <p:nvPr/>
        </p:nvGrpSpPr>
        <p:grpSpPr>
          <a:xfrm>
            <a:off x="6245352" y="4892040"/>
            <a:ext cx="5166360" cy="1005840"/>
            <a:chOff x="6245352" y="4892040"/>
            <a:chExt cx="5166360" cy="1005840"/>
          </a:xfrm>
        </p:grpSpPr>
        <p:sp>
          <p:nvSpPr>
            <p:cNvPr id="33" name="rolesCard"/>
            <p:cNvSpPr/>
            <p:nvPr/>
          </p:nvSpPr>
          <p:spPr>
            <a:xfrm>
              <a:off x="6245352" y="4892040"/>
              <a:ext cx="5166360" cy="100584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pic>
          <p:nvPicPr>
            <p:cNvPr id="34" name="rolesIco" descr="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565392" y="5175504"/>
              <a:ext cx="438912" cy="438912"/>
            </a:xfrm>
            <a:prstGeom prst="rect">
              <a:avLst/>
            </a:prstGeom>
          </p:spPr>
        </p:pic>
        <p:sp>
          <p:nvSpPr>
            <p:cNvPr id="35" name="rolesT"/>
            <p:cNvSpPr txBox="1"/>
            <p:nvPr/>
          </p:nvSpPr>
          <p:spPr>
            <a:xfrm>
              <a:off x="7205472" y="4892040"/>
              <a:ext cx="402336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1800" b="1" i="0" dirty="0">
                  <a:solidFill>
                    <a:srgbClr val="EEF1F6"/>
                  </a:solidFill>
                  <a:latin typeface="Calibri"/>
                  <a:cs typeface="Calibri"/>
                </a:rPr>
                <a:t>4 roles</a:t>
              </a:r>
              <a:endParaRPr lang="es-ES" sz="1800" dirty="0"/>
            </a:p>
            <a:p>
              <a:pPr algn="l"/>
              <a:r>
                <a:rPr lang="es-ES" sz="1600" b="0" i="0" dirty="0">
                  <a:solidFill>
                    <a:srgbClr val="A9B4C8"/>
                  </a:solidFill>
                  <a:latin typeface="Calibri"/>
                  <a:cs typeface="Calibri"/>
                </a:rPr>
                <a:t>blindan el acceso clínico</a:t>
              </a:r>
              <a:endParaRPr lang="es-E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9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hoto" descr="Pantalla de inicio de sesión de MediFlow en un mesón de recepción hospitalar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66015" y="0"/>
            <a:ext cx="12191695" cy="6858000"/>
          </a:xfrm>
          <a:prstGeom prst="rect">
            <a:avLst/>
          </a:prstGeom>
        </p:spPr>
      </p:pic>
      <p:pic>
        <p:nvPicPr>
          <p:cNvPr id="3" name="!!scrim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66015" y="0"/>
            <a:ext cx="12191695" cy="6858000"/>
          </a:xfrm>
          <a:prstGeom prst="rect">
            <a:avLst/>
          </a:prstGeom>
        </p:spPr>
      </p:pic>
      <p:pic>
        <p:nvPicPr>
          <p:cNvPr id="4" name="!!glowR" descr="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>
            <a:off x="-3657600" y="5486400"/>
            <a:ext cx="4572000" cy="4572000"/>
          </a:xfrm>
          <a:prstGeom prst="rect">
            <a:avLst/>
          </a:prstGeom>
        </p:spPr>
      </p:pic>
      <p:pic>
        <p:nvPicPr>
          <p:cNvPr id="5" name="!!glowG" descr="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5943600" y="-1280160"/>
            <a:ext cx="7315200" cy="7315200"/>
          </a:xfrm>
          <a:prstGeom prst="rect">
            <a:avLst/>
          </a:prstGeom>
        </p:spPr>
      </p:pic>
      <p:pic>
        <p:nvPicPr>
          <p:cNvPr id="6" name="!!logoIcon" descr="Logo de MediFlow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sp>
        <p:nvSpPr>
          <p:cNvPr id="7" name="!!brand"/>
          <p:cNvSpPr txBox="1"/>
          <p:nvPr/>
        </p:nvSpPr>
        <p:spPr>
          <a:xfrm>
            <a:off x="10515600" y="502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7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17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1700" dirty="0"/>
          </a:p>
        </p:txBody>
      </p:sp>
      <p:sp>
        <p:nvSpPr>
          <p:cNvPr id="8" name="!!kicker"/>
          <p:cNvSpPr txBox="1"/>
          <p:nvPr/>
        </p:nvSpPr>
        <p:spPr>
          <a:xfrm>
            <a:off x="777240" y="566928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300" b="1" i="0" spc="300" dirty="0">
                <a:solidFill>
                  <a:srgbClr val="F0365F"/>
                </a:solidFill>
                <a:latin typeface="Calibri"/>
                <a:cs typeface="Calibri"/>
              </a:rPr>
              <a:t>EN RESUMEN</a:t>
            </a:r>
            <a:endParaRPr lang="es-ES" sz="1300" dirty="0"/>
          </a:p>
        </p:txBody>
      </p:sp>
      <p:sp>
        <p:nvSpPr>
          <p:cNvPr id="9" name="lblB"/>
          <p:cNvSpPr txBox="1"/>
          <p:nvPr/>
        </p:nvSpPr>
        <p:spPr>
          <a:xfrm>
            <a:off x="777240" y="1097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400" b="1" i="0" spc="250" dirty="0">
                <a:solidFill>
                  <a:srgbClr val="7D89A0"/>
                </a:solidFill>
                <a:latin typeface="Calibri"/>
                <a:cs typeface="Calibri"/>
              </a:rPr>
              <a:t>UN PROCESO</a:t>
            </a:r>
            <a:endParaRPr lang="es-ES" sz="1400" dirty="0"/>
          </a:p>
        </p:txBody>
      </p:sp>
      <p:sp>
        <p:nvSpPr>
          <p:cNvPr id="10" name="lblA"/>
          <p:cNvSpPr txBox="1"/>
          <p:nvPr/>
        </p:nvSpPr>
        <p:spPr>
          <a:xfrm>
            <a:off x="7068312" y="1097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400" b="1" i="0" spc="250" dirty="0">
                <a:solidFill>
                  <a:srgbClr val="2BD49A"/>
                </a:solidFill>
                <a:latin typeface="Calibri"/>
                <a:cs typeface="Calibri"/>
              </a:rPr>
              <a:t>UN FLUJO</a:t>
            </a:r>
            <a:endParaRPr lang="es-ES" sz="1400" dirty="0"/>
          </a:p>
        </p:txBody>
      </p:sp>
      <p:sp>
        <p:nvSpPr>
          <p:cNvPr id="11" name="b0"/>
          <p:cNvSpPr/>
          <p:nvPr/>
        </p:nvSpPr>
        <p:spPr>
          <a:xfrm>
            <a:off x="777240" y="1554480"/>
            <a:ext cx="4206240" cy="530352"/>
          </a:xfrm>
          <a:prstGeom prst="roundRect">
            <a:avLst>
              <a:gd name="adj" fmla="val 50000"/>
            </a:avLst>
          </a:prstGeom>
          <a:solidFill>
            <a:srgbClr val="7D89A0">
              <a:alpha val="10000"/>
            </a:srgbClr>
          </a:solidFill>
          <a:ln w="12700" cap="rnd">
            <a:solidFill>
              <a:srgbClr val="7D89A0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7D89A0"/>
                </a:solidFill>
                <a:latin typeface="Calibri"/>
                <a:cs typeface="Calibri"/>
              </a:rPr>
              <a:t>Lento</a:t>
            </a:r>
            <a:endParaRPr lang="es-ES" sz="2200" dirty="0"/>
          </a:p>
        </p:txBody>
      </p:sp>
      <p:sp>
        <p:nvSpPr>
          <p:cNvPr id="12" name="b1"/>
          <p:cNvSpPr/>
          <p:nvPr/>
        </p:nvSpPr>
        <p:spPr>
          <a:xfrm>
            <a:off x="777240" y="2212848"/>
            <a:ext cx="4206240" cy="530352"/>
          </a:xfrm>
          <a:prstGeom prst="roundRect">
            <a:avLst>
              <a:gd name="adj" fmla="val 50000"/>
            </a:avLst>
          </a:prstGeom>
          <a:solidFill>
            <a:srgbClr val="7D89A0">
              <a:alpha val="10000"/>
            </a:srgbClr>
          </a:solidFill>
          <a:ln w="12700" cap="rnd">
            <a:solidFill>
              <a:srgbClr val="7D89A0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7D89A0"/>
                </a:solidFill>
                <a:latin typeface="Calibri"/>
                <a:cs typeface="Calibri"/>
              </a:rPr>
              <a:t>Manual</a:t>
            </a:r>
            <a:endParaRPr lang="es-ES" sz="2200" dirty="0"/>
          </a:p>
        </p:txBody>
      </p:sp>
      <p:sp>
        <p:nvSpPr>
          <p:cNvPr id="13" name="b2"/>
          <p:cNvSpPr/>
          <p:nvPr/>
        </p:nvSpPr>
        <p:spPr>
          <a:xfrm>
            <a:off x="777240" y="2871216"/>
            <a:ext cx="4206240" cy="530352"/>
          </a:xfrm>
          <a:prstGeom prst="roundRect">
            <a:avLst>
              <a:gd name="adj" fmla="val 50000"/>
            </a:avLst>
          </a:prstGeom>
          <a:solidFill>
            <a:srgbClr val="7D89A0">
              <a:alpha val="10000"/>
            </a:srgbClr>
          </a:solidFill>
          <a:ln w="12700" cap="rnd">
            <a:solidFill>
              <a:srgbClr val="7D89A0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7D89A0"/>
                </a:solidFill>
                <a:latin typeface="Calibri"/>
                <a:cs typeface="Calibri"/>
              </a:rPr>
              <a:t>Propenso a errores</a:t>
            </a:r>
            <a:endParaRPr lang="es-ES" sz="2200" dirty="0"/>
          </a:p>
        </p:txBody>
      </p:sp>
      <p:sp>
        <p:nvSpPr>
          <p:cNvPr id="14" name="a0"/>
          <p:cNvSpPr/>
          <p:nvPr/>
        </p:nvSpPr>
        <p:spPr>
          <a:xfrm>
            <a:off x="7068312" y="1554480"/>
            <a:ext cx="4343400" cy="530352"/>
          </a:xfrm>
          <a:prstGeom prst="roundRect">
            <a:avLst>
              <a:gd name="adj" fmla="val 50000"/>
            </a:avLst>
          </a:prstGeom>
          <a:solidFill>
            <a:srgbClr val="2BD49A">
              <a:alpha val="14000"/>
            </a:srgbClr>
          </a:solidFill>
          <a:ln w="12700" cap="rnd">
            <a:solidFill>
              <a:srgbClr val="2BD49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2BD49A"/>
                </a:solidFill>
                <a:latin typeface="Calibri"/>
                <a:cs typeface="Calibri"/>
              </a:rPr>
              <a:t>Rápido</a:t>
            </a:r>
            <a:endParaRPr lang="es-ES" sz="2200" dirty="0"/>
          </a:p>
        </p:txBody>
      </p:sp>
      <p:sp>
        <p:nvSpPr>
          <p:cNvPr id="15" name="a1"/>
          <p:cNvSpPr/>
          <p:nvPr/>
        </p:nvSpPr>
        <p:spPr>
          <a:xfrm>
            <a:off x="7068312" y="2212848"/>
            <a:ext cx="4343400" cy="530352"/>
          </a:xfrm>
          <a:prstGeom prst="roundRect">
            <a:avLst>
              <a:gd name="adj" fmla="val 50000"/>
            </a:avLst>
          </a:prstGeom>
          <a:solidFill>
            <a:srgbClr val="2BD49A">
              <a:alpha val="14000"/>
            </a:srgbClr>
          </a:solidFill>
          <a:ln w="12700" cap="rnd">
            <a:solidFill>
              <a:srgbClr val="2BD49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2BD49A"/>
                </a:solidFill>
                <a:latin typeface="Calibri"/>
                <a:cs typeface="Calibri"/>
              </a:rPr>
              <a:t>Trazable</a:t>
            </a:r>
            <a:endParaRPr lang="es-ES" sz="2200" dirty="0"/>
          </a:p>
        </p:txBody>
      </p:sp>
      <p:sp>
        <p:nvSpPr>
          <p:cNvPr id="16" name="a2"/>
          <p:cNvSpPr/>
          <p:nvPr/>
        </p:nvSpPr>
        <p:spPr>
          <a:xfrm>
            <a:off x="7068312" y="2871216"/>
            <a:ext cx="4343400" cy="530352"/>
          </a:xfrm>
          <a:prstGeom prst="roundRect">
            <a:avLst>
              <a:gd name="adj" fmla="val 50000"/>
            </a:avLst>
          </a:prstGeom>
          <a:solidFill>
            <a:srgbClr val="2BD49A">
              <a:alpha val="14000"/>
            </a:srgbClr>
          </a:solidFill>
          <a:ln w="12700" cap="rnd">
            <a:solidFill>
              <a:srgbClr val="2BD49A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s-ES" sz="2200" b="1" i="0" dirty="0">
                <a:solidFill>
                  <a:srgbClr val="2BD49A"/>
                </a:solidFill>
                <a:latin typeface="Calibri"/>
                <a:cs typeface="Calibri"/>
              </a:rPr>
              <a:t>Seguro</a:t>
            </a:r>
            <a:endParaRPr lang="es-ES" sz="2200" dirty="0"/>
          </a:p>
        </p:txBody>
      </p:sp>
      <p:cxnSp>
        <p:nvCxnSpPr>
          <p:cNvPr id="17" name="arrow"/>
          <p:cNvCxnSpPr/>
          <p:nvPr/>
        </p:nvCxnSpPr>
        <p:spPr>
          <a:xfrm>
            <a:off x="5349240" y="2221992"/>
            <a:ext cx="1325880" cy="0"/>
          </a:xfrm>
          <a:prstGeom prst="line">
            <a:avLst/>
          </a:prstGeom>
          <a:ln w="44450" cap="rnd">
            <a:solidFill>
              <a:srgbClr val="2BD49A"/>
            </a:solidFill>
            <a:round/>
            <a:tailEnd type="triangle" w="med" len="med"/>
          </a:ln>
        </p:spPr>
      </p:cxnSp>
      <p:grpSp>
        <p:nvGrpSpPr>
          <p:cNvPr id="18" name="tagBlock0"/>
          <p:cNvGrpSpPr/>
          <p:nvPr/>
        </p:nvGrpSpPr>
        <p:grpSpPr>
          <a:xfrm>
            <a:off x="777240" y="3977640"/>
            <a:ext cx="3429000" cy="1920240"/>
            <a:chOff x="777240" y="3977640"/>
            <a:chExt cx="3429000" cy="1920240"/>
          </a:xfrm>
        </p:grpSpPr>
        <p:sp>
          <p:nvSpPr>
            <p:cNvPr id="19" name="tagCard0"/>
            <p:cNvSpPr/>
            <p:nvPr/>
          </p:nvSpPr>
          <p:spPr>
            <a:xfrm>
              <a:off x="777240" y="3977640"/>
              <a:ext cx="3429000" cy="192024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20" name="tagA0"/>
            <p:cNvSpPr txBox="1"/>
            <p:nvPr/>
          </p:nvSpPr>
          <p:spPr>
            <a:xfrm>
              <a:off x="1097280" y="4206240"/>
              <a:ext cx="29260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2200" b="0" i="0" dirty="0">
                  <a:solidFill>
                    <a:srgbClr val="A9B4C8"/>
                  </a:solidFill>
                  <a:latin typeface="Calibri"/>
                  <a:cs typeface="Calibri"/>
                </a:rPr>
                <a:t>La IA</a:t>
              </a:r>
              <a:endParaRPr lang="es-ES" sz="2200" dirty="0"/>
            </a:p>
          </p:txBody>
        </p:sp>
        <p:sp>
          <p:nvSpPr>
            <p:cNvPr id="21" name="tagW0"/>
            <p:cNvSpPr txBox="1"/>
            <p:nvPr/>
          </p:nvSpPr>
          <p:spPr>
            <a:xfrm>
              <a:off x="1097280" y="4617720"/>
              <a:ext cx="292608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4800" b="1" i="0" dirty="0">
                  <a:solidFill>
                    <a:srgbClr val="2BD49A"/>
                  </a:solidFill>
                  <a:latin typeface="Calibri"/>
                  <a:cs typeface="Calibri"/>
                </a:rPr>
                <a:t>clasifica</a:t>
              </a:r>
              <a:endParaRPr lang="es-ES" sz="4800" dirty="0"/>
            </a:p>
          </p:txBody>
        </p:sp>
      </p:grpSp>
      <p:grpSp>
        <p:nvGrpSpPr>
          <p:cNvPr id="22" name="tagBlock1"/>
          <p:cNvGrpSpPr/>
          <p:nvPr/>
        </p:nvGrpSpPr>
        <p:grpSpPr>
          <a:xfrm>
            <a:off x="4379976" y="3977640"/>
            <a:ext cx="3429000" cy="1920240"/>
            <a:chOff x="4379976" y="3977640"/>
            <a:chExt cx="3429000" cy="1920240"/>
          </a:xfrm>
        </p:grpSpPr>
        <p:sp>
          <p:nvSpPr>
            <p:cNvPr id="23" name="tagCard1"/>
            <p:cNvSpPr/>
            <p:nvPr/>
          </p:nvSpPr>
          <p:spPr>
            <a:xfrm>
              <a:off x="4379976" y="3977640"/>
              <a:ext cx="3429000" cy="192024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24" name="tagA1"/>
            <p:cNvSpPr txBox="1"/>
            <p:nvPr/>
          </p:nvSpPr>
          <p:spPr>
            <a:xfrm>
              <a:off x="4700016" y="4206240"/>
              <a:ext cx="29260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2200" b="0" i="0" dirty="0">
                  <a:solidFill>
                    <a:srgbClr val="A9B4C8"/>
                  </a:solidFill>
                  <a:latin typeface="Calibri"/>
                  <a:cs typeface="Calibri"/>
                </a:rPr>
                <a:t>El sistema</a:t>
              </a:r>
              <a:endParaRPr lang="es-ES" sz="2200" dirty="0"/>
            </a:p>
          </p:txBody>
        </p:sp>
        <p:sp>
          <p:nvSpPr>
            <p:cNvPr id="25" name="tagW1"/>
            <p:cNvSpPr txBox="1"/>
            <p:nvPr/>
          </p:nvSpPr>
          <p:spPr>
            <a:xfrm>
              <a:off x="4700016" y="4617720"/>
              <a:ext cx="292608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4800" b="1" i="0" dirty="0">
                  <a:solidFill>
                    <a:srgbClr val="F5B33D"/>
                  </a:solidFill>
                  <a:latin typeface="Calibri"/>
                  <a:cs typeface="Calibri"/>
                </a:rPr>
                <a:t>valida</a:t>
              </a:r>
              <a:endParaRPr lang="es-ES" sz="4800" dirty="0"/>
            </a:p>
          </p:txBody>
        </p:sp>
      </p:grpSp>
      <p:grpSp>
        <p:nvGrpSpPr>
          <p:cNvPr id="26" name="tagBlock2"/>
          <p:cNvGrpSpPr/>
          <p:nvPr/>
        </p:nvGrpSpPr>
        <p:grpSpPr>
          <a:xfrm>
            <a:off x="7982712" y="3977640"/>
            <a:ext cx="3429000" cy="1920240"/>
            <a:chOff x="7982712" y="3977640"/>
            <a:chExt cx="3429000" cy="1920240"/>
          </a:xfrm>
        </p:grpSpPr>
        <p:sp>
          <p:nvSpPr>
            <p:cNvPr id="27" name="tagCard2"/>
            <p:cNvSpPr/>
            <p:nvPr/>
          </p:nvSpPr>
          <p:spPr>
            <a:xfrm>
              <a:off x="7982712" y="3977640"/>
              <a:ext cx="3429000" cy="1920240"/>
            </a:xfrm>
            <a:prstGeom prst="roundRect">
              <a:avLst>
                <a:gd name="adj" fmla="val 9000"/>
              </a:avLst>
            </a:prstGeom>
            <a:solidFill>
              <a:srgbClr val="0F1729"/>
            </a:solidFill>
            <a:ln w="12700" cap="rnd">
              <a:solidFill>
                <a:srgbClr val="263352"/>
              </a:solidFill>
              <a:round/>
            </a:ln>
          </p:spPr>
        </p:sp>
        <p:sp>
          <p:nvSpPr>
            <p:cNvPr id="28" name="tagA2"/>
            <p:cNvSpPr txBox="1"/>
            <p:nvPr/>
          </p:nvSpPr>
          <p:spPr>
            <a:xfrm>
              <a:off x="8302752" y="4206240"/>
              <a:ext cx="29260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/>
              <a:r>
                <a:rPr lang="es-ES" sz="2200" b="0" i="0" dirty="0">
                  <a:solidFill>
                    <a:srgbClr val="A9B4C8"/>
                  </a:solidFill>
                  <a:latin typeface="Calibri"/>
                  <a:cs typeface="Calibri"/>
                </a:rPr>
                <a:t>Las personas</a:t>
              </a:r>
              <a:endParaRPr lang="es-ES" sz="2200" dirty="0"/>
            </a:p>
          </p:txBody>
        </p:sp>
        <p:sp>
          <p:nvSpPr>
            <p:cNvPr id="29" name="tagW2"/>
            <p:cNvSpPr txBox="1"/>
            <p:nvPr/>
          </p:nvSpPr>
          <p:spPr>
            <a:xfrm>
              <a:off x="8302752" y="4617720"/>
              <a:ext cx="292608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/>
              <a:r>
                <a:rPr lang="es-ES" sz="4800" b="1" i="0" dirty="0">
                  <a:solidFill>
                    <a:srgbClr val="F0365F"/>
                  </a:solidFill>
                  <a:latin typeface="Calibri"/>
                  <a:cs typeface="Calibri"/>
                </a:rPr>
                <a:t>deciden</a:t>
              </a:r>
              <a:endParaRPr lang="es-ES" sz="48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0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hoto" descr="Pantalla de inicio de sesión de MediFlow en un mesón de recepción hospitalar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scrim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glowR" descr=""/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-2560320" y="2926080"/>
            <a:ext cx="7315200" cy="7315200"/>
          </a:xfrm>
          <a:prstGeom prst="rect">
            <a:avLst/>
          </a:prstGeom>
        </p:spPr>
      </p:pic>
      <p:pic>
        <p:nvPicPr>
          <p:cNvPr id="5" name="!!glowG" descr="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10972800" y="-3657600"/>
            <a:ext cx="4572000" cy="4572000"/>
          </a:xfrm>
          <a:prstGeom prst="rect">
            <a:avLst/>
          </a:prstGeom>
        </p:spPr>
      </p:pic>
      <p:pic>
        <p:nvPicPr>
          <p:cNvPr id="6" name="!!logoIcon" descr="Logo de MediFlow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960120"/>
            <a:ext cx="777240" cy="777240"/>
          </a:xfrm>
          <a:prstGeom prst="rect">
            <a:avLst/>
          </a:prstGeom>
        </p:spPr>
      </p:pic>
      <p:sp>
        <p:nvSpPr>
          <p:cNvPr id="7" name="!!kicker"/>
          <p:cNvSpPr txBox="1"/>
          <p:nvPr/>
        </p:nvSpPr>
        <p:spPr>
          <a:xfrm>
            <a:off x="777240" y="1874520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1400" b="1" i="0" spc="300" dirty="0">
                <a:solidFill>
                  <a:srgbClr val="F0365F"/>
                </a:solidFill>
                <a:latin typeface="Calibri"/>
                <a:cs typeface="Calibri"/>
              </a:rPr>
              <a:t>EQUIPO 5 · HACKATHON ONE G10</a:t>
            </a:r>
            <a:endParaRPr lang="es-ES" sz="1400" dirty="0"/>
          </a:p>
        </p:txBody>
      </p:sp>
      <p:sp>
        <p:nvSpPr>
          <p:cNvPr id="8" name="!!brand"/>
          <p:cNvSpPr txBox="1"/>
          <p:nvPr/>
        </p:nvSpPr>
        <p:spPr>
          <a:xfrm>
            <a:off x="731520" y="224028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8000" b="1" i="0" dirty="0">
                <a:solidFill>
                  <a:srgbClr val="EEF1F6"/>
                </a:solidFill>
                <a:latin typeface="Calibri"/>
                <a:cs typeface="Calibri"/>
              </a:rPr>
              <a:t>Medi</a:t>
            </a:r>
            <a:r>
              <a:rPr lang="es-ES" sz="8000" b="1" i="0" dirty="0">
                <a:solidFill>
                  <a:srgbClr val="F0365F"/>
                </a:solidFill>
                <a:latin typeface="Calibri"/>
                <a:cs typeface="Calibri"/>
              </a:rPr>
              <a:t>Flow</a:t>
            </a:r>
            <a:endParaRPr lang="es-ES" sz="8000" dirty="0"/>
          </a:p>
        </p:txBody>
      </p:sp>
      <p:sp>
        <p:nvSpPr>
          <p:cNvPr id="9" name="thanks"/>
          <p:cNvSpPr txBox="1"/>
          <p:nvPr/>
        </p:nvSpPr>
        <p:spPr>
          <a:xfrm>
            <a:off x="777240" y="352044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s-ES" sz="4400" b="1" i="0" dirty="0">
                <a:solidFill>
                  <a:srgbClr val="EEF1F6"/>
                </a:solidFill>
                <a:latin typeface="Calibri"/>
                <a:cs typeface="Calibri"/>
              </a:rPr>
              <a:t>Muchas gracias</a:t>
            </a:r>
            <a:endParaRPr lang="es-ES" sz="4400" dirty="0"/>
          </a:p>
        </p:txBody>
      </p:sp>
      <p:sp>
        <p:nvSpPr>
          <p:cNvPr id="10" name="tag"/>
          <p:cNvSpPr txBox="1"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s-ES" sz="1600" b="0" i="0" dirty="0">
                <a:solidFill>
                  <a:srgbClr val="A9B4C8"/>
                </a:solidFill>
                <a:latin typeface="Calibri"/>
                <a:cs typeface="Calibri"/>
              </a:rPr>
              <a:t>La IA clasifica, el sistema valida y las personas deciden.</a:t>
            </a:r>
            <a:endParaRPr lang="es-E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874</Words>
  <Application>Microsoft Office PowerPoint</Application>
  <PresentationFormat>Panorámica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 — Presentación ejecutiva</dc:title>
  <dc:subject>PptxGenJS Presentation</dc:subject>
  <dc:creator>Equipo 5 · Hackathon ONE G10</dc:creator>
  <cp:lastModifiedBy>Jhonnatan Felipe</cp:lastModifiedBy>
  <cp:revision>3</cp:revision>
  <dcterms:created xsi:type="dcterms:W3CDTF">2026-10-22T01:36:13Z</dcterms:created>
  <dcterms:modified xsi:type="dcterms:W3CDTF">2026-10-24T16:36:02Z</dcterms:modified>
</cp:coreProperties>
</file>