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2.xml" ContentType="application/inkml+xml"/>
  <Override PartName="/ppt/notesSlides/notesSlide32.xml" ContentType="application/vnd.openxmlformats-officedocument.presentationml.notesSlide+xml"/>
  <Override PartName="/ppt/ink/ink3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4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0" r:id="rId12"/>
    <p:sldId id="266" r:id="rId13"/>
    <p:sldId id="286" r:id="rId14"/>
    <p:sldId id="289" r:id="rId15"/>
    <p:sldId id="267" r:id="rId16"/>
    <p:sldId id="268" r:id="rId17"/>
    <p:sldId id="269" r:id="rId18"/>
    <p:sldId id="285" r:id="rId19"/>
    <p:sldId id="270" r:id="rId20"/>
    <p:sldId id="271" r:id="rId21"/>
    <p:sldId id="287" r:id="rId22"/>
    <p:sldId id="272" r:id="rId23"/>
    <p:sldId id="288" r:id="rId24"/>
    <p:sldId id="273" r:id="rId25"/>
    <p:sldId id="274" r:id="rId26"/>
    <p:sldId id="291" r:id="rId27"/>
    <p:sldId id="275" r:id="rId28"/>
    <p:sldId id="276" r:id="rId29"/>
    <p:sldId id="277" r:id="rId30"/>
    <p:sldId id="278" r:id="rId31"/>
    <p:sldId id="280" r:id="rId32"/>
    <p:sldId id="279" r:id="rId33"/>
    <p:sldId id="292" r:id="rId34"/>
    <p:sldId id="281" r:id="rId35"/>
    <p:sldId id="293" r:id="rId36"/>
    <p:sldId id="294" r:id="rId37"/>
    <p:sldId id="282" r:id="rId38"/>
    <p:sldId id="283" r:id="rId39"/>
    <p:sldId id="28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2443521-2B54-CAC6-EFDD-88CF2E25094E}">
          <p14:sldIdLst>
            <p14:sldId id="256"/>
            <p14:sldId id="257"/>
            <p14:sldId id="258"/>
            <p14:sldId id="259"/>
          </p14:sldIdLst>
        </p14:section>
        <p14:section name="Frontend: propuesta" id="{9CCD87F3-A791-9BAC-DB6C-3B197140F04A}">
          <p14:sldIdLst>
            <p14:sldId id="260"/>
            <p14:sldId id="261"/>
            <p14:sldId id="262"/>
            <p14:sldId id="263"/>
          </p14:sldIdLst>
        </p14:section>
        <p14:section name="Workflow n8n: propuesta" id="{AECA4CB1-C79C-0E27-225F-6791C946123B}">
          <p14:sldIdLst>
            <p14:sldId id="264"/>
            <p14:sldId id="265"/>
            <p14:sldId id="290"/>
            <p14:sldId id="266"/>
            <p14:sldId id="286"/>
            <p14:sldId id="289"/>
          </p14:sldIdLst>
        </p14:section>
        <p14:section name="Backend FastAPI" id="{AD0E23E7-C76C-B4FF-89BE-6BC4D0CD6DC9}">
          <p14:sldIdLst>
            <p14:sldId id="267"/>
            <p14:sldId id="268"/>
            <p14:sldId id="269"/>
            <p14:sldId id="285"/>
            <p14:sldId id="270"/>
            <p14:sldId id="271"/>
            <p14:sldId id="287"/>
            <p14:sldId id="272"/>
            <p14:sldId id="288"/>
            <p14:sldId id="273"/>
            <p14:sldId id="274"/>
            <p14:sldId id="291"/>
            <p14:sldId id="275"/>
            <p14:sldId id="276"/>
            <p14:sldId id="277"/>
            <p14:sldId id="278"/>
            <p14:sldId id="280"/>
            <p14:sldId id="279"/>
            <p14:sldId id="292"/>
            <p14:sldId id="281"/>
            <p14:sldId id="293"/>
            <p14:sldId id="294"/>
            <p14:sldId id="282"/>
            <p14:sldId id="283"/>
          </p14:sldIdLst>
        </p14:section>
        <p14:section name="Cierre" id="{116ED50F-401B-EBDB-D9D8-443895B55817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3.70441" units="1/cm"/>
          <inkml:channelProperty channel="Y" name="resolution" value="36.86007" units="1/cm"/>
          <inkml:channelProperty channel="T" name="resolution" value="1" units="1/dev"/>
        </inkml:channelProperties>
      </inkml:inkSource>
      <inkml:timestamp xml:id="ts0" timeString="2026-10-05T01:38:54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2083 4989 0,'0'27'94,"0"1"-94,0-1 16,0 1-16,0-1 0,0 0 15,0 1-15,0-1 0,0 1 16,0-1-16,27 1 0,-27-1 16,0 0-16,0 1 0,0-1 0,0 1 15,0-1-15,0 0 0,0 1 0,27-28 0,-27 27 0,0 1 16,0-1-16,0 0 0,0 1 0,0-1 0,0 1 15,0-1-15,0 1 0,0-1 0,0 0 0,0 1 16,28-28-16,-28 27 0,0 1 0,0-1 0,0 0 16,0 1-16,0-1 0,0 1 0,0-1 0,0 0 15,27-27-15,-27 28 0,0-1 0,0 1 0,0-1 0,0 0 16,0 1-16,0-1 0,0 1 0,0-1 16,28 1-16,-28-1 0,0 0 0,0 1 0,0-1 15,0 1-15,0-1 0,0 0 0,0 1 16,0-1-16,0 1 0,27-28 0,-27 27 0,0 0 15,0 1-15,0-1 0,0 1 0,0-1 16,0 0-16,0 1 0,27-28 0,-27 27 0,0 1 0,0-1 0,0 1 16,0-1-16,0 0 0,0 1 0,0-1 0,0 1 15,0-1-15,0 0 0,0 1 0,28-28 0,-28 27 0,0 1 16,0-1-16,0 0 0,0 1 0,0-1 0,0 1 0,0-1 16,0 1-16,0-1 0,0 0 0,0 1 0,0-1 0,0 1 15,0-1-15,0 0 0,0 1 0,0-1 0,0 1 0,0-1 0,0 0 16,0 1-16,0-1 0,0 1 0,27-1 0,-27 0 0,0 1 15,0-1-15,0 1 0,0-1 0,0 1 0,0-1 0,0 0 16,0 1-16,0-1 0,0 1 0,0-1 0,0 0 16,0 1-16,0-1 0,0 1 0,0-1 15,0 0-15,0 1 0,0-1 0,0 1 0,0-1 16,0 1-16,0-1 0,0 0 0,0 1 0,0-1 16,0 1-16,0-1 0,0 0 0,0 1 0,0-1 15,0 1-15,0-1 0,0 0 0,0 1 0,0-1 16,0 1-16,0-1 0,0 0 0,0 1 0,0-1 0,0 1 15,0-1-15,0 1 0,-27-1 0,27 0 0,0 1 0,0-1 0,0 1 16,0-1-16,0 0 0,0 1 0,0-1 0,0 1 0,0-1 0,-28-27 16,28 27-16,0 1 0,0-1 0,0 1 0,0-1 0,0 1 0,0-1 15,0 0-15,-27-27 0,27 28 0,0-1 0,0 1 16,0-1-16,0 0 0,0 1 0,0-1 0,0 1 16,0-1-16,0 0 0,0 1 0,0-1 15,0 1-15,-27-1 0,27 0 0,0 1 0,0-1 16,0 1-16,0-1 0,0 1 0,0-1 15,0 0-15,0 1 0,0-1 0,0 1 16,0-1-16,0 0 0,0 1 16,0-1-16,0 1 0,0-1 0,0 0 15,0 1-15,0-1 0,0 1 16,0-1 0,0 0-16,0 1 15,0-1 32,0 1 16,0-1-48,0 1 1,27-28-16,-27 27 15,0 0-15,0 1 16,27-28-16,-27 27 16,28-27 124,-1 0-124,1 0 0,-1 0-16,0 0 15,1 0-15,-28-27 0,27 27 16,1 0-16,-28-28 0,27 28 15,-27-27-15,27 27 0,1 0 16,-28-27-16,27 27 0,-27-28 0,28 28 0,-1 0 16,-27-27-16,27 27 15,1 0 79,-1 0-78,1 0-1,-1 0 1,0 0 0,1 0-16,-1 0 31,1 0-16,-1 0 17,0 0-32,1 0 15,-1 0 1,1 0 0,-1 0-16,0 0 15,1 0 1,-1 0-16,1 0 0,-1 0 15,0 0-15,1 0 0,-1 0 16,1 0-16,-1 0 0,0 0 0,1 0 0,-1 0 16,1-28-16,-1 28 0,0 0 15,1 0-15,-1 0 0,1 0 0,-1 0 0,0 0 0,1 0 16,-1 0-16,1 0 0,-1 0 0,0 0 16,1 0-16,-1 0 0,1 0 0,-1 0 15,0 0-15,1 0 0,-1 0 0,1 0 16,-1 0-16,0 0 0,1 0 15,-1 0-15,1 0 0,-1 0 16,0 0-16,1 0 0,-1 0 16,1 0-16,-1 0 0,0 0 0,1 0 15,-1 0-15,1 0 0,-1 0 0,0 0 16,1 0-16,-1 0 0,1 0 0,-1 0 0,0 0 0,1 0 16,-1 0-16,1 0 0,-1 0 0,0 0 0,1 0 0,-1 0 15,1 0-15,-1 0 0,0 0 0,1 0 0,-1 0 0,1 0 16,-1 0-16,0 0 0,1 0 0,-1 0 0,1 0 0,-1 0 0,0 0 15,1 0-15,-1 0 0,1 0 0,-1 0 0,0 0 0,1 0 0,-1 0 0,1 0 0,26 28 16,-26-28-16,-1 0 0,1 0 0,-1 0 0,0 0 0,1 0 0,-1 0 16,1 0-16,-1 0 0,0 0 0,28 0 0,-27 0 0,-1 0 0,0 0 0,1 0 15,-1 0-15,1 0 0,-1 0 0,0 0 0,1 0 0,-1 0 0,1 0 0,-1 0 16,0 0-16,1 0 0,-1 0 0,1 27 0,-1-27 0,0 0 0,1 0 0,-1 0 0,1 0 16,-1 0-16,0 0 0,1 0 0,-1 0 0,1 0 0,-1 0 0,0 0 0,1 0 15,-1 0-15,1 0 0,-1 0 0,0 0 0,1 0 0,27 0 0,-28 0 0,0 0 16,1 0-16,-1 0 0,1 0 0,-1 0 0,0 0 0,1 0 0,-1 0 15,1 0-15,-1 0 0,0 0 0,1 0 0,-1 0 0,1 0 0,-1 0 16,0 0-16,1 0 0,-1 0 0,1 0 0,-1 0 0,0 0 0,-27 28 0,28-28 16,-1 0-16,1 0 0,-1 0 0,0 0 0,1 0 0,-1 0 0,1 0 15,-1 0-15,0 0 0,1 0 0,-28 27 0,27-27 0,1 0 0,-1 0 0,0 0 0,1 0 16,-1 0-16,1 0 0,-1 0 0,0 0 0,1 0 0,-1 0 0,1 0 0,-1 0 16,0 0-16,1 0 0,27 0 0,-28 0 0,0 0 0,1 0 0,-1 0 0,1 0 15,-1 0-15,0 0 0,1 0 0,-1 0 0,-27 27 0,28-27 0,-1 0 0,0 0 0,1 0 0,-1 0 16,1 0-16,-1 0 0,0 28 0,1-28 0,-1 0 0,1 0 0,-1 0 0,0 0 0,1 0 15,-1 0-15,1 0 0,-1 0 0,0 0 0,1 0 0,-1 0 0,1 0 0,26 0 16,-26 0-16,-1 0 0,1 0 0,-1 0 0,0 0 0,1 0 0,-1 0 16,1 0-16,-1 0 0,0 0 0,1 0 0,-1 0 0,1 0 15,-1 0-15,0 0 0,1 0 0,-1 0 16,1 0-16,-1 0 0,0 0 0,1 27 0,-1-27 0,1 0 0,-1 0 16,0 0-16,1 0 0,-1 0 0,1 0 0,-1 0 0,0 0 0,1 0 0,27 0 15,-28 0-15,0 0 0,1 0 0,-1 28 0,1-28 0,-1 0 0,0 0 0,1 0 16,-1 0-16,1 0 0,-1 0 0,0 0 0,1 0 0,-1 0 0,1 0 0,-1 0 15,0 0-15,1 0 0,-1 0 0,1 0 0,-1 0 0,0 0 0,1 0 0,-1 0 16,1 0-16,-1 0 0,0 0 0,1 0 0,-1 0 0,1 0 0,-1 0 0,0 0 16,1 0-16,-1 0 0,1 0 0,-1-28 0,0 28 0,1 0 0,-1 0 15,1 0-15,-1 0 0,0 0 0,1 0 0,-28-27 0,27 27 0,28 0 16,-28 0-16,1 0 0,-1 0 0,1 0 0,-1 0 0,0 0 0,1 0 16,-1 0-16,1 0 0,-1 0 0,0 0 0,1 0 0,-1 0 15,1 0-15,-1 0 0,0 0 0,1 0 0,-1 0 0,1 0 0,-1 0 0,0 0 16,1 0-16,-1 0 0,1 0 0,-1 0 0,0 0 0,1 0 0,-1 0 0,1 0 0,-1 0 15,0 0-15,1 0 0,27 0 0,-28 0 0,0 0 0,1 0 0,-1 0 16,1 0-16,-1 0 0,0 0 0,1 0 0,-1 0 0,1 0 0,-1 0 0,0 0 16,1 0-16,-1 0 0,1 27 0,-1-27 0,0 0 0,1 0 0,-1 0 15,1 0-15,-1 0 0,0 0 0,1 0 0,-1 0 0,1 0 0,-1 0 16,0 28-16,1-28 0,-1 0 0,1 0 0,-1 0 0,0 0 16,1 0-16,-1 0 0,1 0 0,-1 0 0,0 0 0,1 0 15,-1 0-15,1 0 0,-28 27 0,27-27 0,0 0 0,1 0 0,-1 0 16,1 0-16,-1 0 0,0 0 0,1 0 0,-1 0 0,1 0 15,-1 0-15,0 0 0,1 0 0,-1 0 0,1 0 0,-1 0 0,0 0 16,1 0-16,-1 0 0,1 0 0,-1 0 0,-27 27 0,27-27 0,1 0 0,-1 0 16,-27 28-16,28-28 0,-1 0 0,0 0 0,1 0 0,-1 0 0,1 0 0,-1 0 0,0 0 15,1 0-15,-1 0 0,1 0 0,-1 0 0,0 0 0,1 0 0,-1 0 0,1 27 0,-1-27 16,0 0-16,1 0 0,-1 0 0,1 0 0,-1 0 0,0 0 0,1 0 0,-1 0 16,1 0-16,-1 0 0,0 0 0,1 0 0,-1 0 0,1 0 0,-1 0 0,0 0 15,1 0-15,-1 0 0,1 0 0,-1 0 0,0 0 0,1 0 0,-1 0 0,1 0 0,-1 0 16,0 0-16,1 0 0,-1 0 0,1 0 0,-1 0 0,0 0 0,1 0 0,-1 0 0,1 0 15,-1 0-15,0 0 0,1 0 0,-1 0 0,28 0 0,-28 0 0,1 0 0,-1 0 16,1 0-16,-1 0 0,0 0 0,1 0 0,-1 0 0,1 0 0,-1 0 0,0 0 0,1 0 16,-1 0-16,1 0 0,-1 0 0,0 0 0,1 0 0,-1 0 0,1 0 0,-1 0 15,0 0-15,1 0 0,-1 0 0,1 0 0,-1 0 0,1 0 0,-1 0 0,0 0 16,-27-27-16,28 27 0,-1 0 0,1 0 0,-28-28 0,27 28 0,0 0 0,1 0 16,-1 0-16,1 0 0,-28-27 0,27 27 0,0 0 15,1 0-15,-1 0 0,-27-27 16,28 27-16,-1 0 0,0 0 0,1 0 15,-1 0-15,-27-28 16,28 28-16,-1 0 0,0 0 0,1 0 16,-1 0-16,-27-27 15,28 27-15,-28-28 16,27 28 0,-27-27-1,0 0 1,0-1-16,0 1 0,27 27 15,-27-28-15,0 1 0,0-1 0,0 1 0,0 0 16,0-1-16,0 1 0,0-1 0,0 1 16,0 0-16,0-1 0,0 1 0,0-1 0,28 1 0,-28 0 15,0-1-15,0 1 0,0-1 0,0 1 0,0 0 0,-28-1 0,28 1 0,0-1 16,0 1-16,0-1 0,-27 28 0,27-27 0,0-28 0,-27 55 0,27-27 0,-28 27 0,28-28 0,0 1 0,0 0 16,-27-1-16,27 1 0,0-1 0,-28 28 0,28-27 0,0 0 0,-27 27 0,27-28 0,-27 1 0,27-1 0,-28 1 0,28 0 15,-27 27-15,27-28 0,0 1 0,0-1 0,-28 1 0,1 27 0,27-28 0,0 1 0,0 0 0,-27 27 16,27-28-16,-28 1 0,28-1 0,0 1 0,-27 0 0,-1-1 0,28 1 0,0-1 0,-27 1 15,27 0-15,0-1 0,-27 28 0,27-27 0,0-1 0,-28 28 0,1-27 0,27-1 0,0 1 0,0 0 16,-28 27-16,28-28 0,0 1 0,-27-1 0,27 1 0,0 0 0,-27 27 0,27-55 0,0 27 0,-28 28 0,28-27 0,0 0 16,0-1-16,0 1 0,-27 27 0,27-28 0,0 1 0,0 0 0,0-1 0,-28-27 0,28 28 15,0-1-15,0 1 0,-27 0 0,27-1 0,-27 28 0,27-27 0,0-1 0,0 1 0,0 0 0,0-1 0,-28 1 16,28-28-16,0 28 0,0-1 0,0 1 0,0-1 0,-27 28 0,27-27 0,-28 27 0,28-28 0,0 1 16,0 0-16,0-1 0,0 1 0,-27-1 0,27 1 0,0 0 0,0-1 0,0 1 0,0-1 15,-28 28-15,28-27 0,0 0 0,0-1 0,0 1 0,-27 27 0,27-28 0,0 1 16,0 0-16,-27 27 0,27-28 0,0 1 0,0-1 0,0 1 0,0-1 15,-28 28-15,28-27 0,0 0 0,0-1 0,-27 1 0,27-1 0,0 1 16,0 0-16,-28 27 0,28-28 0,0 1 0,0-1 16,0 1-16,0 0 0,-27 27 0,27-28 0,0 1 0,0-1 0,-27 28 0,27-27 0,0-1 15,0 1-15,0 0 0,0-1 0,0 1 0,0-1 16,0 1-16,0 0 0,0-1 0,0 1 0,0-1 0,0 1 16,0 0-16,0-1 0,0 1 0,0-1 15,0 1-15,0 0 0,0-1 0,0 1 16,0-1-1,-28 28-15,28-27 0,0-1 16,0 1 0,0 0-1,0-1 1,0 1-16,0-1 16,-27 28-16,27-27 0,0 0 15,0-1-15,0 1 16,0-1-16,0 1 0,-28 27 15,28-27-15,0-1 0,0 1 16,-27 27-16,27-28 0,0 1 16,0 0-16,0-1 0,-27 28 15,27-27-15,0-1 0,0 1 16,-28 27-16,28-28 0,0 1 16,-27 27-16,27-27 15,-28-1-15,28 1 16,-27 27-16,27-28 0,-27 28 0,27-27 15,-28 27-15,28-27 0,-27 27 0,-1 0 16,28-28-16,-27 28 0,0 0 0,27-27 0,-28 27 16,1 0-16,-1 0 0,1 0 0,0 0 0,27-28 15,-28 28-15,1 0 0,-1 0 0,1 0 0,0 0 0,-1 0 0,-27 0 16,28-27-16,0 27 0,-1 0 0,1 0 0,-1 0 0,1 0 0,0 0 0,-1 0 0,1 0 0,-1 0 16,1 0-16,-28 0 0,0 0 0,1 0 0,26 0 0,1-27 0,-1 27 0,-26 0 0,26 0 0,1 0 0,-28 0 0,28 0 0,-1 0 15,-27 0-15,1 0 0,-29 0 0,56 0 0,-28 0 0,28 0 0,-28 0 0,0 0 0,-27 0 0,55 0 0,-28 0 0,27 0 0,-54 0 0,27 0 0,-27 0 16,55-28-16,-28 28 0,0 0 0,28-27 0,-28 27 0,0 0 0,0 0 0,1 0 0,-29 0 0,1 0 0,27 0 0,1 0 0,-1 0 0,0 0 0,28 0 15,-28 0-15,0 0 0,0 0 0,0 0 0,-27 0 0,27 0 0,28 0 0,-28 0 0,-27 0 0,55 0 0,-1 0 0,-27 0 0,1 0 0,26 0 0,-27 0 16,28 0-16,-28 0 0,0 0 0,28 0 0,0 0 0,-28 0 0,0 0 0,28 0 0,-1 0 0,1 0 0,-1 0 0,-26 0 0,26 0 0,-27 0 0,28 0 0,-28 0 16,0 0-16,28 0 0,0 0 0,-1 0 0,-27 0 0,28 0 0,0 0 0,-1 0 0,1 0 0,-1 0 0,-26 0 0,26 0 0,1 0 0,-1 0 0,1 0 0,0 0 15,-1 0-15,1 0 0,-1 0 0,1 0 0,0 0 0,-1 0 0,-27 0 0,28 0 0,-28 0 0,28 0 0,-1 0 0,1 0 0,0 0 16,-28 0-16,0 0 0,28 0 0,-28 0 0,27 0 0,-26 0 0,26 0 0,1 0 0,-1 0 0,1 0 0,0 0 0,-28 0 0,27 0 16,-26 0-16,26 0 0,-27 0 0,28 0 0,0 0 0,-1 0 0,1 0 0,-1 0 0,1 0 0,-28 0 0,28 0 0,-28 0 0,28 0 15,-1 0-15,1 0 0,-1 0 0,-26 0 0,26 0 0,-27 0 0,28 0 0,-28 0 0,28 0 0,-1 0 0,-26 0 0,-1 0 0,0 0 0,0 0 0,28 0 16,-28 0-16,0 0 0,-27 0 0,27 0 0,28 0 0,-28 0 0,0 0 0,0 0 0,28 0 0,-28 0 0,0 0 0,28 0 0,-28 0 0,-54 27 0,26-27 15,1 0-15,27 0 0,1 0 0,26 0 0,-27 0 0,1 0 0,-29 0 0,29 0 0,26 0 0,-54 0 0,27 0 0,0 0 0,-27 0 0,27 0 0,-27 0 0,0 0 0,0 28 16,54-28-16,-26 0 0,-29 0 0,29 0 0,-56 0 0,55 0 0,0 0 0,-27 0 0,0 0 0,55 0 0,-28 0 0,0 0 0,-27 0 0,27 0 0,-27 0 16,54 0-16,-26 0 0,-1 0 0,0 0 0,-27 0 0,27 0 0,-27 0 0,54 0 0,-26 0 0,26 0 0,-27 0 0,1 0 0,26 0 0,-27 0 0,28 0 15,-55 0-15,54 0 0,1 0 0,0 0 0,-28 0 0,27 0 0,-26 0 0,26 0 0,-27 0 0,28 0 0,0 0 0,-1 0 0,-27 0 0,28 0 0,0 0 16,-1 0-16,1 0 0,-1 0 0,-26 0 0,26 0 0,-27 0 0,28 0 0,0 0 0,-1 0 0,1 0 0,-1 0 16,1 0-16,0 0 0,-1 0 0,1 0 0,-1 0 0,1 0 15,0 0-15,-1 0 0,1 0 16,-1 0-1,1 0-15,0 0 16,-1 0-16,1 0 16,-1 0-16,1 0 0,0 0 15,27 27-15,-28-27 0,1 0 0,-1 0 16,1 0-16,0 0 0,-1 0 0,1 0 16,-1 0-16,1 0 15,0 0-15,-1 0 16,1 0-16,-1 0 15,1 0-15,0 0 16,-1 0 0,1 0-1,-1 0 1,1 0 0,0 0-16,-1 0 15,1 0-15,-1 0 0,1 0 0,0 0 0,-1 0 16,1 0-16,27-27 0,-28 27 0,1 0 0,0 0 15,-1 0-15,1 0 0,27-28 0,-28 28 0,1-27 0,0 27 0,-1 0 0,1 0 16,-1-28-16,1 28 0,0 0 0,-1 0 0,1 0 16,-1 0-16,28-27 0,-27 27 0,0 0 0,-1 0 15,1 0-15,-1 0 0,1-28 0,0 28 0,-1 0 16,1 0-16,27-27 47,-28 27 0,1 0-32,0 0 17,-1 0-17,28-27 1,-27 27 93</inkml:trace>
  <inkml:trace contextRef="#ctx0" brushRef="#br0" timeOffset="4949.76">2411 10910 0,'-27'0'109,"27"27"-109,-27-27 31,27 27-31,0 1 16,0-1-16,0 1 16,-28-28-16,28 27 0,0 0 15,0 1-15,0-1 16,0 1-16,-27-28 0,27 27 15,0 1-15,0-1 0,0 0 16,0 1-16,0-1 0,-28-27 16,28 28-16,0-1 0,0 0 0,0 1 15,-27-28-15,27 27 0,0 1 0,0-1 16,0 0-16,0 1 0,0-1 16,0 1-16,0-1 0,0 0 15,0 1-15,0-1 0,0 1 16,0-1-16,0 1 15,0-1-15,0 0 0,0 1 16,0-1-16,0 1 16,0-1-16,0 0 0,0 1 15,0-1-15,0 1 16,0-1-16,0 0 0,0 1 16,0-1-16,0 1 0,0-1 15,0 1 1,0-1-16,0 0 0,0 1 15,0-1-15,27-27 0,-27 28 16,0-1-16,0 0 16,0 1-16,28-28 0,-28 27 0,0 1 15,0-1-15,0 0 0,27-27 16,-27 28-16,0-1 0,0 1 16,0-1-1,28-27-15,-28 27 31,27-27-15,-27 28-16,0-1 0,0 1 16,27-28-1,-27 27-15,0 1 16,28-1 0,-1-27-1,-27 27 1,28-27 15,-28 28 0,27-28-31,0 0 16,-27 27-16,28 1 0,-1-28 0,1 0 16,-28 27-16,27-27 0,0 0 0,1 0 0,-28 27 0,27-27 15,1 0-15,-1 28 0,0-28 0,-27 27 0,28-27 0,-1 0 16,1 0-16,-1 0 0,0 0 0,-27 28 0,28-28 15,-1 0-15,1 0 0,-1 0 0,0 0 0,1 0 16,-1 0-16,1 0 0,-1 0 0,0 0 0,1 0 16,-1 0-16,1 0 0,-1 0 0,0 0 0,1 0 0,-1 0 15,1 0-15,-1 0 0,0 0 0,1 0 0,-1 0 0,1 0 16,-1 0-16,0 0 0,1 0 0,-1 0 0,1 0 0,-1 0 0,0 0 16,1 0-16,-1 0 0,1 0 0,-1 0 0,0 0 0,1 0 15,-1 0-15,1 0 0,-1 0 0,-27 27 0,27-27 0,1 0 0,-1 0 0,1 0 16,-1 0-16,0 0 0,1 0 0,-1 0 0,1 0 0,-1 0 0,0 0 15,1 0-15,-1 0 0,1 0 0,-1 0 0,-27 27 0,27-27 0,1 0 16,-28 28-16,27-28 0,1 0 0,-1 0 0,0 0 0,1 0 0,-1 0 16,1 0-16,-1 0 0,0 0 0,1 0 0,-28 27 0,27-27 0,1 0 15,-1 0-15,0 0 0,1 0 0,-1 0 0,1 0 0,-1 0 0,0 0 16,1 0-16,-1 0 0,1 0 0,-1 0 0,0 0 0,1 0 0,-1 0 16,1 0-16,-1 0 0,0 0 0,1 0 0,-1 0 0,1 0 15,-1 0-15,0 0 0,1 0 0,-1 0 0,1 0 0,-1 0 16,0 0-16,1 0 0,-1 0 0,1 0 0,-1 0 0,0 0 0,1 0 15,-1 0-15,1 0 0,-1 0 0,0 0 0,1 0 0,-1 0 16,1 0-16,-28-27 0,27 27 0,0 0 0,1 0 0,-1-28 0,1 28 16,-1 0-16,0 0 0,1 0 0,-1 0 0,1 0 15,-1 0-15,0 0 0,1 0 0,-1 0 0,1 0 0,-1 0 0,0 0 0,1-27 16,-1 27-16,1 0 0,-1 0 0,0 0 0,1 0 0,-1 0 0,1 0 16,-1 0-16,0 0 0,-27-27 0,28 27 0,-1 0 0,1 0 0,-1 0 0,0 0 0,1 0 15,-1 0-15,1 0 0,-1 0 0,0 0 0,1 0 0,-1 0 16,1 0-16,-1 0 0,0 0 0,1 0 15,-1 0-15,1 0 0,-1 0 0,0 0 0,1 0 16,-1 0-16,1 0 0,-1 0 0,0 0 16,1 0-16,-1 0 0,1 0 0,-1 0 0,0 0 15,1 0-15,-1 0 0,1 0 0,-1 0 0,0 0 0,1 0 0,-1 0 16,28 0-16,-28 0 0,28 0 0,-27 0 0,-1 0 0,0 0 0,1 0 16,-1 0-16,1 0 0,-1 0 0,0 0 0,1 0 0,-1 0 0,1 0 0,-1 0 0,0 0 0,1 0 15,-1 0-15,1 0 0,26 0 0,-26 0 0,-1 0 0,28 0 0,-28 0 0,28 0 16,-27 0-16,-1 0 0,0 0 0,1 0 0,-1 0 0,1 0 0,-1 0 0,0 0 0,1 0 15,-1 0-15,1 0 0,-1 0 0,0 0 0,1 0 0,-1 0 0,1 0 0,-1 0 0,0 0 16,1 0-16,-1 0 0,1 0 0,-1 0 0,0 0 0,1 0 0,-1 0 16,1 0-16,-1 0 0,0 0 0,1 0 0,-1 0 15,1 0-15,-1 0 0,0 0 0,1 0 0,-1 0 16,1 0-16,-1 0 0,0 0 16,1 0-16,-1 0 0,1 0 0,-1 0 0,0 0 15,1 0-15,-1 0 0,28-28 0,-28 28 16,1 0-16,-1 0 0,1 0 0,-1 0 0,0 0 0,1 0 15,-1 0-15,1 0 0,-1 0 0,0 0 0,1 0 0,-1 0 0,1 0 16,-1 0-16,0 0 0,1 0 0,-1 0 0,1 0 0,-1 0 16,0 0-16,1 0 0,-1 0 0,1 0 0,-1 0 0,0 0 0,1 0 15,-1 0-15,1 0 0,-1 0 0,0 0 0,1 0 0,-1 0 0,1 0 16,26 0-16,-26 0 0,-1 0 0,1 0 0,-1 0 0,0 0 0,1 0 16,-1 0-16,-27-27 0,28 27 0,-1 0 0,0 0 0,1 0 0,-1 0 15,1 0-15,-1 0 0,0 0 0,1 0 0,-1 0 0,1 0 0,-1 0 0,0 0 0,1 0 0,-1 0 16,1 0-16,-1 0 0,0 0 0,1 0 0,27 0 0,-28 0 0,0 0 15,1 0-15,-1 0 0,1 0 0,-1 0 0,0 0 0,1 0 0,27-28 0,-28 28 0,0 0 16,1 0-16,-1 0 0,1 0 0,-1 0 0,0 0 0,1 0 0,-1 0 0,1 0 16,-1 0-16,0 0 0,1 0 0,-28-27 0,27 27 0,1 0 0,-1 0 0,28 0 0,-28 0 15,1 0-15,-28-27 0,27 27 0,0 0 0,1 0 0,-1 0 0,28 0 0,-28 0 16,1 0-16,-1 0 0,28 0 0,-28 0 0,1-28 0,-1 28 0,1 0 0,-1 0 0,0 0 16,28 0-16,-27 0 0,-1 0 0,0 0 0,1 0 0,-1-27 0,1 27 0,26 0 0,-26 0 15,27 0-15,-28 0 0,0 0 0,1 0 0,27 0 0,-28 0 0,0 0 0,1 0 0,-1 0 0,1 0 0,26 0 16,-26 0-16,27 0 0,-28 0 0,0 0 0,28 0 0,-27 0 0,26 0 0,-26 0 0,-1 0 0,1 0 0,-1 0 0,0 0 0,1 0 0,-1 0 15,1 0-15,-1 0 0,0 0 0,1 0 0,-1 0 0,1 0 0,-1 0 0,0 0 0,1 0 0,-1 0 0,1 0 0,-1 0 0,0 0 0,1 0 0,-1 0 16,1 0-16,-1 0 0,0 0 0,1 0 0,-1 0 0,1 0 0,-1 0 0,0 0 0,1 0 0,-1 0 0,1 0 0,-1 0 0,0 0 0,1 0 16,-1 0-16,1 0 0,-1 0 0,0 0 0,1 0 0,27 0 0,-28 0 0,0 0 0,1 0 15,-1 0-15,1 0 0,-1 0 0,0 0 0,1 0 0,-1 0 0,1 0 0,-28-28 0,27 28 0,0 0 0,1 0 16,-1 0-16,1 0 0,-1 0 0,0 0 0,1-27 0,-1 27 0,1 0 0,-1 0 16,0 0-16,1 0 0,-1 0 0,1 0 0,-1 0 0,0 0 0,1 0 0,-1 0 15,1 0-15,-1-27 0,0 27 0,1 0 0,-1 0 0,1 0 0,-1 0 16,0 0-16,1 0 0,-1 0 0,1-28 0,-1 28 0,1 0 0,-1 0 15,0 0-15,1 0 0,-1 0 0,1 0 0,-1-27 0,0 27 0,1 0 16,-1 0-16,1 0 0,-1 0 0,0-28 16,1 28-16,-1 0 0,1 0 0,-1 0 15,0 0-15,-27-27 0,28 27 0,-1 0 16,1 0 0,-28-28-16,27 28 15,-27-27-15,0 0 16,27 27-16,-27-28 15,28 28-15,-28-27 0,27 27 0,-27-28 16,0 1-16,28 27 0,-28-27 0,0-1 16,27 28-16,0 0 0,-27-27 0,0-1 15,0 1-15,28 27 0,-28-27 0,0-1 16,27 28-16,-27-27 16,0-1-16,28 1 0,-28 0 15,0-1-15,0 1 0,0-1 16,0 1-16,27 27 0,-27-28 0,0 1 15,0 0-15,0-1 0,0 1 16,0-1-16,0 1 0,0 0 0,0-1 0,0 1 16,0-1-16,0 1 0,0 0 15,0-1-15,0 1 0,0-1 0,-27 28 0,27-27 16,0-1-16,0 1 0,0 0 0,-28-1 16,28 1-16,0-1 0,0 1 15,-27 0-15,27-1 0,0 1 16,0-1-16,-28 1 15,1 27-15,27-27 0,0-1 16,0 1-16,0-1 16,-27 28-16,27-27 0,0 0 0,0-1 15,-28 28-15,28-27 16,-27 27-16,27-28 0,0 1 16,-28 27-16,28-28 31,-27 28-16,27-27 17,0 0 15,-27 27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3.70441" units="1/cm"/>
          <inkml:channelProperty channel="Y" name="resolution" value="36.86007" units="1/cm"/>
          <inkml:channelProperty channel="T" name="resolution" value="1" units="1/dev"/>
        </inkml:channelProperties>
      </inkml:inkSource>
      <inkml:timestamp xml:id="ts0" timeString="2026-10-05T01:41:06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2028 4868 0,'-17'36'31,"-18"52"0,-1-35-15,1 0-1,0 17 1,17 1 0,0-71-16,1 53 15,-1 0 1,18-36-16,-17-17 0,17 53 15,0-18 1,0-17 0,0 0-1,17-1 48,71 1-48,-70-18-15,123 0 16,88 0 0,-211 0-16,247 18 15,87-18 1,19 0 0,-18 0-1,-1 0 1,-16 0-1,-319 0-15,336 0 16,17 0 0,36 0-1,-388 0-15,423 0 16,-36 0 0,-369 0-16,334 0 15,36 0 1,-389 0-16,1 0 0,17 0 0,-17 0 0,247 0 15,-230 0-15,229 0 16,-228 0-16,-19 0 0,266 17 16,-248-17-16,300 18 15,-300-18-15,0 0 0,248 0 16,122 0 0,-369 0-16,228 0 15,-17-18 1,-159-17-1,-52 17 1,-36 1 15,35-19-15,-17 36 0,-18-17-1,17 17 1,19 0 31,105 0-32,-124 0-15,142 0 16,123 0 0,18 0-1,35 0 1,-158 0-1,-54 0 1,-88 0 0,-17 0-1,17-18 17,-17 1-17,17-1 1,1-17-1,16 17 1,1-17 0,0 17-1,18-17 1,-1-1 0,1-16-1,-53 52-15,34-18 16,-34-35-1,-18 35-15,18-17 16,-18-18 0,0 18-1,-18 0 1,0 17 0,-17-17-1,18 35-15,-19-18 16,19 18-16,-54-18 15,-52-17 1,-107 17 0,-193-17-1,-247-35 1,617 70-16,-53-18 0</inkml:trace>
  <inkml:trace contextRef="#ctx0" brushRef="#br0" timeOffset="27407.93">1993 13494 0,'-17'17'63,"17"1"-48,0 0 1,-18 17 0,0 18-1,1 17 1,-1 19-1,0-1 1,1-18 0,17 1-1,-18-1 1,18-34 0,0 17-1,0 0 1,0-18-1,0 0 1,0-17 0,0 17-1,0 0 1,0-17 0,0 17-1,0-17 1,0 0-1,0-1 1,35-17 93,36 0-93,-53 0-16,140 0 16,54 0-1,-177 0-15,212 0 16,71 0 0,-301 0-16,248 0 15,-247 0-15,193 0 16,54 0-1,-248 0-15,230 0 16,-211 0-16,352 0 16,70 18-1,-422-18-15,510 17 16,54 1 0,-141 0-1,-54-18 1,-140 0-1,0 17 1,17 1 0,-18-18-1,-246 0-15,211 0 16,-17 0 0,-53 0-1,-18 0 1,-123 0-16,70 0 15,18-18 1,-89 18-16,107 0 16,52 0-1,-158 0-15,140 0 16,54 0 0,-53 0-1,53 0 1,-195 0-16,230 0 15,35 0 1,-264 0-16,282 0 16,53 0-1,-318 0-15,282 0 16,-17 0 0,-282 0-16,229 0 15,53 0 1,-283 0-16,1 0 0,264 0 15,36 0 1,-36-17 0,-264 17-16,211 0 15,0-18 1,-70 0 0,-36 18-1,-17-17 1,-18-1-1,-70 18-15,70 0 16,0-17 0,1 17-1,-1-18 1,-18 18 0,1 0-1,35 0 1,-89 0-16,107 0 15,229 18 1,-336-18 0,266 0-1,-213 0 1,-17 0 15,-18 0-15,1 0 15,16 0-15,1-18-1,0 0 1,-35 18 0,17-17-1,-17 17-15,-1 0 31,36-36 1,-53 19-17,18-19 1,0 1 15,-1-18-15,1 18-1,-18-18 1,0 0 0,0-17-1,0 17 1,0-18 0,0 1-1,0-1 1,0-17-1,-35 0 1,-18-71 15,0 106-15,-18 0 0,-52-18-1,105 71-15,-141-52 16,-334-19-1,475 71 1,-17 0-16,-600-71 16,582 54-16,35 17 15,-864-71 1,864 71 0,-34-17-16,-372-1 15,354 0-15,-459 18 16,-530-35 15,1024 35-31,-812 0 16,830 0-1,-19 0-15,-563-18 16,563 18 0,-422 0-1,440 0 1,-458 18-1,441-18 1,-565 18 0,565-18-1,-1 0-15,-528 0 16,546 0-16,-264 0 16,-124 0 15,300 0 0,-35 17 0,106-17-15,-53 18 0,-53 0 15,123-1-16,-246 1 1,246 0 0,-370 17 15,-18 0-15,389-17-1,-248 17 16,247-35-31,-88 35 16,-141 36 0,247-54-1,-17-17-15,-195 53 16,106-17 0,-17 17 15,105-53-16,-70 17 1,53-17 15,-18 18-15,-18-1 0,-17-17-1,18 0 1,-54 18-1,36-18 1,-18 0 0,88 0-16,-70 0 15,-35 0 1,35 0 0,17-35-1,18 35 1,35-18-1,-34 1 1,16 17 0,1 0-1,0-18 1,35 0-16,-36 18 16,1 0-1,18 0 1,-1 0-1,0 0 1,-17 0 0,0 0-1,-18 0 1,35 0-16,-17 0 16,-18 18-1,-18-18 1,18 18-1,-17-18 1,17 17 0,0-17-1,0 0 1,35 0-16,-17 0 16,18 0-1,17 18 1,-18-18 93,-17 17-62,17-17-31,0 0-1,18 18 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3.70441" units="1/cm"/>
          <inkml:channelProperty channel="Y" name="resolution" value="36.86007" units="1/cm"/>
          <inkml:channelProperty channel="T" name="resolution" value="1" units="1/dev"/>
        </inkml:channelProperties>
      </inkml:inkSource>
      <inkml:timestamp xml:id="ts0" timeString="2026-10-05T01:42:01.9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1905 4851 0,'-18'0'78,"1"17"-47,-1 36-15,18-35-16,0 35 16,-18 35-1,18-17 1,0 17-1,0-18 1,0-17 0,18-17-1,-18-1 1,0-18 0,0 19-1,18-19 1,-1-17-1,-17 18 1,18 0 0,0-1-1,52 1 1,1-18 0,70 0-1,53-18 1,88 18-1,-264 0-15,264 0 16,124 0 0,-371 0-16,300 0 15,-300 0-15,353 0 16,-370 0-16,317 0 16,0 0-1,-317 0-15,299 0 16,19 0-1,16 0 1,-334 0-16,282 0 16,-18 0-1,-35 0 1,-53 0 0,-18 0-1,1 0 1,-18 0-1,-142 0-15,142 0 16,17 0 0,-17 0-1,53 18 1,-18-18 0,-18 18-1,-158-18-15,123 0 16,35 0-1,18 0 1,18 0 0,-36 0-1,-17 0 1,0 17 0,17-17-1,-17 18 1,-141-18-16,140 0 15,19 17 1,-18-17 0,-142 0-16,142 0 15,17 0 1,-52 0 0,-1 0-1,-34 0 1,-19 0-1,-35 0 1,1 0 0,-19 0-1,19 0 1,-19-17 0,36 17-1,-18 0 1,18-18-1,0 18 1,18 0 0,-36 0-1,18-17 1,-18 17 0,1-18-1,-1 18 1,-18-18-1,1 1 1,17-1 0,-17 0-1,17-35 1,-17 18 0,0 0-1,-18 17-15,17-35 16,1 18-1,-18 17-15,0-17 16,0 0 0,0 17-16,0 1 15,0-36 1,0 17 0,0 1-1,0 0 1,-18 0-1,18 17 1,0 0 0,-35 1-1,35-1 1,-18 0 0,18 1-1,-17-1 1,-19 0-1,19 18 1,-1-17 0,-35-1-1,0-17 1,-17 35 0,-54-35-1,1 17 1,-54 0-1,19 1 1,-36 17 0,0 0-1,-18 0 1,36 0 0,-1 0-1,-35 0 1,18 0-1,0 0 1,0 0 0,177 0-16,-142 0 15,-88 0 1,35 0 0,-17 0-1,211 0-15,-158 0 16,141 0-16,-124 0 15,124 0-15,-142 0 16,1 0 0,-18 17-1,-71 19 1,248-36-16,-266 35 16,-69-18-1,334 1-15,-335-18 16,0 35-1,301-35-15,34 0 0,-247 0 16,248 0-16,-195 18 16,36 0-1,52-1 1,36 1 0,70-18-16,-52 0 15,17 0 1,-18 18-1,-17-18 1,0 17 0,-36-17-1,19 0 1,-36-35 0,35 35-1,0-18 1,18 1-1,35-1 1,35 18-16,-35 0 16,0 0-1,36 0-15,-36 0 16,-18 0 0,-35 0-1,89 0-15,-89 0 16,18 0-1,-36 0 1,36 0 0,-35 0-1,17 0 1,-18 0 0,107 0-16,-89 0 15,0 0 1,-18 0-1,107 0-15,-124 0 32,88 0-17,35 0-15,0 0 32,-17 0 14,18 0-30,-19 0 0,1 0-1,17 0 1,1 0 0,-1 0 15,0 0 78,1 0-93,-1 0 15</inkml:trace>
  <inkml:trace contextRef="#ctx0" brushRef="#br0" timeOffset="18407.03">1940 12171 0,'-17'0'31,"17"17"0,0 54-15,0 35-1,0 0 1,0 0 0,0-18-1,0-35 1,0-18 0,0-17-1,0-1 1,17-17 46,36 0-46,-35 0-16,123-17 31,-18-1-15,-17 18-1,0-35 1,0 35 0,-53-18-1,-36 18-15,1 0 16,0 0 0,-18-18-1,17 18 16,1-17-15,0-19 0,17 19-1,-17-1 1,-1 1 0,1-1-1,0 18 1,-1-18-1,1 1 1,-1-36 0,1 0-1,-18 0 1,35 0 0,-35 35-16,0-35 15,0-17 1,18 17-1,-18-18 1,18 18 0,-18 1-1,0 16 1,0 19 0,0-1 15,-18 18-16,-17 0 1,-1-18 0,-16 1-1,16-1 1,19 18-16,-36-18 16,35 18-16,-35 0 15,-35-17 1,70 17-16,18-18 0,-176 18 31,88 0-15,-1 0-1,72 0-15</inkml:trace>
  <inkml:trace contextRef="#ctx0" brushRef="#br0" timeOffset="35636.94">2117 14834 0,'17'0'125,"19"0"-110,-19 0-15,89-17 16,88 17 0,0 0-1,71 0 1,-248 0-16,512 0 31,177 0 0,-688 0-31,617 0 16,-600-18 0,88 0-1,-105 18-15,53-17 16,-18 17 46,-1 0-46,-34 0-16,35 0 31,-35 0-15,-1 0 46,36 0-46,177 0 15,-89 0-15,-124 0-16,107 0 16,-36 0-1,-53 0 1</inkml:trace>
  <inkml:trace contextRef="#ctx0" brushRef="#br0" timeOffset="66615.71">17180 14570 0,'0'17'141,"0"19"-126,0-1 1,0 0-1,0-17 1,0 17 0,0-17-1,0-1 1,0 1 0,-17-18-1,17 18 79,0-1-63,0 1-15,0 0-1,0-1 32,0 1 0,0-1-16,0 1-15</inkml:trace>
  <inkml:trace contextRef="#ctx0" brushRef="#br0" timeOffset="127022.84">17233 14570 0,'18'0'94,"17"0"-79,-35-18-15,18 18 16,-1 0 15,-17-18 63,36 18-78,-19 0 15,-17-17-15,18 17 15,0 0 16,-54-18 46,1 18-77,17 0 0,-35 0-1,18 18 1,-18-1 0,36-17-1,-1 18 1,0-18-1,1 0 95</inkml:trace>
  <inkml:trace contextRef="#ctx0" brushRef="#br0" timeOffset="149557.84">21943 15081 0,'0'-17'94,"35"17"-78,18-18-1,35 18 1,18 0 0,0-18-1,-89 1-15,125-1 16,34 18 0,-53-18-1,36 1 1,-53 17-1,18 0 1,-1 0 0,-17 0-1,0 0 1,-18 0 0,0 0-1,0 0 1,0 0-1,36 0 1,-106 0-16,105 0 16,0 0-1,-17 17 1,0-17 0,-18 0-1,1 0 1,-19 0-1,1 0 1,-1 0 0,1 0-1,-18 0 1,17 0 0,-35 0-1,-17 0-15,17 0 16,1 0-1,17 0 1,17 0 0,36 0-1,-106 18-15,88-18 16,0 0 0,18 0-1,-18 0 1,-35 0-1,-35 0 1,0 0 47,-1 0-48,19 0 16,-19 0 173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3.70441" units="1/cm"/>
          <inkml:channelProperty channel="Y" name="resolution" value="36.86007" units="1/cm"/>
          <inkml:channelProperty channel="T" name="resolution" value="1" units="1/dev"/>
        </inkml:channelProperties>
      </inkml:inkSource>
      <inkml:timestamp xml:id="ts0" timeString="2026-10-05T01:48:01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7042 2467 0,'27'0'125,"1"0"-125,-1 0 16,1 0-16,-1 0 0,0 0 0,1 0 0,-1 0 0,1 0 15,-1 0-15,0 0 0,1 0 0,-1 0 0,1 0 0,-1 0 0,0 0 0,28 0 0,-27 0 16,-1 0-16,0 0 0,1 0 0,-1 0 0,28 0 0,-28 0 0,1 0 0,-1 0 0,1 0 0,26 0 0,-26 0 16,-1 0-16,1 0 0,-1 0 0,0 0 0,1 0 0,-1 0 0,28 0 0,0 0 0,-28 0 0,28 0 0,-28 0 0,1 0 15,-1 0-15,1 0 0,-1 0 0,0 0 0,28 0 0,0 0 0,-28 0 0,28 0 0,-27 0 0,26 0 0,-26 28 0,27-28 0,-28 0 0,0 0 0,28 0 0,-27 0 16,-1 0-16,0 0 0,56 27 0,-1-27 0,-82 28 0,27-28 0,28 0 0,0 0 0,-28 0 0,1 0 0,54 0 0,-55 0 0,1 0 0,26 0 0,1 0 15,0 0-15,-28 0 0,1 0 0,27 0 0,-1 0 0,1 0 0,-27 0 0,81 0 0,-81 0 0,26 0 0,1 0 0,-27 0 0,26 0 0,-26 0 0,27 0 16,-28 0-16,28 0 0,-28 0 0,28 0 0,0 27 0,0-27 0,-28 0 0,0 0 0,28 0 0,0 0 0,-28 0 0,1 0 0,-1 0 0,28 0 0,-28 0 16,1 0-16,27 0 0,-28 0 0,28 0 0,-28 0 0,1 0 0,-1 0 0,0 0 0,28 0 0,-27 0 0,-1 0 0,28 0 0,-28 0 0,1 0 0,-1 0 15,28 0-15,-28 0 0,28 0 0,-28 0 0,1 0 0,-1 0 0,1 0 0,26 0 0,-26 0 0,-1 0 0,1 0 0,-1 0 0,0 0 0,1 0 16,27 0-16,-28 0 0,0 0 0,1 0 0,-1 0 0,28 0 0,-28 0 0,1 0 0,-1 0 0,1 0 0,-1 0 16,28 0-16,-28 0 0,1 0 0,-1 0 0,0 0 0,28 0 0,-27 0 0,-1 0 0,0 0 0,1 0 0,27-27 0,-1 27 15,-26 0-15,27 0 0,-28 0 0,0 0 0,1 0 0,-1 0 0,1 0 0,-1 0 0,0 0 0,1 0 16,-1 0-16,1 0 0,-1 0 0,0 0 0,1 0 0,-1 0 0,1 0 0,-1 0 0,0 0 0,1 0 15,-1 0-15,1 0 0,-1 0 0,0 0 0,1 0 0,-1 0 0,1 0 0,-1 0 0,0 0 16,-27-28-16,55 28 0,-27 0 0,-1 0 0,0 0 0,28 0 0,-27 0 0,-1 0 0,0 0 16,1 0-16,-1 0 0,1 0 0,-1 0 0,0 0 0,1 0 0,-1-27 0,1 27 15,-1 0-15,0 0 0,1 0 0,-1 0 0,1 0 0,-1 0 0,0 0 0,-27-28 16,28 28-16,-1 0 0,1 0 0,-1 0 0,0 0 0,1 0 0,-1 0 0,1 0 0,-1 0 0,0 0 16,1 0-16,27 0 0,-28 0 0,0 0 0,1 0 0,-1 0 0,1 0 0,26 0 0,-26 0 0,-1 0 15,1 0-15,-1 0 0,0 0 0,1 0 0,-1 0 0,1 0 0,-1 0 0,0 0 0,1 0 0,-1 0 0,1 0 0,-1 0 0,0 0 0,28 0 16,-27 0-16,26 0 0,-26 0 0,-1 0 0,28 0 0,-28 0 0,28 0 0,-27 0 0,26 0 0,-26 0 0,-1 0 0,1 0 0,-1 0 15,0 0-15,1 0 0,27 0 0,-28 0 0,0 0 0,1 0 0,-1 0 0,1 0 0,-1 0 0,0 0 0,1 0 0,-1 0 0,28 0 16,-27 0-16,-1 0 0,0 0 0,1 0 0,-1 0 0,28 0 0,-28 0 0,28 0 0,-27 0 0,26 0 0,-26 0 0,-1 0 16,1 0-16,-1 0 0,28 0 0,-28 0 0,1 0 0,-1 0 0,0 0 0,1 0 0,27 0 0,-1 0 0,-26 0 15,-1 0-15,28 0 0,-28 0 0,1 0 0,-1 0 0,1 0 0,-1 0 0,0 0 0,1 0 0,-1 0 0,1 0 16,-1 0-16,0 0 0,1 0 0,-1 0 0,1 0 0,-1 0 0,0 0 0,1 0 0,27 0 0,-28 0 0,0 0 16,1 0-16,-1 0 0,1 0 0,-1 0 0,0 0 0,1 0 0,-1 0 0,1 0 0,26 0 0,-26 0 0,-1 0 0,1 0 0,-1 0 0,0 0 15,1 0-15,-1 0 0,1 0 0,-1 0 0,0 0 0,28 0 0,-27 0 0,26 0 0,-26 0 0,-1 0 0,1 0 0,-1 0 0,0 0 16,1 0-16,27 0 0,-28 0 0,28 0 0,-28 0 0,55 0 0,-54 0 0,-1 0 0,1 0 0,-1 0 0,0 0 0,1 0 0,27 0 15,-28 0-15,0 0 0,1 0 0,27 0 0,-28 0 0,0 0 0,1 0 0,-1 0 0,1 0 0,-1 0 0,0 0 0,1 0 0,-1 0 0,1 0 16,-1 0-16,0 0 0,1 0 0,-1 0 0,28 0 0,-28 0 0,1 0 0,-1 0 0,1 0 0,-1 0 0,0 0 0,1 0 0,-1 0 0,28 0 0,-28 0 0,1 0 16,-1 0-16,28 0 0,-28 0 0,1 0 0,-1 0 0,1 0 0,-1 0 0,0 0 0,1 0 0,-1 0 15,1 0-15,-1 0 0,0 0 0,1 0 0,-1 0 0,1 0 0,-1 0 0,0 0 0,1 0 0,-1 0 0,1 0 16,-1 0-16,0 0 0,1 0 0,-1 0 0,1 0 0,-1 0 0,0 0 0,1 0 16,-1 0-16,1 0 0,-1 0 0,0 0 0,1 0 0,-1 0 0,1 0 15,-1 0-15,0 0 0,1 0 0,-1 0 0,1 0 16,-1 0-16,0 0 15,1 0 17,-1 0-32,1 0 0,-1 0 0,0 0 15,1 0-15,-1 0 0,1 0 16,-1 0-16,0 0 0,1 0 0,-1 0 0,1 0 16,-1 0-16,0 0 0</inkml:trace>
  <inkml:trace contextRef="#ctx0" brushRef="#br0" timeOffset="3956.84">13865 4825 0,'-28'0'31,"1"0"-16,-1 0 17,1 0-1,27 27-15,-27-27-1,27 27-15,0 1 16,-28-28-16,28 27 0,0 1 15,0-1-15,-27-27 0,27 27 0,0 1 16,0-1-16,0 1 16,0-1-16,0 0 0,-28-27 0,28 28 0,0-1 0,0 1 0,0-1 15,0 1-15,0-1 0,0 0 0,0 1 0,0-1 0,0 1 0,0-1 16,-27-27-16,27 27 0,0 1 0,0 27 0,0-28 0,0 0 0,0 1 0,-27-1 0,27 1 0,0-1 16,0 1-16,0-1 0,0 0 0,0 1 0,0-1 0,0 1 0,0-1 0,0 0 0,0 1 0,0-1 15,0 1-15,0-1 0,0 0 0,0 28 0,0-27 0,0-1 0,0 0 0,0 1 16,0-1-16,0 1 0,0-1 0,0 1 0,0-1 0,0 0 0,0 1 0,0-1 0,0 1 0,-28-28 0,28 27 0,0 0 15,0 1-15,0-1 0,0 1 0,0-1 0,0 0 0,0 1 0,0-1 0,0 1 16,0-1-16,0 28 0,0-28 0,0 1 0,0-1 0,-27 1 0,27-1 16,0 0-16,0 28 0,0-27 0,0-1 0,0 0 0,0 1 0,0-1 15,0 1-15,0-1 0,0 0 0,0 1 0,0-1 0,0 1 0,0-1 16,0 1-16,0 26 0,0-26 0,0-1 0,0 1 0,0-1 0,0 0 16,0 1-16,0-1 0,0 1 0,0-1 0,0 0 0,0 1 0,0-1 0,0 1 15,0-1-15,0 0 0,0 1 0,0-1 0,0 1 0,0-1 16,0 1-16,0-1 0,0 0 0,0 1 0,0-1 0,0 1 0,0-1 15,0 0-15,0 1 0,0-1 0,0 1 0,0-1 0,0 0 0,0 1 16,0-1-16,0 1 0,0-1 0,0 1 0,0-1 16,0 0-16,0 1 0,0-1 0,0 1 15,0-1-15,0 0 0,0 1 0,0-1 16,0 1-16,0-1 0,0 0 16,0 1-16,0-1 0,0 1 0,0-1 0,0 0 15,0 1-15,0-1 0,0 1 0,0-1 16,0 1-16,0-1 0,0 0 0,0 1 0,0-1 0,0 1 15,0-1-15,0 0 0,0 1 0,0-1 0,0 1 0,0-1 0,0 0 16,0 1-16,0 27 0,0-28 0,0 1 0,0-1 0,0 0 0,0 1 0,0-1 16,0 1-16,0-1 0,0 0 0,0 1 0,0 27 0,0-28 0,0 0 15,0 28-15,0-27 0,0-1 0,0 0 0,0 1 0,0-1 0,0 1 0,0-1 16,0 1-16,0-1 0,0 0 0,0 1 0,0-1 0,0 1 0,0-1 16,0 0-16,0 1 0,0-1 0,0 1 0,0-1 0,0 0 15,0 1-15,0-1 0,0 1 16,27-28-16,-27 27 0,0 0 0,0 1 15,0-1-15,0 1 0,0-1 0,28-27 16,-28 28-16,0-1 0,0 0 0,0 1 16,27-28-16,-27 27 15,0 1-15,0-1 0,27-27 16,-27 27-16,0 1 0,0-1 0,0 1 16,28-28-1,-28 27-15,0 0 0,0 1 16,0-1-16,27-27 0,-27 28 15,28-28-15,-28 27 0,0 1 32,27-1-32,0-27 31,-27 27-15,28-27-1,-1 0 1,-27 28-1,28-28-15,-1 0 16,-27 27-16,27-27 0,1 28 16,-1-28-16,1 0 15,-1 0-15,-27 27 0,27-27 0,1 0 0,-1 0 16,1 0-16,-1 0 16,0 27-16,1-27 0,-1 0 0,1 0 15,-1 0-15,0 0 0,1 0 16,-1 0-16,1 0 0,-1 0 15,0 0-15,1 0 0,-1 0 16,-54 0 187,27-27-187,-28 27-1,1 0 17,0 0 61,-1 0-61,28-27-32</inkml:trace>
  <inkml:trace contextRef="#ctx0" brushRef="#br0" timeOffset="7044.54">13947 13075 0,'-28'0'157,"1"0"-142,0 0 1,-1 0-16,1 27 16,27 1-1,-28-28-15,1 0 0,27 27 16,-27-27-16,27 28 0,-28-28 15,28 27-15,0 0 16,-27 1-16,-1-1 16,28 1-16,0-1 0,0 1 15,-27-28-15,27 27 0,0 0 16,0 1-16,0-1 0,0 1 16,0-1-16,0 0 0,-27-27 0,27 28 15,0-1-15,0 1 0,0-1 16,0 0-16,0 1 15,0-1-15,0 1 16,0-1-16,0 0 16,0 1-16,0-1 0,0 1 15,0-1-15,0 1 0,0-1 16,0 0-16,0 1 0,0-1 16,0 1-16,0-1 0,0 0 0,0 1 15,0-1-15,0 1 0,0-1 0,0 0 0,0 1 16,0-1-16,0 1 0,0-1 15,0 0-15,0 1 0,0-1 0,0 1 16,0-1-16,0 1 0,0-1 0,0 0 16,0 1-16,0-1 15,0 1-15,0-1 0,0 0 16,0 1-16,0-1 0,0 1 16,0-1-16,0 0 0,0 1 15,0-1-15,0 1 0,0-1 16,0 1-16,0-1 0,0 0 0,0 1 15,0-1-15,0 1 0,0-1 16,0 0-16,0 1 0,0-1 16,0 1-16,0-1 15,0 0-15,0 1 16,0-1 0,0 1 15,0-1-31,0 0 15,0 1 1,0-1-16,0 1 16,0-1-16,0 1 0,0-1 15,0 0-15,0 1 16,0-1-16,0 1 16,0-1-16,0 0 15,0 1-15,0-1 16,0 1-16,0-1 15,0 0-15,0 1 16,0-1-16,0 1 16,0-1-16,0 1 15,0-1 1,0 0-16,27-27 0,-27 28 16,0-1-16,0 1 15,0-1 1,0 0-1,0 1 17,27-28 155,1 0-187,-1 0 0,1 0 0,-1 0 16,0 0-16,1 0 0,-1 0 15,1 0-15,-1 0 0,0 0 0,1-28 16,-1 28-16,1 0 0,-1 0 0,0 0 0,1 0 16,-1 0-16,1 0 0,-1 0 0,0 0 15,1 0-15,-1 0 0,1 0 0,-1 0 0,0 0 16,1 0-16,-1 0 0,1 0 0,-1 0 16,0 0-16,1 0 15,-1 0-15,-27 28 16,28-28-1,-1 0-15,-27 27 16,27 1 0,1-28-1</inkml:trace>
  <inkml:trace contextRef="#ctx0" brushRef="#br0" timeOffset="17156.84">28935 13157 0,'27'0'62,"1"0"-62,-1 0 16,0 0-16,1 0 0,-1 0 16,1 0-16,-1 0 0,0 0 0,1 0 0,-1 0 15,1 0-15,-1 0 0,0 0 0,1 0 0,-1 0 0,1 0 16,-1 0-16,0 0 0,1 0 0,-1 0 0,1 0 0,-1 0 0,0 0 15,1 0-15,-1 0 0,1 0 0,-1 0 0,0 0 0,1 0 16,-1 0-16,1 0 0,-1 0 0,0 0 0,1 0 0,-1 28 16,1-28-16,-1 0 0,0 0 0,1 0 15,-28 27-15,27-27 0,-27 27 16,28-27 0,-28 28-16,0-1 0,0 1 15,0-1-15,0 1 0,27-28 16,-27 27-16,0 0 0,0 1 0,0-1 0,0 1 0,0-1 15,0 0-15,0 1 0,0-1 0,0 1 0,0-1 0,0 0 0,0 1 0,0-1 0,0 1 16,0-1-16,0 0 0,0 28 0,0-27 0,0-1 0,0 1 0,0-1 0,0 0 0,0 1 0,0 27 0,0-28 16,0 0-16,0 1 0,0-1 0,0 1 0,0-1 0,0 0 0,0 1 0,0-1 0,0 1 0,0-1 0,0 0 0,27 1 0,-27-1 15,0 1-15,0-1 0,0 1 0,0-1 0,0 0 0,0 1 0,0-1 0,0 1 0,0-1 0,0 0 0,0 1 0,0-1 0,0 1 16,0-1-16,0 0 0,0 1 0,0-1 0,0 1 0,0-1 0,0 1 0,0-1 0,0 0 0,0 1 0,0-1 16,0 1-16,0-1 0,0 0 0,0 28 0,0-27 0,0-1 0,0 0 15,0 1-15,0-1 0,0 1 0,0-1 0,0 0 0,0 1 0,0-1 16,0 1-16,0-1 0,0 1 0,0-1 0,0 0 0,0 1 15,0-1-15,0 1 0,-27-28 0,27 27 0,0 0 0,0 1 16,0-1-16,-27-27 0,27 28 0,0-1 0,0 0 0,0 1 16,0-1-16,-28-27 0,28 28 0,0-1 15,0 1-15,0-1 16,0 0 0,-27-27 93,-1 0-93,1 0-1,27-27-15,-27 27 16,-1 0-16,1 0 15,-1 0-15,1 0 16,0 0-16,-1 0 0,1 0 0,-1 0 16,1 0-16,0 0 0,-1 0 0,1 0 15,27 27-15,-28-27 0,1 0 0,0 0 0,-1 0 0,1 0 16,-1 28-16,1-28 0,0 0 0,-1 0 0,1 27 16,-1-27-16,1 0 0,0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3.70441" units="1/cm"/>
          <inkml:channelProperty channel="Y" name="resolution" value="36.86007" units="1/cm"/>
          <inkml:channelProperty channel="T" name="resolution" value="1" units="1/dev"/>
        </inkml:channelProperties>
      </inkml:inkSource>
      <inkml:timestamp xml:id="ts0" timeString="2026-10-05T01:48:54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23455 11650 0,'-28'0'0,"1"0"15,0 0-15,-1 0 16,1 0-1,-1 0-15,1 0 0,0 0 16,-1 0-16,1 0 16,-1 0-16,1 0 0,27-28 15,-27 28-15,-1 0 16,1 0-16,-1 0 0,1 0 0,0 0 16,-1 0-16,28-27 0,-27 27 0,-1 0 0,1 0 15,0 0-15,-1 0 0,1 0 0,-1 0 16,1 0-16,0 0 0,-1 0 0,1 0 0,-1 0 15,1 0-15,0 0 0,-1 0 0,1 0 0,-1 0 0,1 0 0,0 0 16,-1 0-16,1 0 0,-1 0 0,1 0 0,0 0 0,-1 0 16,1 0-16,-1 0 0,1 0 0,0 0 0,-1 0 15,1 0-15,-1 0 0,1 0 0,0 0 0,-1 0 16,1 0-16,-1 0 0,1 0 0,0 0 0,-1 0 0,1 0 0,-1 0 16,1 0-16,0 0 0,-1 0 0,1 0 0,-28 0 15,28 0-15,-1 0 0,1 0 0,-1 0 0,1 0 16,0 0-16,-1 0 0,1 0 0,-1 0 0,-26 0 0,26 0 15,1 0-15,-1 0 0,1 0 0,0 0 0,-1 0 0,1 0 0,-1 0 0,1 0 0,0 0 16,-1 0-16,1 0 0,-1 0 0,-26 0 0,26 0 0,1 0 0,-1 0 0,1 0 0,0 0 16,-1 0-16,1 0 0,-1 0 0,1 0 0,0 0 0,-1 0 0,1 0 15,-1 0-15,1 0 0,0 0 0,-1 0 0,1 0 0,-1 0 0,1 0 0,0 0 16,-1 0-16,1 0 0,-1 0 0,1 0 0,0 0 16,-1 0-16,1 0 0,-1 0 0,1 0 15,0 0-15,-1 0 0,1 0 16,-1 0-1,28 27-15,-27-27 0,0 0 16,-1 0-16,28 28 16,-27-28-16,-1 0 15,1 0-15,0 0 0,27 27 0,-28-27 16,1 0-16,-1 0 0,1 0 16,0 0-16,-1 0 15,28 27-15,-27-27 0,-1 0 0,1 0 16,0 0-16,-1 0 15,1 28-15,-1-28 16,1 0 0,27 27-16,-27-27 15,-1 0-15,1 0 16,-1 0-16,1 0 16,0 0-16,-1 0 15,28 28-15,-27-28 0,-1 0 16,1 0-16,0 0 15,-1 0-15,1 0 16,-1 0-16,1 0 47,0 0-31,-1 0-1,1 0-15,-1 0 16,1 0-1,0 0-15,-1 0 16,1 0 0,27-28 31,-28 28-47,1 0 15,27-27-15,-27 27 16,-1 0-16,1 0 0,-1 0 15,1 0-15,0 0 16,27-28-16,-28 28 0,1 0 16</inkml:trace>
  <inkml:trace contextRef="#ctx0" brushRef="#br0" timeOffset="2832.19">18824 12417 0,'28'0'125,"-1"0"-125,0 0 0,1 0 16,-1 0-16,1 0 0,-1 0 0,0 0 0,1 0 0,-1 0 15,1 0-15,-1 0 0,0 0 0,-27-27 0,28 27 0,-1 0 0,1 0 0,-1 0 0,0 0 0,1 0 16,-1 0-16,1 0 0,-1 0 0,0 0 0,1 0 0,-28-28 0,27 28 0,28 0 0,-28 0 0,1 0 0,-1 0 0,1 0 15,-1 0-15,0 0 0,1 0 0,-1 0 0,28 0 0,-28 0 0,1 0 0,-1 0 0,1 0 0,26 0 0,-26 0 16,-1-27-16,1 27 0,-1 0 0,0 0 0,1 0 0,-1 0 0,1 0 0,26 0 0,-26 0 0,-1 0 0,28 0 16,-28 0-16,1 0 0,-1 0 0,1 0 0,-1 0 0,0 0 0,1 0 0,-1 0 0,1 0 0,-1 0 15,0 0-15,1 0 0,-1 0 0,1 0 0,-1 0 0,0 0 0,1 0 0,-1 0 0,28 0 0,-28 0 16,1 0-16,-1 0 0,1 0 0,-1 0 0,0 0 0,1 0 0,-1 0 0,1 0 0,-1 0 0,0 0 0,1 0 0,27 0 16,-28 0-16,28 0 0,-28 0 0,1 0 0,-1 0 0,0 0 0,1 0 0,-1 0 0,1 0 0,-1 0 0,0 0 15,1 0-15,-1 0 0,1 0 0,-1 0 0,0 27 0,1-27 0,-1 0 0,28 0 0,-28 0 0,1 0 0,-1 0 0,1 0 0,-1 0 16,0 0-16,1 0 0,27 0 0,-28 0 0,0 0 0,1 0 0,-1 0 0,1 0 0,-28 28 0,27-28 0,0 0 15,1 0-15,-1 0 0,1 0 0,-1 0 0,0 0 0,1 0 0,-1 0 0,1 0 0,-1 0 0,0 0 0,1 0 16,27 0-16,-28 0 0,0 0 0,1 0 0,-1 0 0,1 0 0,-1 0 16,0 0-16,1 0 0,-1 0 0,1 0 0,-1 0 0,0 0 0,1 0 15,-1 0-15,1 0 0,-1 0 0,0 0 16,1 0-16,-1 0 0,1 0 16,-1 0-16,0 0 0,1 0 0,-1 0 15,1 0-15,-1 0 0,0 0 0,1 0 0,-1 0 16,1 0-16,-1 0 0,0 0 0,1 0 0,-1 0 15,1 0-15,-1 0 0,0 0 0,1 0 0,-1 0 16,1 0-16,-1 0 0,0 0 0,1 0 0,-1 0 0,1 0 16,-1 0-16,0 0 0,1 0 0,-1 0 0,1 0 15,-1 0-15,0 0 16,1 0 31,-1 0-32,1 0 1,-1 0-16,0 0 0,1 0 16,-1 0-16,1 0 0,-1 0 15,0 0-15,1 0 0,-1 0 16,1 0-16,-1 0 0,0 0 16,1 0-16,-1 0 0,-27 27 0,28-27 15,-1 0-15,-27 28 0,27-28 16,1 0-16,-1 0 15</inkml:trace>
  <inkml:trace contextRef="#ctx0" brushRef="#br0" timeOffset="4972.03">31574 11412 0,'17'0'32,"1"0"-17,0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005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técnica de MediFlow. El foco es el backend (FastAPI), que está implementado y probado; se muestra además el flujo completo desde el frontend hasta OCI. Las partes de frontend y del workflow n8n todavía no están construidas: se presentan como propuesta de cómo deberían consumir los contratos del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clave: la IA propone, el backend dispone. Aunque el LLM diga que todo está bien, el backend vuelve a evaluar siete reglas; si cualquiera falla, el documento queda PENDIENTE_AUDITORIA. Las cifras salen del código: SCORE_CONFIANZA_THRESHOLD = 0.85, los estados PROCESADO, PENDIENTE_AUDITORIA, AUDITADO y DESCARTADO, y los catálogos semilla de init.sql.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frontend usa dos caminos: la carga de documentos va al webhook de n8n (multipart con el token del usuario) y todo lo demás (login, bandeja, auditoría, catálogos, usuarios) va directo al backend por REST. n8n reenvía el mismo Bearer token al backend; por eso el backend sabe qué usuario subió cada documento (uploaded_by_id) sin guardar credenciales en n8n. El backend nunca habla con Gemini; solo valida lo que n8n le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fases 1 y 5 (círculos verdes) son llamadas al backend, que está implementado. La fase 3 también toca el backend (endpoints /catalogs/.../active ya existen), pero la orquesta n8n. Gemini puede tardar entre 10 y 40 segundos, por eso el webhook debe responder al final del flujo ('Respond to Webhook') y el front debe esperar al menos 90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de propuesta: nada de esto está construido aún en frontend/src; el contrato del backend que se cita sí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token dura ACCESS_TOKEN_EXPIRE_MINUTES (60 por defecto en código, 720 en .env.example). Como el backend consulta el usuario en cada request, desactivar a alguien o cambiarle el rol aplica de inmediato aunque tenga un token vigente: el front simplemente recibirá 401 o 403.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respuesta que el front recibe es exactamente el IngestResponse del backend (ver la diapositiva de respuesta 201). Para urgencias conviene destacar visualmente el destino Cola_Emergencia_Medica y, si viene, decision_enrutamiento.notificacion_generada. El detalle clínico se puede renderizar según el bloque: medicamentos como tabla, paneles de laboratorio con parámetros alterados en rojo,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estas pantallas consumen endpoints que ya existen. En la bandeja, un OPERADOR solo verá lo que él subió porque el backend aplica el filtro por uploaded_by_id automáticamente; el front no necesita hacer nada especial. En auditoría, si el backend responde 409 al tomar o resolver, el mensaje ya trae quién tiene el caso y hasta qué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archivo workflow/prompt_gemini_mediflow.md está vacío hoy: el flujo y el prompt son la propuesta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Decisiones: (1) el front manda multipart, no base64; n8n hace la conversión. (2) n8n reenvía el token del usuario: si es inválido, el primer GET /catalogs responde 401 y el flujo se corta solo, sin guardar credenciales de servicio. (3) n8n es el único que genera el documento_id, así se evitan duplicados; el backend responde 409 si se repite. (4) El LLM nunca devuelve documento_id ni el base64: gastaría tokens y podría corromperlo.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35DE-636C-B93E-42D2-2A26C513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54DC4-2786-B477-40FB-3D46FD087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989A3-740F-42A9-DD2F-15F775D1D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descripción de cada tipo y cola es lo que el LLM realmente lee para decidir: debe decir cuándo SÍ y cuándo NO usar cada opción. Si el tipo tiene campos_extraccion (JSON Schema), el prompt lo incluye y el LLM llena detalle_clinico.campos_adicionales; el backend valida contra el mismo esquema.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7457D-9DCB-9C8F-AB21-DB8744D1AF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326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descripción de cada tipo y cola es lo que el LLM realmente lee para decidir: debe decir cuándo SÍ y cuándo NO usar cada opción. Si el tipo tiene campos_extraccion (JSON Schema), el prompt lo incluye y el LLM llena detalle_clinico.campos_adicionales; el backend valida contra el mismo esquema.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BF69-469B-2AD9-F8BF-C6602623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83227-BCD3-D9AE-E3DF-5A647D071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18B9F-CB3F-0813-5D8C-F4194826A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descripción de cada tipo y cola es lo que el LLM realmente lee para decidir: debe decir cuándo SÍ y cuándo NO usar cada opción. Si el tipo tiene campos_extraccion (JSON Schema), el prompt lo incluye y el LLM llena detalle_clinico.campos_adicionales; el backend valida contra el mismo esquema.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A6802-C381-500A-6647-824FA6D57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16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07B7-533E-EA48-E277-F182B510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FA7E9-6EC3-0E67-2BDF-F1338BB4C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6E3CC-7236-6C86-23B2-DDA653339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Partes fijas del sobre: documento_id, archivos, clasificacion, datos_generales y decision_enrutamiento. La única parte variable es detalle_clinico. El tipo y la cola llegan como texto: el backend no los rechaza si no existen; los manda a auditoría (ver siguiente diapositiva). El usuario del token queda como uploaded_by_id. Requiere rol ADMIN, AUDITOR_CLINICO u OPERADOR.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1A7F4-6482-031A-2F74-E9D7D2EDF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04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de aquí, cada endpoint, regla, mensaje y código HTTP es el que implementa el backend en backend/app.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por features (vertical slices): cada carpeta tiene router.py (HTTP), schemas.py (Pydantic), service.py (lógica) y models.py (ORM). El router solo traduce excepciones a códigos HTTP; la lógica vive en el service. El cliente OCI es un singleton que se inicializa perezosamente y cachea el namespace. Tests: test_audit_api, test_auth_api, test_catalogs_api, test_documents_api, test_health_api, test_ingest_service y test_security, 98 en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únicas rutas sin token son POST /auth/login y GET /health. Como el rol y el estado activo se leen de la base en cada request, un cambio de rol o una desactivación aplica de inmediato. Expiración: ACCESS_TOKEN_EXPIRE_MINUTES, 60 por defecto en código y 720 (12 h) en .env.example. GET /auth/me devuelve el mismo objeto user del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008B-5698-D7EF-2B90-34909024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C589F-BAB8-E751-FBC4-05D0C5A3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F040D-5CC5-BA0C-8289-FCAEA0B84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token dura ACCESS_TOKEN_EXPIRE_MINUTES (60 por defecto en código, 720 en .env.example). Como el backend consulta el usuario en cada request, desactivar a alguien o cambiarle el rol aplica de inmediato aunque tenga un token vigente: el front simplemente recibirá 401 o 403.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F0185-CA91-F0A7-152C-2B230646E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94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sale de las dependencias require_roles de cada router: _DOCUMENT_ACCESS_ROLES = ADMIN, AUDITOR_CLINICO, OPERADOR; _AUDIT_ACCESS_ROLES = ADMIN, AUDITOR_CLINICO; _USER_MANAGEMENT_ROLES = ADMIN, GESTOR_USUARIOS; catálogos de escritura solo ADMIN; lectura de catálogos y perfil propio con cualquier usuario autenticado.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Partes fijas del sobre: documento_id, archivos, clasificacion, datos_generales y decision_enrutamiento. La única parte variable es detalle_clinico. El tipo y la cola llegan como texto: el backend no los rechaza si no existen; los manda a auditoría (ver siguiente diapositiva). El usuario del token queda como uploaded_by_id. Requiere rol ADMIN, AUDITOR_CLINICO u OPERADOR.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A8BE-F7CA-D158-A95E-CE915AC1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A2F90-57AF-A1C4-A16C-8F4E3498D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1D9F0-4E96-0410-A3CF-70C016216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Partes fijas del sobre: documento_id, archivos, clasificacion, datos_generales y decision_enrutamiento. La única parte variable es detalle_clinico. El tipo y la cola llegan como texto: el backend no los rechaza si no existen; los manda a auditoría (ver siguiente diapositiva). El usuario del token queda como uploaded_by_id. Requiere rol ADMIN, AUDITOR_CLINICO u OPERADOR.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8FDD7-59CA-1A49-184A-1CF006CF6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84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mapeo vive en BLOQUE_POR_TIPO en documents/service.py. Solo tres tipos se normalizan en tablas relacionales (recetas, laboratorio y procedimientos de epicrisis); el resto del texto clínico se conserva íntegro en raw_extracted_json para no perder información. Un tipo creado desde el mantenedor sin campos_extraccion solo se clasifica, sin datos estructurados.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43F2-3FA6-9353-963C-41E252F5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85C58-43CC-C248-C8FC-BC74F15BF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E429B-FBCC-8DE4-B342-62982C559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Partes fijas del sobre: documento_id, archivos, clasificacion, datos_generales y decision_enrutamiento. La única parte variable es detalle_clinico. El tipo y la cola llegan como texto: el backend no los rechaza si no existen; los manda a auditoría (ver siguiente diapositiva). El usuario del token queda como uploaded_by_id. Requiere rol ADMIN, AUDITOR_CLINICO u OPERADOR.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D24B7-ADA7-C26E-AA57-4F051544E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03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pieza central del backend. El estado final no lo decide la IA: lo decide esta función. Importante: un tipo o una cola inventados por el LLM no producen un error 4xx; el documento se acepta (201) pero queda PENDIENTE_AUDITORIA con el motivo exacto. Los motivos se guardan en raw_extracted_json.triaje.motivos_auditoria y se exponen en la respuesta, la bandeja y el detalle de auditoría. La prioridad (Rutina/Prioritario/Urgente) define la subcarpeta en procesados/.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saga con compensación explícita (_compensate_uploads). Si la compensación misma falla, se registra en el log, pero la respuesta sigue siendo 500. El JSON de OCI y la columna raw_extracted_json tienen exactamente el mismo contenido. Se omite el base64 en el JSON para no triplicar cada archivo (OCI binario, OCI JSON y BD).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ADE8-3540-5BAD-366B-91CE517E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B99C7-6B64-5294-0FE9-E26BAA8C4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5348E-AC6A-61C7-446C-FC7BFEAAF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Partes fijas del sobre: documento_id, archivos, clasificacion, datos_generales y decision_enrutamiento. La única parte variable es detalle_clinico. El tipo y la cola llegan como texto: el backend no los rechaza si no existen; los manda a auditoría (ver siguiente diapositiva). El usuario del token queda como uploaded_by_id. Requiere rol ADMIN, AUDITOR_CLINICO u OPERADOR.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FAFA8-6CD3-2D6B-B224-4023A97F8B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026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Distinción importante: un problema de contrato (estructura) es 422 y el documento no se guarda; un problema de contenido (tipo o cola fuera de catálogo, score bajo, bloque incoherente) es 201 con estado PENDIENTE_AUDITORIA. En n8n, cualquier código distinto de 201 debe mapearse a etapa INGESTA_BACKEND.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respuesta no inventa datos: status y motivos salen del triaje, y almacenamiento_oci de lo que realmente se subió. detalle_clinico se serializa solo con el bloque poblado. El caso de auditoría corresponde al ejemplo de interconsulta manuscrita del documento: RUT ilegible, score 0.81 y la IA pidió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Extensiones por tipo de archivo: PDF→.pdf, PNG→.png, JPG→.jpg, TIFF→.tiff, DCM→.dcm, cada uno con su content-type. El índice n de recibidos/{id}/{n} es el orden en el arreglo archivos; el 0 es el principal que se muestra en auditoría. Un documento pasa como máximo por dos estados.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ítem trae además uploaded_by_id, asignado_a_id y asignado_at (omitidos aquí por espacio). asignado_a_username permite mostrar 'En revisión por X' cuando un auditor tomó el caso. Los filtros son combinables.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esquema de compensación: si falla la subida a OCI, 500 sin cambios; si falla el commit, se borra el JSON recién subido; si falla el borrado del JSON viejo, solo se registra en el log porque el caso ya quedó cerrado. El JSON final deja arriba los valores corregidos, en version_ia lo que extrajo la IA y en auditoria quién, cuándo, notas y el delta. Si el auditor cambia el tipo, debe enviar el detalle del nuevo tipo (o {}).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el detalle (GET) está permitido aunque otro auditor tenga el caso tomado; lo que se bloquea es tomar, resolver o descartar. oci_preview_url es siempre la URL del archivo de orden 0. El GET también sirve para documentos ya cerrados: muestra audited_by_id, audited_at y audit_notes.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47AB6-E80A-B822-71A9-E88261EED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8C200-7F5E-72A3-89B9-4C530C8B8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E97ED-E998-75A0-0692-29EF71BB2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Partes fijas del sobre: documento_id, archivos, clasificacion, datos_generales y decision_enrutamiento. La única parte variable es detalle_clinico. El tipo y la cola llegan como texto: el backend no los rechaza si no existen; los manda a auditoría (ver siguiente diapositiva). El usuario del token queda como uploaded_by_id. Requiere rol ADMIN, AUDITOR_CLINICO u OPERADOR.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9E34C-C3AE-EB6F-2E45-5BFE23857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176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soft delete hace que la opción desaparezca del prompt (/active) pero los documentos históricos conservan su código. campos_extraccion debe ser un JSON Schema válido con type object; si no, 422. El backend valida con Draft202012Validator sin verificador de formatos: 'format: date' se ignora, por eso se usa pattern. Las colas aceptan mayúsculas y minúsculas en el código (^[A-Za-z0-9_]+$).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7414-6A1A-FF9C-F34E-C166703F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B3C2B-927A-4E1A-7479-9F7B15E05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BFF5A-8BC0-81C9-2BAA-1FD9EFE11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Partes fijas del sobre: documento_id, archivos, clasificacion, datos_generales y decision_enrutamiento. La única parte variable es detalle_clinico. El tipo y la cola llegan como texto: el backend no los rechaza si no existen; los manda a auditoría (ver siguiente diapositiva). El usuario del token queda como uploaded_by_id. Requiere rol ADMIN, AUDITOR_CLINICO u OPERADOR.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D55DF-AC1D-DAF3-D8ED-283786196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069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0CB1-1AB0-0818-2975-04BA3034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2CD44-1A94-EB16-57AF-B7A371A43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D3028-79A2-1341-4D85-7C861CC70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Partes fijas del sobre: documento_id, archivos, clasificacion, datos_generales y decision_enrutamiento. La única parte variable es detalle_clinico. El tipo y la cola llegan como texto: el backend no los rechaza si no existen; los manda a auditoría (ver siguiente diapositiva). El usuario del token queda como uploaded_by_id. Requiere rol ADMIN, AUDITOR_CLINICO u OPERADOR.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3A0F-6DEC-CBA6-F5CB-7A82F0EB8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378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16 se levanta con docker-compose.yml; init.sql crea tablas, índices, los catálogos semilla (10 tipos, 6 colas) y un usuario de prueba por rol. La clave privada de OCI va en backend/secrets/. Estos usuarios deben cambiarse antes de cualquier despliegue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operaciones en total. * = queues o document-types. La documentación interactiva de FastAPI está en /docs y permite probar cada endpoint con el botón Authorize usando el token del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backend es la fuente de verdad del sistema y ya cubre seguridad, triaje, persistencia híbrida, auditoría humana y catálogos. Lo pendiente (n8n y frontend) tiene sus contratos definidos, por lo que puede construirse en paralelo y probarse contra el backend real desde 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F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F_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8686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F_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F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MediFlow · Backend y flujo de punta a punta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customXml" Target="../ink/ink5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MediFlow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accent2"/>
                </a:solidFill>
              </a:rPr>
              <a:t>Cómo funciona el backend y el flujo completo: Frontend → n8n → Gemini → FastAPI → PostgreSQL + OCI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G10 LATAM Hackathon · Equipo 5 · Octubre 2026</a:t>
            </a:r>
            <a:endParaRPr lang="en-US" sz="1400" dirty="0"/>
          </a:p>
        </p:txBody>
      </p:sp>
      <p:sp>
        <p:nvSpPr>
          <p:cNvPr id="5" name="icon-circle"/>
          <p:cNvSpPr/>
          <p:nvPr/>
        </p:nvSpPr>
        <p:spPr>
          <a:xfrm>
            <a:off x="9052560" y="14630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16687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782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Frontend</a:t>
            </a:r>
            <a:endParaRPr lang="en-US" sz="1100" dirty="0"/>
          </a:p>
        </p:txBody>
      </p:sp>
      <p:sp>
        <p:nvSpPr>
          <p:cNvPr id="8" name="icon-circle"/>
          <p:cNvSpPr/>
          <p:nvPr/>
        </p:nvSpPr>
        <p:spPr>
          <a:xfrm>
            <a:off x="10424160" y="14630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9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0" y="16687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1498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n8n</a:t>
            </a:r>
            <a:endParaRPr lang="en-US" sz="1100" dirty="0"/>
          </a:p>
        </p:txBody>
      </p:sp>
      <p:sp>
        <p:nvSpPr>
          <p:cNvPr id="11" name="icon-circle"/>
          <p:cNvSpPr/>
          <p:nvPr/>
        </p:nvSpPr>
        <p:spPr>
          <a:xfrm>
            <a:off x="9052560" y="2834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30403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7824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Gemini</a:t>
            </a:r>
            <a:endParaRPr lang="en-US" sz="1100" dirty="0"/>
          </a:p>
        </p:txBody>
      </p:sp>
      <p:sp>
        <p:nvSpPr>
          <p:cNvPr id="14" name="icon-circle"/>
          <p:cNvSpPr/>
          <p:nvPr/>
        </p:nvSpPr>
        <p:spPr>
          <a:xfrm>
            <a:off x="10424160" y="2834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9900" y="304038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14984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FastAPI</a:t>
            </a:r>
            <a:endParaRPr lang="en-US" sz="1100" dirty="0"/>
          </a:p>
        </p:txBody>
      </p:sp>
      <p:sp>
        <p:nvSpPr>
          <p:cNvPr id="17" name="icon-circle"/>
          <p:cNvSpPr/>
          <p:nvPr/>
        </p:nvSpPr>
        <p:spPr>
          <a:xfrm>
            <a:off x="9052560" y="4206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0" y="441198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77824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0" name="icon-circle"/>
          <p:cNvSpPr/>
          <p:nvPr/>
        </p:nvSpPr>
        <p:spPr>
          <a:xfrm>
            <a:off x="10424160" y="4206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9900" y="441198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14984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OCI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MediFlow en 30 segundos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VISIÓN GENERAL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Un usuario sube un documento clínico (PDF, PNG o JPG). Un LLM multimodal lo clasifica, extrae los datos clínicos y propone una cola de destino. El backend valida todo contra reglas deterministas, guarda el archivo y su JSON en OCI y PostgreSQL, y aísla en auditoría humana lo que no es seguro enrutar solo.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3657600"/>
            <a:ext cx="5760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icon-circle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0462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Principio de diseño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434340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n8n es el cerebro: </a:t>
            </a:r>
            <a:r>
              <a:rPr lang="en-US" sz="1400" dirty="0">
                <a:solidFill>
                  <a:schemeClr val="tx1"/>
                </a:solidFill>
              </a:rPr>
              <a:t>interpreta el documento con la IA y arma el payload.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FastAPI es el notario: </a:t>
            </a:r>
            <a:r>
              <a:rPr lang="en-US" sz="1400" dirty="0">
                <a:solidFill>
                  <a:schemeClr val="tx1"/>
                </a:solidFill>
              </a:rPr>
              <a:t>valida contratos, decide el estado final del triaje y persiste de forma transaccional. El backend nunca llama al LLM.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766560" y="1371600"/>
            <a:ext cx="228600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8"/>
          <p:cNvSpPr txBox="1"/>
          <p:nvPr/>
        </p:nvSpPr>
        <p:spPr>
          <a:xfrm>
            <a:off x="694944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0.85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468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umbral de confianza: bajo este score el documento va a auditoría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9235440" y="1371600"/>
            <a:ext cx="228600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Text 11"/>
          <p:cNvSpPr txBox="1"/>
          <p:nvPr/>
        </p:nvSpPr>
        <p:spPr>
          <a:xfrm>
            <a:off x="941832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2468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reglas deterministas de triaje en el backend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766560" y="3749040"/>
            <a:ext cx="228600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7" name="Text 14"/>
          <p:cNvSpPr txBox="1"/>
          <p:nvPr/>
        </p:nvSpPr>
        <p:spPr>
          <a:xfrm>
            <a:off x="6949440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4846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estados posibles de un documento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9235440" y="3749040"/>
            <a:ext cx="228600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0" name="Text 17"/>
          <p:cNvSpPr txBox="1"/>
          <p:nvPr/>
        </p:nvSpPr>
        <p:spPr>
          <a:xfrm>
            <a:off x="9418320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 · 6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4846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tipos de documento y colas semilla, editables en caliente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Arquitectura de punta a punta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VISIÓN GENERAL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10312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" name="icon-circle"/>
          <p:cNvSpPr/>
          <p:nvPr/>
        </p:nvSpPr>
        <p:spPr>
          <a:xfrm>
            <a:off x="731520" y="18516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888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Frontend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React + Vite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840480" y="1554480"/>
            <a:ext cx="23774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9" name="icon-circle"/>
          <p:cNvSpPr/>
          <p:nvPr/>
        </p:nvSpPr>
        <p:spPr>
          <a:xfrm>
            <a:off x="4023360" y="18516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9888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16916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n8n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Orquestador del flujo de IA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406640" y="1554480"/>
            <a:ext cx="210312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2540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3" name="icon-circle"/>
          <p:cNvSpPr/>
          <p:nvPr/>
        </p:nvSpPr>
        <p:spPr>
          <a:xfrm>
            <a:off x="7589520" y="185166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9888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75320" y="169164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Gemini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LLM multimodal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3840480" y="3611880"/>
            <a:ext cx="2377440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7" name="icon-circle"/>
          <p:cNvSpPr/>
          <p:nvPr/>
        </p:nvSpPr>
        <p:spPr>
          <a:xfrm>
            <a:off x="4023360" y="43662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45034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09160" y="3749040"/>
            <a:ext cx="1417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FastAPI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Seguridad, triaje, persistencia y auditoría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7406640" y="361188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icon-circle"/>
          <p:cNvSpPr/>
          <p:nvPr/>
        </p:nvSpPr>
        <p:spPr>
          <a:xfrm>
            <a:off x="758952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2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39319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75320" y="37490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PostgreSQL 16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Metadatos y catálogos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7406640" y="475488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5" name="icon-circle"/>
          <p:cNvSpPr/>
          <p:nvPr/>
        </p:nvSpPr>
        <p:spPr>
          <a:xfrm>
            <a:off x="7589520" y="4937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6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507492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75320" y="48920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OCI Storage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Binarios y JSON</a:t>
            </a:r>
            <a:endParaRPr lang="en-US" sz="1400" dirty="0"/>
          </a:p>
        </p:txBody>
      </p:sp>
      <p:sp>
        <p:nvSpPr>
          <p:cNvPr id="28" name="flecha"/>
          <p:cNvSpPr/>
          <p:nvPr/>
        </p:nvSpPr>
        <p:spPr>
          <a:xfrm>
            <a:off x="2651760" y="2121408"/>
            <a:ext cx="11887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1"/>
          <p:cNvSpPr txBox="1"/>
          <p:nvPr/>
        </p:nvSpPr>
        <p:spPr>
          <a:xfrm>
            <a:off x="2697480" y="16642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multipart + Bearer</a:t>
            </a:r>
            <a:endParaRPr lang="en-US" sz="1000" dirty="0"/>
          </a:p>
        </p:txBody>
      </p:sp>
      <p:sp>
        <p:nvSpPr>
          <p:cNvPr id="30" name="flecha"/>
          <p:cNvSpPr/>
          <p:nvPr/>
        </p:nvSpPr>
        <p:spPr>
          <a:xfrm>
            <a:off x="6217920" y="2121408"/>
            <a:ext cx="11887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3"/>
          <p:cNvSpPr txBox="1"/>
          <p:nvPr/>
        </p:nvSpPr>
        <p:spPr>
          <a:xfrm>
            <a:off x="6263640" y="16642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prompt + archivo ⇄ JSON</a:t>
            </a:r>
            <a:endParaRPr lang="en-US" sz="1000" dirty="0"/>
          </a:p>
        </p:txBody>
      </p:sp>
      <p:sp>
        <p:nvSpPr>
          <p:cNvPr id="32" name="flecha"/>
          <p:cNvSpPr/>
          <p:nvPr/>
        </p:nvSpPr>
        <p:spPr>
          <a:xfrm>
            <a:off x="5029200" y="2697480"/>
            <a:ext cx="0" cy="9144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25"/>
          <p:cNvSpPr txBox="1"/>
          <p:nvPr/>
        </p:nvSpPr>
        <p:spPr>
          <a:xfrm>
            <a:off x="5166360" y="28072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GET catálogos activos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POST /documents/ingest</a:t>
            </a:r>
            <a:endParaRPr lang="en-US" sz="1000" dirty="0"/>
          </a:p>
        </p:txBody>
      </p:sp>
      <p:sp>
        <p:nvSpPr>
          <p:cNvPr id="34" name="flecha"/>
          <p:cNvSpPr/>
          <p:nvPr/>
        </p:nvSpPr>
        <p:spPr>
          <a:xfrm>
            <a:off x="1600200" y="2697480"/>
            <a:ext cx="0" cy="19202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flecha"/>
          <p:cNvSpPr/>
          <p:nvPr/>
        </p:nvSpPr>
        <p:spPr>
          <a:xfrm>
            <a:off x="1600200" y="4617720"/>
            <a:ext cx="22402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36" name="Text 28"/>
          <p:cNvSpPr txBox="1"/>
          <p:nvPr/>
        </p:nvSpPr>
        <p:spPr>
          <a:xfrm>
            <a:off x="1691640" y="4023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REST directo: login, bandeja, auditoría, catálogos, usuarios</a:t>
            </a:r>
            <a:endParaRPr lang="en-US" sz="1000" dirty="0"/>
          </a:p>
        </p:txBody>
      </p:sp>
      <p:sp>
        <p:nvSpPr>
          <p:cNvPr id="37" name="flecha"/>
          <p:cNvSpPr/>
          <p:nvPr/>
        </p:nvSpPr>
        <p:spPr>
          <a:xfrm>
            <a:off x="6217920" y="4069080"/>
            <a:ext cx="11887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38" name="flecha"/>
          <p:cNvSpPr/>
          <p:nvPr/>
        </p:nvSpPr>
        <p:spPr>
          <a:xfrm>
            <a:off x="6217920" y="5212080"/>
            <a:ext cx="11887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39" name="card"/>
          <p:cNvSpPr/>
          <p:nvPr/>
        </p:nvSpPr>
        <p:spPr>
          <a:xfrm>
            <a:off x="9829800" y="1554480"/>
            <a:ext cx="1810512" cy="4114800"/>
          </a:xfrm>
          <a:prstGeom prst="roundRect">
            <a:avLst>
              <a:gd name="adj" fmla="val 4040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2"/>
          <p:cNvSpPr txBox="1"/>
          <p:nvPr/>
        </p:nvSpPr>
        <p:spPr>
          <a:xfrm>
            <a:off x="1001268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Leyenda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10012680" y="2148840"/>
            <a:ext cx="457200" cy="32004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34"/>
          <p:cNvSpPr txBox="1"/>
          <p:nvPr/>
        </p:nvSpPr>
        <p:spPr>
          <a:xfrm>
            <a:off x="10012680" y="25328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Implementado y probado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10012680" y="3200400"/>
            <a:ext cx="457200" cy="32004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36"/>
          <p:cNvSpPr txBox="1"/>
          <p:nvPr/>
        </p:nvSpPr>
        <p:spPr>
          <a:xfrm>
            <a:off x="10012680" y="35844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Propuesta (por construir)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10012680" y="4251960"/>
            <a:ext cx="457200" cy="32004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Text 38"/>
          <p:cNvSpPr txBox="1"/>
          <p:nvPr/>
        </p:nvSpPr>
        <p:spPr>
          <a:xfrm>
            <a:off x="10012680" y="4636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Servicio externo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Ciclo de vida de un documento en seis fases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VISIÓN GENERAL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40180" y="1783080"/>
            <a:ext cx="928116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120140" y="14630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48640" y="2331720"/>
            <a:ext cx="1783080" cy="27432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50876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Front → Backend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POST /auth/login devuelve un JWT. El rol no viaja en el token: se lee de la BD en cada request.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6372" y="1463040"/>
            <a:ext cx="640080" cy="6400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card"/>
          <p:cNvSpPr/>
          <p:nvPr/>
        </p:nvSpPr>
        <p:spPr>
          <a:xfrm>
            <a:off x="2404872" y="2331720"/>
            <a:ext cx="1783080" cy="27432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 txBox="1"/>
          <p:nvPr/>
        </p:nvSpPr>
        <p:spPr>
          <a:xfrm>
            <a:off x="2542032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Carga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2880360"/>
            <a:ext cx="150876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Front → n8n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333756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El usuario elige el archivo y el front lo envía en multipart al webhook, con su Bearer.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32604" y="1463040"/>
            <a:ext cx="640080" cy="6400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card"/>
          <p:cNvSpPr/>
          <p:nvPr/>
        </p:nvSpPr>
        <p:spPr>
          <a:xfrm>
            <a:off x="4261104" y="2331720"/>
            <a:ext cx="1783080" cy="27432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 txBox="1"/>
          <p:nvPr/>
        </p:nvSpPr>
        <p:spPr>
          <a:xfrm>
            <a:off x="4398264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Catálogos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98264" y="2880360"/>
            <a:ext cx="150876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n8n → Backend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398264" y="333756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n8n pide en paralelo los tipos y colas activos para armar el prompt.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88836" y="1463040"/>
            <a:ext cx="640080" cy="6400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card"/>
          <p:cNvSpPr/>
          <p:nvPr/>
        </p:nvSpPr>
        <p:spPr>
          <a:xfrm>
            <a:off x="6117336" y="2331720"/>
            <a:ext cx="1783080" cy="27432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 txBox="1"/>
          <p:nvPr/>
        </p:nvSpPr>
        <p:spPr>
          <a:xfrm>
            <a:off x="625449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54496" y="2880360"/>
            <a:ext cx="150876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n8n → Gemini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33756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Gemini lee el archivo y el prompt y devuelve clasificación + datos clínicos en JSON.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5068" y="14630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card"/>
          <p:cNvSpPr/>
          <p:nvPr/>
        </p:nvSpPr>
        <p:spPr>
          <a:xfrm>
            <a:off x="7973568" y="2331720"/>
            <a:ext cx="1783080" cy="27432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 txBox="1"/>
          <p:nvPr/>
        </p:nvSpPr>
        <p:spPr>
          <a:xfrm>
            <a:off x="8110728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Ingesta y triaje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10728" y="2880360"/>
            <a:ext cx="150876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n8n → Backend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110728" y="333756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POST /documents/ingest: el backend evalúa 7 reglas y persiste en OCI y PostgreSQL.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401300" y="1463040"/>
            <a:ext cx="640080" cy="6400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card"/>
          <p:cNvSpPr/>
          <p:nvPr/>
        </p:nvSpPr>
        <p:spPr>
          <a:xfrm>
            <a:off x="9829800" y="2331720"/>
            <a:ext cx="1783080" cy="274320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 txBox="1"/>
          <p:nvPr/>
        </p:nvSpPr>
        <p:spPr>
          <a:xfrm>
            <a:off x="996696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Respuesta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66960" y="2880360"/>
            <a:ext cx="150876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Backend → n8n → Front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966960" y="333756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El JSON del backend vuelve al front para mostrar el resultado al usuario.</a:t>
            </a:r>
            <a:endParaRPr lang="en-US" sz="1300" dirty="0"/>
          </a:p>
        </p:txBody>
      </p:sp>
      <p:sp>
        <p:nvSpPr>
          <p:cNvPr id="35" name="card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icon-circle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3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2356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463040" y="5440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Círculos verdes: </a:t>
            </a:r>
            <a:r>
              <a:rPr lang="en-US" sz="1300" dirty="0">
                <a:solidFill>
                  <a:schemeClr val="tx1"/>
                </a:solidFill>
              </a:rPr>
              <a:t>llamadas al backend (implementado). Gemini tarda entre 10 y 40 s: el webhook responde al final del flujo y el front debe esperar al menos 90 s con indicador de carga.</a:t>
            </a:r>
            <a:endParaRPr lang="en-US" sz="13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Frontend: propuesta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Hoy el frontend </a:t>
            </a:r>
            <a:r>
              <a:rPr lang="en-US" dirty="0"/>
              <a:t>se </a:t>
            </a:r>
            <a:r>
              <a:rPr lang="en-US" dirty="0" err="1"/>
              <a:t>encuentra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construcción</a:t>
            </a:r>
            <a:r>
              <a:rPr lang="en-US" sz="2000" dirty="0">
                <a:solidFill>
                  <a:schemeClr val="accent2"/>
                </a:solidFill>
              </a:rPr>
              <a:t> (Vite + React + Tailwind). Estas son las pantallas que debería tener y qué contrato del backend consume cada una.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Pantalla de login y manejo de sesión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PROPUESTA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icon-circle"/>
          <p:cNvSpPr/>
          <p:nvPr/>
        </p:nvSpPr>
        <p:spPr>
          <a:xfrm>
            <a:off x="228600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02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MediFlow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017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Usuario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3273552"/>
            <a:ext cx="3291840" cy="41148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 txBox="1"/>
          <p:nvPr/>
        </p:nvSpPr>
        <p:spPr>
          <a:xfrm>
            <a:off x="100584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Contraseña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05840" y="4142232"/>
            <a:ext cx="3291840" cy="41148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9"/>
          <p:cNvSpPr/>
          <p:nvPr/>
        </p:nvSpPr>
        <p:spPr>
          <a:xfrm>
            <a:off x="1005840" y="4983480"/>
            <a:ext cx="3291840" cy="4572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Ingresar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6"/>
                </a:solidFill>
              </a:rPr>
              <a:t>Wireframe sugerido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Qué debe hacer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187452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Pide </a:t>
            </a:r>
            <a:r>
              <a:rPr lang="en-US" sz="1400" b="1" dirty="0">
                <a:solidFill>
                  <a:schemeClr val="tx1"/>
                </a:solidFill>
              </a:rPr>
              <a:t>username</a:t>
            </a:r>
            <a:r>
              <a:rPr lang="en-US" sz="1400" dirty="0">
                <a:solidFill>
                  <a:schemeClr val="tx1"/>
                </a:solidFill>
              </a:rPr>
              <a:t> y </a:t>
            </a:r>
            <a:r>
              <a:rPr lang="en-US" sz="1400" b="1" dirty="0">
                <a:solidFill>
                  <a:schemeClr val="tx1"/>
                </a:solidFill>
              </a:rPr>
              <a:t>password</a:t>
            </a:r>
            <a:r>
              <a:rPr lang="en-US" sz="1400" dirty="0">
                <a:solidFill>
                  <a:schemeClr val="tx1"/>
                </a:solidFill>
              </a:rPr>
              <a:t> y llama a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/api/v1/auth/login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Guarda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access_token</a:t>
            </a:r>
            <a:r>
              <a:rPr lang="en-US" sz="1400" dirty="0">
                <a:solidFill>
                  <a:schemeClr val="tx1"/>
                </a:solidFill>
              </a:rPr>
              <a:t> en memoria o sessionStorage y el objeto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400" dirty="0">
                <a:solidFill>
                  <a:schemeClr val="tx1"/>
                </a:solidFill>
              </a:rPr>
              <a:t> (su role define el menú).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interceptor HTTP agrega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&lt;token&gt;</a:t>
            </a:r>
            <a:r>
              <a:rPr lang="en-US" sz="1400" dirty="0">
                <a:solidFill>
                  <a:schemeClr val="tx1"/>
                </a:solidFill>
              </a:rPr>
              <a:t> a cada request.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 recargar la página: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/api/v1/auth/me</a:t>
            </a:r>
            <a:r>
              <a:rPr lang="en-US" sz="1400" dirty="0">
                <a:solidFill>
                  <a:schemeClr val="tx1"/>
                </a:solidFill>
              </a:rPr>
              <a:t> para validar la sesión.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401</a:t>
            </a:r>
            <a:r>
              <a:rPr lang="en-US" sz="1400" dirty="0">
                <a:solidFill>
                  <a:schemeClr val="tx1"/>
                </a:solidFill>
              </a:rPr>
              <a:t> → borrar el token y volver al login (expiró, fue revocado o el usuario fue desactivado).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403</a:t>
            </a:r>
            <a:r>
              <a:rPr lang="en-US" sz="1400" dirty="0">
                <a:solidFill>
                  <a:schemeClr val="tx1"/>
                </a:solidFill>
              </a:rPr>
              <a:t> → mostrar "Acceso denegado" sin cerrar la sesión.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Logout: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/api/v1/auth/logout</a:t>
            </a:r>
            <a:r>
              <a:rPr lang="en-US" sz="1400" dirty="0">
                <a:solidFill>
                  <a:schemeClr val="tx1"/>
                </a:solidFill>
              </a:rPr>
              <a:t> (204) y luego destruir el token local.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212080" y="5257800"/>
            <a:ext cx="642823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4"/>
          <p:cNvSpPr txBox="1"/>
          <p:nvPr/>
        </p:nvSpPr>
        <p:spPr>
          <a:xfrm>
            <a:off x="5394960" y="53492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Menú por rol: </a:t>
            </a:r>
            <a:r>
              <a:rPr lang="en-US" sz="1300" dirty="0">
                <a:solidFill>
                  <a:schemeClr val="tx1"/>
                </a:solidFill>
              </a:rPr>
              <a:t>ADMIN ve todo · AUDITOR_CLINICO: carga, bandeja y auditoría · OPERADOR: carga y "Mis documentos" · GESTOR_USUARIOS: solo usuarios.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Pantalla de carga: qué pide y qué muestra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PROPUESTA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45720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411480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es-419"/>
          </a:p>
        </p:txBody>
      </p:sp>
      <p:sp>
        <p:nvSpPr>
          <p:cNvPr id="6" name="icon-circle"/>
          <p:cNvSpPr/>
          <p:nvPr/>
        </p:nvSpPr>
        <p:spPr>
          <a:xfrm>
            <a:off x="2578608" y="1691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338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Arrastra un PDF, PNG o JPG (máx. 10 MB)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4114800" cy="438912"/>
          </a:xfrm>
          <a:prstGeom prst="roundRect">
            <a:avLst>
              <a:gd name="adj" fmla="val 1041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Procesar documento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Solicita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519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archivo (campo archivo). Validar tipo y tamaño en el cliente antes de enviar.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 envía en multipart con su Bearer al webhook de n8n: </a:t>
            </a: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/webhook/mediflow/ingesta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Timeout ≥ 90 s con indicador "Analizando con IA…" (Gemini tarda 10–40 s).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486400" y="1371600"/>
            <a:ext cx="6153912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 txBox="1"/>
          <p:nvPr/>
        </p:nvSpPr>
        <p:spPr>
          <a:xfrm>
            <a:off x="5715000" y="1508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Muestra (respuesta del backend reenviada por n8n)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15000" y="1920240"/>
            <a:ext cx="155448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PROCESADO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0920" y="1920240"/>
            <a:ext cx="2286000" cy="347472"/>
          </a:xfrm>
          <a:prstGeom prst="roundRect">
            <a:avLst>
              <a:gd name="adj" fmla="val 3947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PENDIENTE_AUDITORIA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2423160"/>
          <a:ext cx="5715000" cy="2743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Dato en pantalla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Campo de la respuesta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Estado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Tipo · especialidad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clasificacion.tipo_documento / especialidad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Prioridad · confianza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clasificacion.nivel_prioridad / score_confianza_clasificacion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Paciente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datos_generales.paciente (rut, nombre, edad)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Diagnóstico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diagnostico_principal + cie10_sugerido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Destino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decision_enrutamiento.destino_principal + justificación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Por qué fue a auditoría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motivos_auditoria[] (vacío si PROCESADO)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Detalle clínico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detalle_clinico (tabla según el bloque del tipo)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Respaldo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almacenamiento_oci.ruta_objeto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715000" y="5440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Si n8n falla antes del backend, recibe { status: "error", etapa, detalle } y debe mostrar la etapa.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Bandeja, auditoría y mantenedor de catálogos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PROPUESTA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66160" cy="379476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" name="icon-circle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030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Bandeja documental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892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ADMIN · AUDITOR · OPERADOR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Filtros: estado, cola, RUT, prioridad y rango de fechas.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Tabla: estado, paciente, tipo, prioridad, score, destino, fecha.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Etiqueta "En revisión por X" con asignado_a_username.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Paginación con total_pages; mostrar message si viene vacía.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/documents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4306824" y="1371600"/>
            <a:ext cx="3566160" cy="379476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icon-circle"/>
          <p:cNvSpPr/>
          <p:nvPr/>
        </p:nvSpPr>
        <p:spPr>
          <a:xfrm>
            <a:off x="4535424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3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014" y="170307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66944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Panel de auditoría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266944" y="1892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ADMIN · AUDITOR_CLINICO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35424" y="2377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Izquierda: visor del original con la URL pre-firmada (iframe para PDF, img con zoom).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Derecha: formulario precargado con los datos de la IA y motivos resaltados.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Botones: Tomar caso, Liberar, Resolver, Descartar.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Avisar que la URL vence a los 15 min (refrescar con GET).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35424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/audit/{id} · claim · resolve · discard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8065008" y="1371600"/>
            <a:ext cx="3566160" cy="379476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9" name="icon-circle"/>
          <p:cNvSpPr/>
          <p:nvPr/>
        </p:nvSpPr>
        <p:spPr>
          <a:xfrm>
            <a:off x="8293608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198" y="170307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25128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Mantenedor de catálogos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9025128" y="1892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ADMIN (lectura: todos)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293608" y="2377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Tablas de colas y tipos con estado activo/inactivo.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Formulario: código inmutable, nombre y descripción (lo que lee la IA).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Editor JSON Schema para campos_extraccion.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Vista de historial antes/después y aviso de Smart Delete.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293608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/catalogs/queues · /catalogs/document-types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1"/>
          <p:cNvSpPr txBox="1"/>
          <p:nvPr/>
        </p:nvSpPr>
        <p:spPr>
          <a:xfrm>
            <a:off x="777240" y="5532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También: </a:t>
            </a:r>
            <a:r>
              <a:rPr lang="en-US" sz="1300" dirty="0">
                <a:solidFill>
                  <a:schemeClr val="tx1"/>
                </a:solidFill>
              </a:rPr>
              <a:t>gestión de usuarios (/users, ADMIN y GESTOR_USUARIOS) y "Mi perfil" (/users/me, cambio de contraseña) para todos los roles.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Workflow n8n: propuesta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El backend ya expone lo que el flujo necesita: catálogos activos para el prompt y un endpoint de ingesta con contrato estricto.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Nodos sugeridos para el workflow de ingesta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PROPUESTA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54533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Webhook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1168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POST /webhook/mediflow/ingesta (modo Respond to Webhook)</a:t>
            </a:r>
            <a:endParaRPr lang="en-US" sz="1100" dirty="0"/>
          </a:p>
        </p:txBody>
      </p:sp>
      <p:sp>
        <p:nvSpPr>
          <p:cNvPr id="8" name="flecha"/>
          <p:cNvSpPr/>
          <p:nvPr/>
        </p:nvSpPr>
        <p:spPr>
          <a:xfrm>
            <a:off x="2606040" y="2171700"/>
            <a:ext cx="1920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9" name="card"/>
          <p:cNvSpPr/>
          <p:nvPr/>
        </p:nvSpPr>
        <p:spPr>
          <a:xfrm>
            <a:off x="2798064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2907792" y="152704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54533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Validar archivo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201168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MIME pdf/png/jpeg y ≤ 10 MB; si no, 400 VALIDACION_ARCHIVO</a:t>
            </a:r>
            <a:endParaRPr lang="en-US" sz="1100" dirty="0"/>
          </a:p>
        </p:txBody>
      </p:sp>
      <p:sp>
        <p:nvSpPr>
          <p:cNvPr id="13" name="flecha"/>
          <p:cNvSpPr/>
          <p:nvPr/>
        </p:nvSpPr>
        <p:spPr>
          <a:xfrm>
            <a:off x="4855464" y="2171700"/>
            <a:ext cx="1920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4" name="card"/>
          <p:cNvSpPr/>
          <p:nvPr/>
        </p:nvSpPr>
        <p:spPr>
          <a:xfrm>
            <a:off x="5047488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5157216" y="152704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14416" y="154533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ID + Base64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57216" y="201168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documento_id = {{$uuid}}; Extract from File a base64</a:t>
            </a:r>
            <a:endParaRPr lang="en-US" sz="1100" dirty="0"/>
          </a:p>
        </p:txBody>
      </p:sp>
      <p:sp>
        <p:nvSpPr>
          <p:cNvPr id="18" name="flecha"/>
          <p:cNvSpPr/>
          <p:nvPr/>
        </p:nvSpPr>
        <p:spPr>
          <a:xfrm>
            <a:off x="7104888" y="2171700"/>
            <a:ext cx="1920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9" name="card"/>
          <p:cNvSpPr/>
          <p:nvPr/>
        </p:nvSpPr>
        <p:spPr>
          <a:xfrm>
            <a:off x="7296912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7406640" y="152704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154533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Catálogos (paralelo)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01168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GET tipos y colas activos, reenviando el Bearer del usuario</a:t>
            </a:r>
            <a:endParaRPr lang="en-US" sz="1100" dirty="0"/>
          </a:p>
        </p:txBody>
      </p:sp>
      <p:sp>
        <p:nvSpPr>
          <p:cNvPr id="23" name="flecha"/>
          <p:cNvSpPr/>
          <p:nvPr/>
        </p:nvSpPr>
        <p:spPr>
          <a:xfrm>
            <a:off x="9354312" y="2171700"/>
            <a:ext cx="1920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4" name="card"/>
          <p:cNvSpPr/>
          <p:nvPr/>
        </p:nvSpPr>
        <p:spPr>
          <a:xfrm>
            <a:off x="9546336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9656064" y="152704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113264" y="154533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Merge + prompt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56064" y="201168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Une binario, ID y catálogos; inyecta descripciones en el prompt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548640" y="365760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658368" y="376732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" y="378561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Gemini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425196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Inferencia multimodal: archivo + prompt; respuesta solo JSON</a:t>
            </a:r>
            <a:endParaRPr lang="en-US" sz="1100" dirty="0"/>
          </a:p>
        </p:txBody>
      </p:sp>
      <p:sp>
        <p:nvSpPr>
          <p:cNvPr id="32" name="flecha"/>
          <p:cNvSpPr/>
          <p:nvPr/>
        </p:nvSpPr>
        <p:spPr>
          <a:xfrm>
            <a:off x="2606040" y="4411980"/>
            <a:ext cx="1920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33" name="card"/>
          <p:cNvSpPr/>
          <p:nvPr/>
        </p:nvSpPr>
        <p:spPr>
          <a:xfrm>
            <a:off x="2798064" y="365760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/>
          <p:nvPr/>
        </p:nvSpPr>
        <p:spPr>
          <a:xfrm>
            <a:off x="2907792" y="376732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364992" y="378561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Validar salida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907792" y="425196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Parsear JSON; códigos fuera de catálogo → OTRO + auditoría</a:t>
            </a:r>
            <a:endParaRPr lang="en-US" sz="1100" dirty="0"/>
          </a:p>
        </p:txBody>
      </p:sp>
      <p:sp>
        <p:nvSpPr>
          <p:cNvPr id="37" name="flecha"/>
          <p:cNvSpPr/>
          <p:nvPr/>
        </p:nvSpPr>
        <p:spPr>
          <a:xfrm>
            <a:off x="4855464" y="4411980"/>
            <a:ext cx="1920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38" name="card"/>
          <p:cNvSpPr/>
          <p:nvPr/>
        </p:nvSpPr>
        <p:spPr>
          <a:xfrm>
            <a:off x="5047488" y="365760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9" name="Text 37"/>
          <p:cNvSpPr/>
          <p:nvPr/>
        </p:nvSpPr>
        <p:spPr>
          <a:xfrm>
            <a:off x="5157216" y="376732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614416" y="378561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Armar payload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57216" y="425196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IngestPayload: agrega documento_id y archivos[]</a:t>
            </a:r>
            <a:endParaRPr lang="en-US" sz="1100" dirty="0"/>
          </a:p>
        </p:txBody>
      </p:sp>
      <p:sp>
        <p:nvSpPr>
          <p:cNvPr id="42" name="flecha"/>
          <p:cNvSpPr/>
          <p:nvPr/>
        </p:nvSpPr>
        <p:spPr>
          <a:xfrm>
            <a:off x="7104888" y="4411980"/>
            <a:ext cx="1920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43" name="card"/>
          <p:cNvSpPr/>
          <p:nvPr/>
        </p:nvSpPr>
        <p:spPr>
          <a:xfrm>
            <a:off x="7296912" y="365760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4" name="Text 42"/>
          <p:cNvSpPr/>
          <p:nvPr/>
        </p:nvSpPr>
        <p:spPr>
          <a:xfrm>
            <a:off x="7406640" y="376732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378561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POST ingest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406640" y="425196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POST /api/v1/documents/ingest con Bearer; esperar 201</a:t>
            </a:r>
            <a:endParaRPr lang="en-US" sz="1100" dirty="0"/>
          </a:p>
        </p:txBody>
      </p:sp>
      <p:sp>
        <p:nvSpPr>
          <p:cNvPr id="47" name="flecha"/>
          <p:cNvSpPr/>
          <p:nvPr/>
        </p:nvSpPr>
        <p:spPr>
          <a:xfrm>
            <a:off x="9354312" y="4411980"/>
            <a:ext cx="19202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48" name="card"/>
          <p:cNvSpPr/>
          <p:nvPr/>
        </p:nvSpPr>
        <p:spPr>
          <a:xfrm>
            <a:off x="9546336" y="3657600"/>
            <a:ext cx="20574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dash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9656064" y="3767328"/>
            <a:ext cx="384048" cy="38404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0113264" y="3785616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Responder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656064" y="425196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Respond to Webhook devuelve el JSON del backend al front</a:t>
            </a:r>
            <a:endParaRPr lang="en-US" sz="1100" dirty="0"/>
          </a:p>
        </p:txBody>
      </p:sp>
      <p:sp>
        <p:nvSpPr>
          <p:cNvPr id="52" name="flecha"/>
          <p:cNvSpPr/>
          <p:nvPr/>
        </p:nvSpPr>
        <p:spPr>
          <a:xfrm>
            <a:off x="10575036" y="2926080"/>
            <a:ext cx="0" cy="3657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3" name="flecha"/>
          <p:cNvSpPr/>
          <p:nvPr/>
        </p:nvSpPr>
        <p:spPr>
          <a:xfrm>
            <a:off x="1577340" y="3291840"/>
            <a:ext cx="8997696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flecha"/>
          <p:cNvSpPr/>
          <p:nvPr/>
        </p:nvSpPr>
        <p:spPr>
          <a:xfrm>
            <a:off x="1577340" y="3291840"/>
            <a:ext cx="0" cy="3657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55" name="Text 5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Borde verde: </a:t>
            </a:r>
            <a:r>
              <a:rPr lang="en-US" sz="1300" dirty="0">
                <a:solidFill>
                  <a:schemeClr val="tx1"/>
                </a:solidFill>
              </a:rPr>
              <a:t>nodos que llaman al backend (ya implementado). Ante cualquier error, una rama responde </a:t>
            </a: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status: "error", etapa, detalle }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8C00-6C6E-A2AC-C58B-F735BBF0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FAE480-1F4F-934D-B7CE-D763FBDA613E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flujo</a:t>
            </a:r>
            <a:r>
              <a:rPr lang="en-US" sz="3000" b="1" dirty="0">
                <a:solidFill>
                  <a:schemeClr val="tx2"/>
                </a:solidFill>
              </a:rPr>
              <a:t> Proceso N8N</a:t>
            </a:r>
            <a:endParaRPr lang="en-US" sz="3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440AFF3-A029-0FE8-2489-7EF33E5EDD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EEC0B-A60D-80BD-B89F-99A88DA93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313" y="922515"/>
            <a:ext cx="4659373" cy="501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82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Prompt dinámico y errores hacia el frontend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PROPUESTA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585216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PROMPT (EXTRACTO)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731520" y="1755648"/>
            <a:ext cx="54864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Eres un asistente de triaje clínico. Analiza el documento adjunto.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TIPOS DE DOCUMENTO PERMITIDOS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Elige EXACTAMENTE uno -&gt; clasificacion.tipo_documento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$json.tipos.map(t =&gt; `- codigo: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"${t.codigo}"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(${t.nombre})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${t.descripcion}` + (t.campos_extraccion ? ... : '')) }}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COLAS DE DESTINO PERMITIDAS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Elige EXACTAMENTE una -&gt; decision_enrutamiento.destino_principal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$json.colas.map(c =&gt; `- codigo: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"${c.codigo}"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`) }}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REGLAS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inventes valores fuera de estas listas.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nivel_prioridad: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"Rutina"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"Prioritario"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"Urgente"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score_confianza_clasificacion: </a:t>
            </a: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tu certeza real.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dudas, baja el score y marca requiere_auditoria_humana.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Responde SOLO con JSON válido.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Los tipos y colas no están escritos en el prompt: se leen de la BD en cada ejecución. Una cola nueva creada en el mantenedor se usa desde el siguiente documento.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Errores estandarizados n8n → front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783080"/>
          <a:ext cx="4873752" cy="2057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etapa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Cuándo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HTTP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AUTENTICACION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Backend respondió 401/403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401/403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VALIDACION_ARCHIVO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Formato no soportado o &gt; 10 MB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CLASIFICACION_IA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Gemini caído, timeout o JSON no parseable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INGESTA_BACKEND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/ingest respondió 400, 409, 422 o 500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code-bg"/>
          <p:cNvSpPr/>
          <p:nvPr/>
        </p:nvSpPr>
        <p:spPr>
          <a:xfrm>
            <a:off x="6766560" y="4160520"/>
            <a:ext cx="4873752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code"/>
          <p:cNvSpPr txBox="1"/>
          <p:nvPr/>
        </p:nvSpPr>
        <p:spPr>
          <a:xfrm>
            <a:off x="6949440" y="4297680"/>
            <a:ext cx="45079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"etapa"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"CLASIFICACION_IA"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"detalle"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 modelo no devolvió un JSON válido"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9"/>
          <p:cNvSpPr txBox="1"/>
          <p:nvPr/>
        </p:nvSpPr>
        <p:spPr>
          <a:xfrm>
            <a:off x="6766560" y="5486400"/>
            <a:ext cx="4873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Cualquier respuesta del backend distinta de 201 se informa como INGESTA_BACKEND.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7A14-21C4-7786-198E-1257060C6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4558C0-3B29-CA3F-7474-B7C3735684E9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Obtención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Catalogos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FastAPI</a:t>
            </a:r>
            <a:endParaRPr lang="en-US" sz="3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9EA1B03-E2FA-347A-9DD4-1069A80CFA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09FB642-5828-313A-705A-408325F89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49" y="1431700"/>
            <a:ext cx="11182709" cy="237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69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F4D4A-DED6-7340-6FA1-D62053AD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90187A-4D6C-C11B-910F-0D94C76D0BCB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Estructura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Invoación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FastAPI</a:t>
            </a:r>
            <a:endParaRPr lang="en-US" sz="3000" dirty="0"/>
          </a:p>
        </p:txBody>
      </p:sp>
      <p:sp>
        <p:nvSpPr>
          <p:cNvPr id="3" name="estado-pill">
            <a:extLst>
              <a:ext uri="{FF2B5EF4-FFF2-40B4-BE49-F238E27FC236}">
                <a16:creationId xmlns:a16="http://schemas.microsoft.com/office/drawing/2014/main" id="{BEA218AC-7083-3260-D19C-3F2275099FD3}"/>
              </a:ext>
            </a:extLst>
          </p:cNvPr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DF4BB5D-6CBB-1476-E7EF-456769E24D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8C6469-ECB6-FC92-68E5-E66729036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0" y="1051560"/>
            <a:ext cx="4841778" cy="491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95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Backend FastAPI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Cómo funciona, cómo se invoca y qué responde. Todo lo que sigue está verificado contra el código del repositorio.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Stack y organización del código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icon-circle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8988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chemeClr val="tx2"/>
                </a:solidFill>
              </a:rPr>
              <a:t>FastAPI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00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API asíncrona, OpenAPI en /docs</a:t>
            </a:r>
            <a:endParaRPr lang="en-US" sz="1200" dirty="0"/>
          </a:p>
        </p:txBody>
      </p:sp>
      <p:sp>
        <p:nvSpPr>
          <p:cNvPr id="8" name="icon-circle"/>
          <p:cNvSpPr/>
          <p:nvPr/>
        </p:nvSpPr>
        <p:spPr>
          <a:xfrm>
            <a:off x="548640" y="22037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9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408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17627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SQLAlchemy 2 async + asyncpg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PostgreSQL 16, sesión por request</a:t>
            </a:r>
            <a:endParaRPr lang="en-US" sz="1200" dirty="0"/>
          </a:p>
        </p:txBody>
      </p:sp>
      <p:sp>
        <p:nvSpPr>
          <p:cNvPr id="12" name="icon-circle"/>
          <p:cNvSpPr/>
          <p:nvPr/>
        </p:nvSpPr>
        <p:spPr>
          <a:xfrm>
            <a:off x="548640" y="29900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3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2724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2962656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Pydantic v2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273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Contratos de entrada y salida</a:t>
            </a:r>
            <a:endParaRPr lang="en-US" sz="1200" dirty="0"/>
          </a:p>
        </p:txBody>
      </p:sp>
      <p:sp>
        <p:nvSpPr>
          <p:cNvPr id="16" name="icon-circle"/>
          <p:cNvSpPr/>
          <p:nvPr/>
        </p:nvSpPr>
        <p:spPr>
          <a:xfrm>
            <a:off x="548640" y="37764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1363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374904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PyJWT + bcrypt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4059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Tokens HS256 y hash de contraseñas</a:t>
            </a:r>
            <a:endParaRPr lang="en-US" sz="1200" dirty="0"/>
          </a:p>
        </p:txBody>
      </p:sp>
      <p:sp>
        <p:nvSpPr>
          <p:cNvPr id="20" name="icon-circle"/>
          <p:cNvSpPr/>
          <p:nvPr/>
        </p:nvSpPr>
        <p:spPr>
          <a:xfrm>
            <a:off x="548640" y="45628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70001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453542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OCI Python SDK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34440" y="4846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Object Storage y URLs pre-firmadas</a:t>
            </a:r>
            <a:endParaRPr lang="en-US" sz="1200" dirty="0"/>
          </a:p>
        </p:txBody>
      </p:sp>
      <p:sp>
        <p:nvSpPr>
          <p:cNvPr id="24" name="icon-circle"/>
          <p:cNvSpPr/>
          <p:nvPr/>
        </p:nvSpPr>
        <p:spPr>
          <a:xfrm>
            <a:off x="548640" y="5349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5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48640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234440" y="532180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jsonschema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234440" y="5632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Valida campos_extraccion (Draft 2020-12)</a:t>
            </a:r>
            <a:endParaRPr lang="en-US" sz="1200" dirty="0"/>
          </a:p>
        </p:txBody>
      </p:sp>
      <p:sp>
        <p:nvSpPr>
          <p:cNvPr id="28" name="code-bg"/>
          <p:cNvSpPr/>
          <p:nvPr/>
        </p:nvSpPr>
        <p:spPr>
          <a:xfrm>
            <a:off x="5577840" y="1371600"/>
            <a:ext cx="6062472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1"/>
          <p:cNvSpPr txBox="1"/>
          <p:nvPr/>
        </p:nvSpPr>
        <p:spPr>
          <a:xfrm>
            <a:off x="5760720" y="1463040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ESTRUCTURA</a:t>
            </a:r>
            <a:endParaRPr lang="en-US" sz="1000" dirty="0"/>
          </a:p>
        </p:txBody>
      </p:sp>
      <p:sp>
        <p:nvSpPr>
          <p:cNvPr id="30" name="code"/>
          <p:cNvSpPr txBox="1"/>
          <p:nvPr/>
        </p:nvSpPr>
        <p:spPr>
          <a:xfrm>
            <a:off x="5760720" y="1755648"/>
            <a:ext cx="569671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         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app, CORS, routers, lifespan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core/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config.py   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Settings desde .env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database.py 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engine async + get_db()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security.py 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bcrypt + create_access_token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shared/oci_client.py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singleton: upload, delete, PAR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features/       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router por feature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auth/      -&gt; /auth, /users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documents/ -&gt; /documents (ingest, bandeja)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audit/     -&gt; /audit (claim, resolve, discard)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catalogs/  -&gt; /catalogs (colas, tipos, historial)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health/    -&gt; /health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577840" y="4846320"/>
            <a:ext cx="6062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Todas las rutas cuelgan de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</a:t>
            </a:r>
            <a:r>
              <a:rPr lang="en-US" sz="1400" dirty="0">
                <a:solidFill>
                  <a:schemeClr val="tx1"/>
                </a:solidFill>
              </a:rPr>
              <a:t>. El SDK de OCI es síncrono: cada llamada corre en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asyncio.to_thread</a:t>
            </a:r>
            <a:r>
              <a:rPr lang="en-US" sz="1400" dirty="0">
                <a:solidFill>
                  <a:schemeClr val="tx1"/>
                </a:solidFill>
              </a:rPr>
              <a:t> para no bloquear el event loop. Al iniciar, crea las tablas de tokens revocados, catálogos e historial si faltan. 98 tests con pytest.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Autenticación: login, JWT y revocación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REQUEST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731520" y="1755648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/api/v1/auth/login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application/json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"username"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"auditor_user"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"auditor123"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</p:txBody>
      </p:sp>
      <p:sp>
        <p:nvSpPr>
          <p:cNvPr id="7" name="code-bg"/>
          <p:cNvSpPr/>
          <p:nvPr/>
        </p:nvSpPr>
        <p:spPr>
          <a:xfrm>
            <a:off x="548640" y="288036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RESPONSE 200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31520" y="3264408"/>
            <a:ext cx="512064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"access_token"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"eyJhbGciOiJIUzI1NiIsInR5cCI6IkpXVCJ9..."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"token_type"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"bearer"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"7c1d3b2a-5e0f-4a8b-9c11-2f6e4d8a9b01"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"username"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"auditor_user"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"auditor.clinico@mediflow.cl"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"full_name"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 Clínico MediFlow"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"AUDITOR_CLINICO"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Rutas sin token: solo POST /auth/login y GET /health.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417320"/>
            <a:ext cx="438912" cy="43891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664208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Verifica el hash bcrypt. Si falla: 401 "Usuario o contraseña incorrectos".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86584"/>
            <a:ext cx="438912" cy="43891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340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Token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633472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JWT HS256 con solo sub (username), exp y jti. El rol NO va en el token.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355848"/>
            <a:ext cx="438912" cy="43891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Cada request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602736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get_current_user decodifica, revisa que el jti no esté revocado y que el usuario exista y esté activo. Si no: 401 "Credenciales inválidas o expiradas".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325112"/>
            <a:ext cx="438912" cy="43891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572000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require_roles([...]) compara con el rol leído de la BD. Si no calza: 403 "Permiso denegado...".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5294376"/>
            <a:ext cx="438912" cy="43891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5248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Logout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5541264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POST /auth/logout guarda el jti en revoked_tokens hasta su exp. Responde 204.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5C0A-79CC-DCBE-DE20-58C17E9E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BDC46D-531B-C758-F989-501F24FB4DD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Secuencia</a:t>
            </a:r>
            <a:r>
              <a:rPr lang="en-US" sz="3000" b="1" dirty="0">
                <a:solidFill>
                  <a:schemeClr val="tx2"/>
                </a:solidFill>
              </a:rPr>
              <a:t> Login / Logout</a:t>
            </a:r>
            <a:endParaRPr lang="en-US" sz="3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4E0A4E8-BB1B-C7AE-781E-DFDFA5E5C5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430080-2221-82CE-89A5-11FFDC0A9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638" y="1254558"/>
            <a:ext cx="6640653" cy="48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98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Control de acceso por rol (RBAC)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95020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Capacidad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ADMIN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AUDITOR_CLINICO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GESTOR_USUARIOS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Ingestar documentos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/documents/ingest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Bandeja documental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/documents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Todos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Todos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los suyos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Ver, tomar, resolver y descartar casos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/audit/{id}/...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Liberar un caso tomado por otro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/audit/{id}/claim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Leer catálogos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/catalogs/...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Crear, editar, eliminar catálogos e historial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POST·PUT·DELETE /catalogs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Gestionar usuarios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/users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Perfil propio y contraseña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/users/me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icon-circle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235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440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Reglas finas: solo un ADMIN puede otorgar el rol ADMIN (si un GESTOR_USUARIOS lo intenta: 403). Desactivar un usuario (is_active = false) corta su acceso aunque tenga un token vigente. El filtro del OPERADOR lo aplica el backend por uploaded_by_id.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POST /documents/ingest: cómo se invoca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6949440" cy="4800600"/>
          </a:xfrm>
          <a:prstGeom prst="roundRect">
            <a:avLst>
              <a:gd name="adj" fmla="val 15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REQUEST (IngestPayload · patrón Envelope)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731520" y="1755648"/>
            <a:ext cx="6583680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/api/v1/documents/ingest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Bearer &lt;token del usuario, reenviado por n8n&gt;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"documento_id"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"3f2b8c1e-7a4d-4e9b-9b2a-1c5d6e7f8a01"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"archivos"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"tipo_archivo"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"PDF"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"archivo_base64"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"JVBERi0x..."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"documento_principal"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"clasificacion"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"tipo_documento"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"RECETA"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"especialidad"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"Medicina Interna"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"nivel_prioridad"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"Rutina"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"score_confianza_clasificacion"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"datos_generales"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"paciente"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"8.765.432-1"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"María José Fuentes Rojas"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"edad"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"medico_solicitante"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"12.987.654-3"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"Dr. Andrés Muñoz Pérez"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"matricula"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"diagnostico_principal"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"Hipertensión arterial esencial"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"cie10_sugerido"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"I10"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"detalle_clinico"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"medicamentos"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"Losartán 50 mg"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"dosis"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 comprimido cada 12 horas"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"duracion_tratamiento"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 días"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] },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"decision_enrutamiento"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"destino_principal"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"Farmacia_Hospitalaria"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"requiere_auditoria_humana"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"notificacion_generada"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"justificacion_enrutamiento"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"Receta de antihipertensivos de uso habitual."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37160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documento_id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64592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Texto ≤ 64, lo genera n8n. Repetido → 409.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17627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archivos[]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450592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Mínimo 1. PDF, PNG, JPG, TIFF o DCM; el primero (principal) solo PDF/PNG/JPG. Base64 puro, sin data:...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98094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clasificacion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3255264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nivel_prioridad: Rutina | Prioritario | Urgente. Score entre 0 y 1.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78561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datos_generales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059936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paciente y medico_solicitante obligatorios; sus campos aceptan null.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59028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detalle_clinico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864608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Solo el bloque del tipo ({} para OTRO).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539496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decision_enrutamiento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566928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Cola, bandera de auditoría, justificación y notificación opcional.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E4CA-431C-BA03-E956-A242DBF30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DCA01D-F2CF-8F0C-177D-02FB92DDCFC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Secuencia</a:t>
            </a:r>
            <a:r>
              <a:rPr lang="en-US" sz="3000" b="1" dirty="0">
                <a:solidFill>
                  <a:schemeClr val="tx2"/>
                </a:solidFill>
              </a:rPr>
              <a:t> de Ingesta</a:t>
            </a:r>
            <a:endParaRPr lang="en-US" sz="3000" dirty="0"/>
          </a:p>
        </p:txBody>
      </p:sp>
      <p:sp>
        <p:nvSpPr>
          <p:cNvPr id="3" name="estado-pill">
            <a:extLst>
              <a:ext uri="{FF2B5EF4-FFF2-40B4-BE49-F238E27FC236}">
                <a16:creationId xmlns:a16="http://schemas.microsoft.com/office/drawing/2014/main" id="{E3415451-1DCA-25B3-2B47-8411CA84AB2A}"/>
              </a:ext>
            </a:extLst>
          </p:cNvPr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7EB8AB0-B562-6952-27A1-AF7D46D059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23456DA-7CBD-C40D-A0B7-35EE52456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766" y="1109119"/>
            <a:ext cx="7964496" cy="522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13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detalle_clinico: un bloque por tipo de documento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460857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Tipo (codigo)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Bloque en detalle_clinico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Además se normaliza en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RECETA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medicamentos[]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clinical_document_medications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LABORATORIO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examenes_y_laboratorio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lab_panels + lab_parameters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EPICRISIS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procedimientos_e_internacion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clinical_document_procedures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IMAGENES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informe_imagenologico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Solo raw_extracted_json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SOLICITUD_PROCEDIMIENTO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solicitud_procedimiento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Solo raw_extracted_json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INTERCONSULTA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interconsulta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Solo raw_extracted_json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ANATOMIA_PATOLOGICA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anatomia_patologica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Solo raw_extracted_json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PROTOCOLO_OPERATORIO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protocolo_operatorio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Solo raw_extracted_json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NOTA_ATENCION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nota_atencion_ambulatoria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Solo raw_extracted_json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OTRO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{} (sin bloque); siempre va a auditoría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Tipo nuevo con campos_extraccion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campos_adicionales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Validado con su JSON Schema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366760" y="1371600"/>
            <a:ext cx="3273552" cy="4800600"/>
          </a:xfrm>
          <a:prstGeom prst="roundRect">
            <a:avLst>
              <a:gd name="adj" fmla="val 2235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icon-circle"/>
          <p:cNvSpPr/>
          <p:nvPr/>
        </p:nvSpPr>
        <p:spPr>
          <a:xfrm>
            <a:off x="85953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6916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8116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Reglas del bloque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2286000"/>
            <a:ext cx="2880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bloque que no corresponde al tipo → motivo de auditoría (no se rechaza).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 falta el bloque, no se genera motivo.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 respuesta y el JSON guardado solo incluyen el bloque poblado; los demás null se omiten.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Todo el payload (sin base64) queda en raw_extracted_json (JSONB).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C1E5-DFF6-179B-01AB-0A8C516B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C606E4-8E1D-E44C-957B-476F08E1CD5A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Estructura</a:t>
            </a:r>
            <a:r>
              <a:rPr lang="en-US" sz="3000" b="1" dirty="0">
                <a:solidFill>
                  <a:schemeClr val="tx2"/>
                </a:solidFill>
              </a:rPr>
              <a:t> de Ingesta</a:t>
            </a:r>
            <a:endParaRPr lang="en-US" sz="3000" dirty="0"/>
          </a:p>
        </p:txBody>
      </p:sp>
      <p:sp>
        <p:nvSpPr>
          <p:cNvPr id="3" name="estado-pill">
            <a:extLst>
              <a:ext uri="{FF2B5EF4-FFF2-40B4-BE49-F238E27FC236}">
                <a16:creationId xmlns:a16="http://schemas.microsoft.com/office/drawing/2014/main" id="{D6B49AE3-402E-0423-8FF4-9A9F2B01D877}"/>
              </a:ext>
            </a:extLst>
          </p:cNvPr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F8D61D5-8EFC-30F7-A433-A1F2C8BCB7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7943A3-E4B1-5690-91D3-594E9F382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68" y="1051560"/>
            <a:ext cx="8026006" cy="509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09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Triaje determinista: 7 reglas en _audit_reasons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74066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173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Score bajo el umbral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score &lt; 0.85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4173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 de confianza 0.81 menor al umbral 0.85"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548640" y="2057400"/>
            <a:ext cx="74066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658368" y="216712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031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 IA pidió revisión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requiere_auditoria_humana = true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1031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 workflow solicitó auditoría humana"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548640" y="2743200"/>
            <a:ext cx="74066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58368" y="285292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7889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Tipo comodín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tipo_documento == "OTRO"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7889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 no clasificable (tipo OTRO)"</a:t>
            </a:r>
            <a:endParaRPr lang="en-US" sz="1050" dirty="0"/>
          </a:p>
        </p:txBody>
      </p:sp>
      <p:sp>
        <p:nvSpPr>
          <p:cNvPr id="16" name="card"/>
          <p:cNvSpPr/>
          <p:nvPr/>
        </p:nvSpPr>
        <p:spPr>
          <a:xfrm>
            <a:off x="548640" y="3429000"/>
            <a:ext cx="74066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4747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Tipo fuera de catálogo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no existe o está inactivo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4747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 tipo de documento 'X' no existe o está inactivo en el catálogo"</a:t>
            </a:r>
            <a:endParaRPr lang="en-US" sz="1050" dirty="0"/>
          </a:p>
        </p:txBody>
      </p:sp>
      <p:sp>
        <p:nvSpPr>
          <p:cNvPr id="20" name="card"/>
          <p:cNvSpPr/>
          <p:nvPr/>
        </p:nvSpPr>
        <p:spPr>
          <a:xfrm>
            <a:off x="548640" y="4114800"/>
            <a:ext cx="74066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658368" y="422452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1605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Cola fuera de catálogo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no existe o está inactiva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1605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 cola 'X' no existe o está inactiva en el catálogo"</a:t>
            </a:r>
            <a:endParaRPr lang="en-US" sz="1050" dirty="0"/>
          </a:p>
        </p:txBody>
      </p:sp>
      <p:sp>
        <p:nvSpPr>
          <p:cNvPr id="24" name="card"/>
          <p:cNvSpPr/>
          <p:nvPr/>
        </p:nvSpPr>
        <p:spPr>
          <a:xfrm>
            <a:off x="548640" y="4800600"/>
            <a:ext cx="74066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658368" y="491032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463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Bloque incoherente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bloque distinto al del tipo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48463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"detalle_clinico trae [...] pero el tipo 'X' espera [...]"</a:t>
            </a:r>
            <a:endParaRPr lang="en-US" sz="1050" dirty="0"/>
          </a:p>
        </p:txBody>
      </p:sp>
      <p:sp>
        <p:nvSpPr>
          <p:cNvPr id="28" name="card"/>
          <p:cNvSpPr/>
          <p:nvPr/>
        </p:nvSpPr>
        <p:spPr>
          <a:xfrm>
            <a:off x="548640" y="5486400"/>
            <a:ext cx="740664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658368" y="559612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55321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Esquema dinámico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campos_adicionales viola el JSON Schema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55321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"campos_adicionales no cumple el esquema del tipo 'X': ..."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1040" y="1371600"/>
            <a:ext cx="3319272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0 motivos</a:t>
            </a:r>
            <a:endParaRPr lang="en-US" sz="1500" dirty="0"/>
          </a:p>
        </p:txBody>
      </p:sp>
      <p:sp>
        <p:nvSpPr>
          <p:cNvPr id="33" name="card"/>
          <p:cNvSpPr/>
          <p:nvPr/>
        </p:nvSpPr>
        <p:spPr>
          <a:xfrm>
            <a:off x="8321040" y="1828800"/>
            <a:ext cx="331927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 txBox="1"/>
          <p:nvPr/>
        </p:nvSpPr>
        <p:spPr>
          <a:xfrm>
            <a:off x="8503920" y="19019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PROCESADO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Enrutado automático a la cola elegida.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procesados/{prioridad}/{id}.json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21040" y="3200400"/>
            <a:ext cx="3319272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≥ 1 motivo</a:t>
            </a:r>
            <a:endParaRPr lang="en-US" sz="1500" dirty="0"/>
          </a:p>
        </p:txBody>
      </p:sp>
      <p:sp>
        <p:nvSpPr>
          <p:cNvPr id="36" name="card"/>
          <p:cNvSpPr/>
          <p:nvPr/>
        </p:nvSpPr>
        <p:spPr>
          <a:xfrm>
            <a:off x="8321040" y="3657600"/>
            <a:ext cx="331927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 txBox="1"/>
          <p:nvPr/>
        </p:nvSpPr>
        <p:spPr>
          <a:xfrm>
            <a:off x="8503920" y="37307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PENDIENTE_AUDITORIA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Aislado para revisión humana.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auditoria_humana/{id}.json</a:t>
            </a:r>
            <a:endParaRPr lang="en-US" sz="1300" dirty="0"/>
          </a:p>
        </p:txBody>
      </p:sp>
      <p:sp>
        <p:nvSpPr>
          <p:cNvPr id="38" name="card"/>
          <p:cNvSpPr/>
          <p:nvPr/>
        </p:nvSpPr>
        <p:spPr>
          <a:xfrm>
            <a:off x="8321040" y="5029200"/>
            <a:ext cx="3319272" cy="1133856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9" name="Text 37"/>
          <p:cNvSpPr txBox="1"/>
          <p:nvPr/>
        </p:nvSpPr>
        <p:spPr>
          <a:xfrm>
            <a:off x="8503920" y="5102352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 tipo o cola inventados no dan error 4xx: el documento se guarda (201) y queda en auditoría. Los motivos se acumulan.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Persistencia con compensación (patrón Saga)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" name="icon-circle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0 · Validar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51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Pydantic (422), base64 (400), documento_id ya existe (409). Lee tipos y colas activos y calcula los motivos.</a:t>
            </a:r>
            <a:endParaRPr lang="en-US" sz="1300" dirty="0"/>
          </a:p>
        </p:txBody>
      </p:sp>
      <p:sp>
        <p:nvSpPr>
          <p:cNvPr id="9" name="flecha"/>
          <p:cNvSpPr/>
          <p:nvPr/>
        </p:nvSpPr>
        <p:spPr>
          <a:xfrm>
            <a:off x="3154680" y="2606040"/>
            <a:ext cx="21031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card"/>
          <p:cNvSpPr/>
          <p:nvPr/>
        </p:nvSpPr>
        <p:spPr>
          <a:xfrm>
            <a:off x="3364992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icon-circle"/>
          <p:cNvSpPr/>
          <p:nvPr/>
        </p:nvSpPr>
        <p:spPr>
          <a:xfrm>
            <a:off x="354787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7872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1 · Subir binarios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2651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recibidos/{id}/{n}.{ext} en OCI, con su content-type. Los originales nunca se mueven.</a:t>
            </a:r>
            <a:endParaRPr lang="en-US" sz="1300" dirty="0"/>
          </a:p>
        </p:txBody>
      </p:sp>
      <p:sp>
        <p:nvSpPr>
          <p:cNvPr id="15" name="flecha"/>
          <p:cNvSpPr/>
          <p:nvPr/>
        </p:nvSpPr>
        <p:spPr>
          <a:xfrm>
            <a:off x="5971032" y="2606040"/>
            <a:ext cx="21031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6" name="card"/>
          <p:cNvSpPr/>
          <p:nvPr/>
        </p:nvSpPr>
        <p:spPr>
          <a:xfrm>
            <a:off x="6181344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7" name="icon-circle"/>
          <p:cNvSpPr/>
          <p:nvPr/>
        </p:nvSpPr>
        <p:spPr>
          <a:xfrm>
            <a:off x="6364224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7373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64224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2 · Subir JSON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64224" y="2651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El payload sin base64 + archivos[].ruta_oci + triaje (estado, motivos, quién subió).</a:t>
            </a:r>
            <a:endParaRPr lang="en-US" sz="1300" dirty="0"/>
          </a:p>
        </p:txBody>
      </p:sp>
      <p:sp>
        <p:nvSpPr>
          <p:cNvPr id="21" name="flecha"/>
          <p:cNvSpPr/>
          <p:nvPr/>
        </p:nvSpPr>
        <p:spPr>
          <a:xfrm>
            <a:off x="8787384" y="2606040"/>
            <a:ext cx="21031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2" name="card"/>
          <p:cNvSpPr/>
          <p:nvPr/>
        </p:nvSpPr>
        <p:spPr>
          <a:xfrm>
            <a:off x="8997696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3" name="icon-circle"/>
          <p:cNvSpPr/>
          <p:nvPr/>
        </p:nvSpPr>
        <p:spPr>
          <a:xfrm>
            <a:off x="9180576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4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17373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80576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· Commit en PostgreSQL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80576" y="2651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clinical_documents + adjuntos + tablas hijas en una transacción. Responde 201.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3364992" y="4069080"/>
            <a:ext cx="5422392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icon-circle"/>
          <p:cNvSpPr/>
          <p:nvPr/>
        </p:nvSpPr>
        <p:spPr>
          <a:xfrm>
            <a:off x="3547872" y="423367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29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2172" y="4347972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11480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Falla OCI en paso 1 o 2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4114800" y="45994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Borra lo ya subido y responde 500: "No fue posible almacenar los archivos del documento en OCI Object Storage".</a:t>
            </a:r>
            <a:endParaRPr lang="en-US" sz="1300" dirty="0"/>
          </a:p>
        </p:txBody>
      </p:sp>
      <p:sp>
        <p:nvSpPr>
          <p:cNvPr id="32" name="card"/>
          <p:cNvSpPr/>
          <p:nvPr/>
        </p:nvSpPr>
        <p:spPr>
          <a:xfrm>
            <a:off x="8970264" y="4069080"/>
            <a:ext cx="2670048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26"/>
          <p:cNvSpPr txBox="1"/>
          <p:nvPr/>
        </p:nvSpPr>
        <p:spPr>
          <a:xfrm>
            <a:off x="914400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Falla la BD en paso 3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0" y="45994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Rollback + borra lo subido. 500: "No fue posible registrar el documento en la base de datos".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40690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Por qué este orden: </a:t>
            </a:r>
            <a:r>
              <a:rPr lang="en-US" sz="1200" dirty="0">
                <a:solidFill>
                  <a:schemeClr val="tx1"/>
                </a:solidFill>
              </a:rPr>
              <a:t>OCI y PostgreSQL no comparten transacción. Subir primero a OCI garantiza que nunca quede una fila en la BD apuntando a un archivo inexistente.</a:t>
            </a:r>
            <a:endParaRPr lang="en-US" sz="1200" dirty="0"/>
          </a:p>
        </p:txBody>
      </p:sp>
      <p:sp>
        <p:nvSpPr>
          <p:cNvPr id="36" name="card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0"/>
          <p:cNvSpPr txBox="1"/>
          <p:nvPr/>
        </p:nvSpPr>
        <p:spPr>
          <a:xfrm>
            <a:off x="777240" y="5760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Mismo patrón en auditoría: </a:t>
            </a:r>
            <a:r>
              <a:rPr lang="en-US" sz="1300" dirty="0">
                <a:solidFill>
                  <a:schemeClr val="tx1"/>
                </a:solidFill>
              </a:rPr>
              <a:t>se sube el JSON nuevo, se hace commit y solo entonces se borra el JSON anterior.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C5725-5685-F1BC-4869-86EE1C282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C0C164-921D-B249-4BD8-70FA24EF0B20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Compensación</a:t>
            </a:r>
            <a:r>
              <a:rPr lang="en-US" sz="3000" b="1" dirty="0">
                <a:solidFill>
                  <a:schemeClr val="tx2"/>
                </a:solidFill>
              </a:rPr>
              <a:t> Ingesta</a:t>
            </a:r>
            <a:endParaRPr lang="en-US" sz="3000" dirty="0"/>
          </a:p>
        </p:txBody>
      </p:sp>
      <p:sp>
        <p:nvSpPr>
          <p:cNvPr id="3" name="estado-pill">
            <a:extLst>
              <a:ext uri="{FF2B5EF4-FFF2-40B4-BE49-F238E27FC236}">
                <a16:creationId xmlns:a16="http://schemas.microsoft.com/office/drawing/2014/main" id="{D737F4A7-794A-4072-ED75-35E80F8954D5}"/>
              </a:ext>
            </a:extLst>
          </p:cNvPr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347F045-A31A-60E0-5E65-59B8670D11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E07923-A350-4ED0-0599-81E6637AA0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389"/>
          <a:stretch>
            <a:fillRect/>
          </a:stretch>
        </p:blipFill>
        <p:spPr>
          <a:xfrm>
            <a:off x="392240" y="1164565"/>
            <a:ext cx="5536082" cy="47100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E6BE40D-70B1-0619-4C75-35848154CE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390" t="50000"/>
          <a:stretch>
            <a:fillRect/>
          </a:stretch>
        </p:blipFill>
        <p:spPr>
          <a:xfrm>
            <a:off x="6202392" y="1451678"/>
            <a:ext cx="3519578" cy="46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21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Qué responde la ingesta: códigos HTTP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453542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HTTP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Cuándo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detail (ejemplo real)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201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Documento guardado (PROCESADO o PENDIENTE_AUDITORIA)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IngestResponse completo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archivo_base64 no es base64 válido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El campo archivo_base64 no contiene un base64 válido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401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Token ausente, inválido, vencido o revocado; usuario inactivo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Credenciales inválidas o expiradas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403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Rol GESTOR_USUARIOS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Permiso denegado: se requiere uno de los siguientes roles: [...]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409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documento_id ya ingresado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El documento {id} ya fue ingresado (estado PROCESADO)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422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JSON que no cumple el contrato (campo faltante, prioridad inválida, score &gt; 1, principal TIFF/DCM)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Lista de errores de Pydantic con loc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Falla de OCI o de PostgreSQL (con compensación)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fue posible almacenar los archivos... / registrar el documento...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ode-bg"/>
          <p:cNvSpPr/>
          <p:nvPr/>
        </p:nvSpPr>
        <p:spPr>
          <a:xfrm>
            <a:off x="7772400" y="1371600"/>
            <a:ext cx="3867912" cy="36118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3"/>
          <p:cNvSpPr txBox="1"/>
          <p:nvPr/>
        </p:nvSpPr>
        <p:spPr>
          <a:xfrm>
            <a:off x="7955280" y="146304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EJEMPLO 422 (LLM OMITIÓ UN CAMPO)</a:t>
            </a:r>
            <a:endParaRPr lang="en-US" sz="1000" dirty="0"/>
          </a:p>
        </p:txBody>
      </p:sp>
      <p:sp>
        <p:nvSpPr>
          <p:cNvPr id="7" name="code"/>
          <p:cNvSpPr txBox="1"/>
          <p:nvPr/>
        </p:nvSpPr>
        <p:spPr>
          <a:xfrm>
            <a:off x="7955280" y="1755648"/>
            <a:ext cx="350215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"detail"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"missing"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"body"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"clasificacion"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"nivel_prioridad"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"msg"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 required"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"tipo_documento"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"RECETA"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"score_confianza_clasificacion"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512064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loc indica la ruta exacta del campo: es lo primero que hay que mirar al depurar el JSON que arma n8n.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Respuesta 201: IngestResponse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CASO PROCESADO (RECETA)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731520" y="1755648"/>
            <a:ext cx="594360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"PROCESADO"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"documento_id"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"3f2b8c1e-7a4d-4e9b-9b2a-1c5d6e7f8a01"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"motivos_auditoria"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[],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"clasificacion"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"tipo_documento"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"RECETA"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"especialidad"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"Medicina Interna"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"nivel_prioridad"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"Rutina"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"score_confianza_clasificacion"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"datos_generales"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... igual a lo recibido ... },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"detalle_clinico"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"medicamentos"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... ] },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"decision_enrutamiento"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"destino_principal"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"Farmacia_Hospitalaria"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 },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"almacenamiento_oci"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"bucket"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"mediflow-documents"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"ruta_objeto"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"procesados/rutina/3f2b8c1e-....json"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"rutas_binarios"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"recibidos/3f2b8c1e-.../0.pdf"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"status_backup"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"exito"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code-bg"/>
          <p:cNvSpPr/>
          <p:nvPr/>
        </p:nvSpPr>
        <p:spPr>
          <a:xfrm>
            <a:off x="7132320" y="1371600"/>
            <a:ext cx="4507992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7315200" y="146304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CASO A AUDITORÍA (INTERCONSULTA)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315200" y="1755648"/>
            <a:ext cx="414223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"PENDIENTE_AUDITORIA"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"motivos_auditoria"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 de confianza 0.81 menor al umbral 0.85"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 workflow solicitó auditoría humana"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"almacenamiento_oci"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"ruta_objeto"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"auditoria_humana/f8a9b0c1-....json"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977640"/>
            <a:ext cx="4507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status</a:t>
            </a:r>
            <a:r>
              <a:rPr lang="en-US" sz="1400" dirty="0">
                <a:solidFill>
                  <a:schemeClr val="tx1"/>
                </a:solidFill>
              </a:rPr>
              <a:t> y </a:t>
            </a:r>
            <a:r>
              <a:rPr lang="en-US" sz="1400" b="1" dirty="0">
                <a:solidFill>
                  <a:schemeClr val="accent1"/>
                </a:solidFill>
              </a:rPr>
              <a:t>motivos_auditoria</a:t>
            </a:r>
            <a:r>
              <a:rPr lang="en-US" sz="1400" dirty="0">
                <a:solidFill>
                  <a:schemeClr val="tx1"/>
                </a:solidFill>
              </a:rPr>
              <a:t>: la decisión del backend.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Eco de lo recibido</a:t>
            </a:r>
            <a:r>
              <a:rPr lang="en-US" sz="1400" dirty="0">
                <a:solidFill>
                  <a:schemeClr val="tx1"/>
                </a:solidFill>
              </a:rPr>
              <a:t> (sin base64) para que el front lo muestre.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almacenamiento_oci</a:t>
            </a:r>
            <a:r>
              <a:rPr lang="en-US" sz="1400" dirty="0">
                <a:solidFill>
                  <a:schemeClr val="tx1"/>
                </a:solidFill>
              </a:rPr>
              <a:t>: dónde quedó el JSON y cada binario.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150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Es lo que n8n devuelve tal cual al frontend en "Respond to Webhook".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0DDC4E12-AE31-1974-F06E-6FA40F6F7C20}"/>
                  </a:ext>
                </a:extLst>
              </p14:cNvPr>
              <p14:cNvContentPartPr/>
              <p14:nvPr/>
            </p14:nvContentPartPr>
            <p14:xfrm>
              <a:off x="749880" y="1796040"/>
              <a:ext cx="5356440" cy="29901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0DDC4E12-AE31-1974-F06E-6FA40F6F7C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520" y="1786680"/>
                <a:ext cx="5375160" cy="300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OCI Object Storage y ciclo de vida del documento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BUCKET (OCI_BUCKET_NAME)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731520" y="1755648"/>
            <a:ext cx="502920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mediflow-documents/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recibidos/{documento_id}/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originales, inmutables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0.pdf              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principal (preview)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1.jpg, 2.jpg ...   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imágenes de respaldo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procesados/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rutina/{id}.json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prioritario/{id}.json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urgente/{id}.json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auditados/{id}.json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corregidos por auditor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auditoria_humana/{id}.json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pendientes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descartados/{id}.json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Los binarios nunca se mueven. El JSON sí cambia de carpeta: se sube el nuevo, se hace commit y recién entonces se borra el anterior.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Ingesta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24688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PROCESADO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procesados/{prioridad}/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2496312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PENDIENTE_AUDITORIA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auditoria_humana/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Auditor</a:t>
            </a:r>
            <a:endParaRPr lang="en-US" sz="1300" dirty="0"/>
          </a:p>
        </p:txBody>
      </p:sp>
      <p:sp>
        <p:nvSpPr>
          <p:cNvPr id="12" name="flecha"/>
          <p:cNvSpPr/>
          <p:nvPr/>
        </p:nvSpPr>
        <p:spPr>
          <a:xfrm>
            <a:off x="9784080" y="2651760"/>
            <a:ext cx="0" cy="86868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3" name="flecha"/>
          <p:cNvSpPr/>
          <p:nvPr/>
        </p:nvSpPr>
        <p:spPr>
          <a:xfrm>
            <a:off x="11018520" y="2651760"/>
            <a:ext cx="0" cy="86868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8458200" y="352044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AUDITADO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/resolve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87000" y="3520440"/>
            <a:ext cx="1353312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DESCARTADO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/discard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4434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procesados/auditados/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287000" y="44348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descartados/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6309360" y="4937760"/>
            <a:ext cx="53309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 txBox="1"/>
          <p:nvPr/>
        </p:nvSpPr>
        <p:spPr>
          <a:xfrm>
            <a:off x="6492240" y="50292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Estados finales: </a:t>
            </a:r>
            <a:r>
              <a:rPr lang="en-US" sz="1300" dirty="0">
                <a:solidFill>
                  <a:schemeClr val="tx1"/>
                </a:solidFill>
              </a:rPr>
              <a:t>PROCESADO, AUDITADO y DESCARTADO no cambian más. Solo PENDIENTE_AUDITORIA puede avanzar. El estado vive en clinical_documents.estado y en triaje.estado del JSON.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Bandeja documental: GET /documents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code"/>
          <p:cNvSpPr txBox="1"/>
          <p:nvPr/>
        </p:nvSpPr>
        <p:spPr>
          <a:xfrm>
            <a:off x="731520" y="150876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/api/v1/documents?estado=PENDIENTE_AUDITORIA&amp;page=</a:t>
            </a: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&amp;page_size=</a:t>
            </a:r>
            <a:r>
              <a:rPr lang="en-US" sz="12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Bearer &lt;token&gt;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120640" cy="2804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Parámetro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 / page_size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Desde 1; 1 a 100 (por defecto 20)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estado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PENDIENTE_AUDITORIA, PROCESADO, AUDITADO, DESCARTADO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destino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Código de cola (ej. Cola_Emergencia_Medica)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RUT exacto del paciente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prioridad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Rutina, Prioritario o Urgente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fecha_desde / fecha_hasta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Rango sobre created_at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257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Orden: más reciente primero.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OPERADOR: el backend filtra por uploaded_by_id.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 resultados: message = "No hay documentos con los filtros utilizados".</a:t>
            </a:r>
            <a:endParaRPr lang="en-US" sz="1300" dirty="0"/>
          </a:p>
        </p:txBody>
      </p:sp>
      <p:sp>
        <p:nvSpPr>
          <p:cNvPr id="8" name="code-bg"/>
          <p:cNvSpPr/>
          <p:nvPr/>
        </p:nvSpPr>
        <p:spPr>
          <a:xfrm>
            <a:off x="5943600" y="2377440"/>
            <a:ext cx="5696712" cy="3794760"/>
          </a:xfrm>
          <a:prstGeom prst="roundRect">
            <a:avLst>
              <a:gd name="adj" fmla="val 192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 txBox="1"/>
          <p:nvPr/>
        </p:nvSpPr>
        <p:spPr>
          <a:xfrm>
            <a:off x="6126480" y="2468880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RESPONSE 200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6126480" y="2761488"/>
            <a:ext cx="5330952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"items"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"documento_id"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"3f2b8c1e-..."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"estado"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"PROCESADO"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"rut_paciente"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"8.765.432-1"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"nombre_paciente"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"María José Fuentes Rojas"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"tipo_documento"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"RECETA"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"nivel_prioridad"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"Rutina"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"score_confianza"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"destino_enrutamiento"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"Farmacia_Hospitalaria"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"oci_json_path"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"procesados/rutina/3f2b8c1e-....json"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"motivos_auditoria"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[],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"asignado_a_username"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"2026-10-03T02:17:23.275950Z"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"page"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"page_size"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"total_pages"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Auditoría (2/2): resolver o descartar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RESOLVER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731520" y="1755648"/>
            <a:ext cx="512064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/api/v1/audit/{documento_id}/resolve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"rut_paciente"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"7.654.321-5"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"nombre_paciente"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"Héctor Manuel Soto Carrasco"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"medico_nombre"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"Dr. Rodrigo Espinoza Fuentes"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"medico_rut"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"13.579.135-7"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"tipo_documento"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"INTERCONSULTA"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"nivel_prioridad"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"Prioritario"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"diagnostico_principal"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"Fibrilación auricular ..."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"destino_enrutamiento"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"Gestion_Interconsultas"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"detalle_clinico"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"interconsulta"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... } },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"audit_notes"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 verificado contra admisión."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code-bg"/>
          <p:cNvSpPr/>
          <p:nvPr/>
        </p:nvSpPr>
        <p:spPr>
          <a:xfrm>
            <a:off x="548640" y="47091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code"/>
          <p:cNvSpPr txBox="1"/>
          <p:nvPr/>
        </p:nvSpPr>
        <p:spPr>
          <a:xfrm>
            <a:off x="731520" y="484632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/api/v1/audit/{documento_id}/discard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"motivo"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"Consentimiento ilegible, sin datos del paciente."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 resolver, el backend…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783080"/>
            <a:ext cx="5285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Exige rut, nombre, diagnóstico y audit_notes no vacíos (422). especialidad y detalle_clinico son opcionales: si faltan, conserva los de la IA.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Revalida tipo, cola y bloque contra los catálogos activos: si algo falla, 422 con la lista de errores.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 auditoria.campos_corregidos (antes/después) y guarda lo original en version_ia.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Sube procesados/auditados/{id}.json, hace commit con estado AUDITADO y borra auditoria_humana/{id}.json.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355080" y="4709160"/>
            <a:ext cx="528523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90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 txBox="1"/>
          <p:nvPr/>
        </p:nvSpPr>
        <p:spPr>
          <a:xfrm>
            <a:off x="6537960" y="47548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Descartar: </a:t>
            </a:r>
            <a:r>
              <a:rPr lang="en-US" sz="1300" dirty="0">
                <a:solidFill>
                  <a:schemeClr val="tx1"/>
                </a:solidFill>
              </a:rPr>
              <a:t>guarda descartados/{id}.json con auditoria.motivo y estado DESCARTADO.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Respuestas: </a:t>
            </a:r>
            <a:r>
              <a:rPr lang="en-US" sz="1300" dirty="0">
                <a:solidFill>
                  <a:schemeClr val="tx1"/>
                </a:solidFill>
              </a:rPr>
              <a:t>200 con el ítem de bandeja actualizado · 404 si el documento no existe · 409 si ya no está pendiente o lo tiene otro auditor · 422 si la corrección no es válida.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9BA50A98-3D45-8F71-8369-FD66938337F1}"/>
                  </a:ext>
                </a:extLst>
              </p14:cNvPr>
              <p14:cNvContentPartPr/>
              <p14:nvPr/>
            </p14:nvContentPartPr>
            <p14:xfrm>
              <a:off x="641520" y="1670040"/>
              <a:ext cx="5232600" cy="358812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9BA50A98-3D45-8F71-8369-FD66938337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160" y="1660680"/>
                <a:ext cx="5251320" cy="360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Auditoría</a:t>
            </a:r>
            <a:r>
              <a:rPr lang="en-US" sz="3000" b="1" dirty="0">
                <a:solidFill>
                  <a:schemeClr val="tx2"/>
                </a:solidFill>
              </a:rPr>
              <a:t> (1/2): </a:t>
            </a:r>
            <a:r>
              <a:rPr lang="en-US" sz="3000" b="1" dirty="0" err="1">
                <a:solidFill>
                  <a:schemeClr val="tx2"/>
                </a:solidFill>
              </a:rPr>
              <a:t>tomar</a:t>
            </a:r>
            <a:r>
              <a:rPr lang="en-US" sz="3000" b="1" dirty="0">
                <a:solidFill>
                  <a:schemeClr val="tx2"/>
                </a:solidFill>
              </a:rPr>
              <a:t> el </a:t>
            </a:r>
            <a:r>
              <a:rPr lang="en-US" sz="3000" b="1" dirty="0" err="1">
                <a:solidFill>
                  <a:schemeClr val="tx2"/>
                </a:solidFill>
              </a:rPr>
              <a:t>caso</a:t>
            </a:r>
            <a:r>
              <a:rPr lang="en-US" sz="3000" b="1" dirty="0">
                <a:solidFill>
                  <a:schemeClr val="tx2"/>
                </a:solidFill>
              </a:rPr>
              <a:t> y </a:t>
            </a:r>
            <a:r>
              <a:rPr lang="en-US" sz="3000" b="1" dirty="0" err="1">
                <a:solidFill>
                  <a:schemeClr val="tx2"/>
                </a:solidFill>
              </a:rPr>
              <a:t>ver</a:t>
            </a:r>
            <a:r>
              <a:rPr lang="en-US" sz="3000" b="1" dirty="0">
                <a:solidFill>
                  <a:schemeClr val="tx2"/>
                </a:solidFill>
              </a:rPr>
              <a:t> el original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TOMAR CASO · 200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731520" y="1755648"/>
            <a:ext cx="5029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/api/v1/audit/{documento_id}/claim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"documento_id"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"f8a9b0c1-..."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"asignado_a_id"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"dde797a8-..."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"asignado_a_username"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"auditor_user"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"asignado_at"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"2026-10-03T02:17:23Z"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"expira_at"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"2026-10-03T02:47:23Z"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Bloqueo por 30 minutos; quien lo tiene puede renovarlo.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409 si otro lo tiene vigente: "El caso está en revisión por X hasta HH:MM UTC", o si ya no está pendiente.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DELETE /claim libera (204). Solo quien lo tomó o un ADMIN; si no, 403.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Tomarlo es opcional: un caso libre se puede resolver directo.</a:t>
            </a:r>
            <a:endParaRPr lang="en-US" sz="1400" dirty="0"/>
          </a:p>
        </p:txBody>
      </p:sp>
      <p:sp>
        <p:nvSpPr>
          <p:cNvPr id="8" name="code-bg"/>
          <p:cNvSpPr/>
          <p:nvPr/>
        </p:nvSpPr>
        <p:spPr>
          <a:xfrm>
            <a:off x="6217920" y="1371600"/>
            <a:ext cx="5422392" cy="3703320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 txBox="1"/>
          <p:nvPr/>
        </p:nvSpPr>
        <p:spPr>
          <a:xfrm>
            <a:off x="6400800" y="146304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DETALLE DEL CASO · 200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6400800" y="1755648"/>
            <a:ext cx="5056632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/api/v1/audit/{documento_id}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"documento_id"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"f8a9b0c1-..."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"estado"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"PENDIENTE_AUDITORIA"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"oci_preview_url"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"https://objectstorage.../p/Xk3...9fQ/.../0.jpg"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"archivos"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"orden"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"tipo_archivo"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"JPG"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"documento_principal"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"url"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"visualizable"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"preview_expira_en_minutos"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"motivos_auditoria"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 de confianza 0.81 ..."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"rut_paciente"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"7.654.321-?"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"score_confianza"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"tipo_documento"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"INTERCONSULTA"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"raw_extracted_json"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... },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"asignado_a_username"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"auditor_user"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5212080"/>
            <a:ext cx="5422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Cada archivo recibe una URL pre-firmada (PAR) de solo lectura por 15 min: el navegador lee directo de OCI, sin credenciales ni pasar por FastAPI. TIFF/DCM: visualizable = false (descarga).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5A8BC10F-2561-DF06-A29C-D5F6F15FD4AC}"/>
                  </a:ext>
                </a:extLst>
              </p14:cNvPr>
              <p14:cNvContentPartPr/>
              <p14:nvPr/>
            </p14:nvContentPartPr>
            <p14:xfrm>
              <a:off x="660240" y="1676520"/>
              <a:ext cx="8674560" cy="37530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5A8BC10F-2561-DF06-A29C-D5F6F15FD4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880" y="1667160"/>
                <a:ext cx="8693280" cy="377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F49E-DB95-C436-FBCF-50F9B369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367BD2-F12A-8126-05D9-D0A93E4BE08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/>
              <a:t>Diagrama</a:t>
            </a:r>
            <a:r>
              <a:rPr lang="en-US" dirty="0"/>
              <a:t> </a:t>
            </a:r>
            <a:r>
              <a:rPr lang="en-US" dirty="0" err="1"/>
              <a:t>Secuencia</a:t>
            </a:r>
            <a:r>
              <a:rPr lang="en-US" dirty="0"/>
              <a:t> ingesta Auditoria</a:t>
            </a:r>
            <a:endParaRPr lang="en-US" sz="3000" dirty="0"/>
          </a:p>
        </p:txBody>
      </p:sp>
      <p:sp>
        <p:nvSpPr>
          <p:cNvPr id="3" name="estado-pill">
            <a:extLst>
              <a:ext uri="{FF2B5EF4-FFF2-40B4-BE49-F238E27FC236}">
                <a16:creationId xmlns:a16="http://schemas.microsoft.com/office/drawing/2014/main" id="{B142F8D8-4253-D263-072B-007EEE71EB66}"/>
              </a:ext>
            </a:extLst>
          </p:cNvPr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A599F90-7EDB-6ABE-F438-19DC1EACE6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82D451-D331-3991-CC02-3560638A8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781" y="1054163"/>
            <a:ext cx="8624437" cy="508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06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Catálogos dinámicos: colas y tipos de documento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27432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Para qué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/catalogs/queues/active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Formato compacto para el prompt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/catalogs/document-types/active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Incluye campos_extraccion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/catalogs/{queues|document-types}[/{id}]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Listar (filtro is_active) u obtener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· PUT /catalogs/...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Crear (201) o actualizar parcial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/catalogs/.../{id}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Smart Delete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/catalogs/.../{id}/history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Bitácora de cambios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519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Smart Delete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548640" y="4663440"/>
            <a:ext cx="2130552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4"/>
          <p:cNvSpPr txBox="1"/>
          <p:nvPr/>
        </p:nvSpPr>
        <p:spPr>
          <a:xfrm>
            <a:off x="685800" y="4754880"/>
            <a:ext cx="1856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es_sistema (OTRO, Ficha_Clinica)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409: no se elimina ni desactiva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2807208" y="4663440"/>
            <a:ext cx="2130552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 txBox="1"/>
          <p:nvPr/>
        </p:nvSpPr>
        <p:spPr>
          <a:xfrm>
            <a:off x="2944368" y="4754880"/>
            <a:ext cx="1856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0 documentos lo usan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HARD_DELETE: borrado físico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065776" y="4663440"/>
            <a:ext cx="2130552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8"/>
          <p:cNvSpPr txBox="1"/>
          <p:nvPr/>
        </p:nvSpPr>
        <p:spPr>
          <a:xfrm>
            <a:off x="5202936" y="4754880"/>
            <a:ext cx="1856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≥ 1 documento lo usa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SOFT_DELETE: is_active = false</a:t>
            </a:r>
            <a:endParaRPr lang="en-US" sz="1300" dirty="0"/>
          </a:p>
        </p:txBody>
      </p:sp>
      <p:sp>
        <p:nvSpPr>
          <p:cNvPr id="12" name="code-bg"/>
          <p:cNvSpPr/>
          <p:nvPr/>
        </p:nvSpPr>
        <p:spPr>
          <a:xfrm>
            <a:off x="7498080" y="1371600"/>
            <a:ext cx="4142232" cy="3749040"/>
          </a:xfrm>
          <a:prstGeom prst="roundRect">
            <a:avLst>
              <a:gd name="adj" fmla="val 195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 txBox="1"/>
          <p:nvPr/>
        </p:nvSpPr>
        <p:spPr>
          <a:xfrm>
            <a:off x="7680960" y="146304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TIPO NUEVO CON CAMPOS PROPIOS · 201</a:t>
            </a:r>
            <a:endParaRPr lang="en-US" sz="1000" dirty="0"/>
          </a:p>
        </p:txBody>
      </p:sp>
      <p:sp>
        <p:nvSpPr>
          <p:cNvPr id="14" name="code"/>
          <p:cNvSpPr txBox="1"/>
          <p:nvPr/>
        </p:nvSpPr>
        <p:spPr>
          <a:xfrm>
            <a:off x="7680960" y="1755648"/>
            <a:ext cx="3776472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/api/v1/catalogs/document-types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"codigo"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"LICENCIA"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"Licencia Médica"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"descripcion"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"Formulario de licencia..."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"campos_extraccion"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"properties"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"dias_reposo"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"integer"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"minimum"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"fecha_inicio"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"string"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"pattern"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"^\\d{4}-\\d{2}-\\d{2}$"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"required"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"dias_reposo"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"fecha_inicio"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525780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codigo es inmutable (tipos: ^[A-Z0-9_]+$). Duplicado → 409. Cada CREATE, UPDATE o DELETE queda en catalog_history con antes/después.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AF4C-4FC8-FA97-61D9-8B42187B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3F83C2-7AAD-623B-8805-76D77842B26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/>
              <a:t>Diagrama</a:t>
            </a:r>
            <a:r>
              <a:rPr lang="en-US" dirty="0"/>
              <a:t> </a:t>
            </a:r>
            <a:r>
              <a:rPr lang="en-US" dirty="0" err="1"/>
              <a:t>Secuencia</a:t>
            </a:r>
            <a:r>
              <a:rPr lang="en-US" dirty="0"/>
              <a:t> Crear Cola </a:t>
            </a:r>
            <a:endParaRPr lang="en-US" sz="3000" dirty="0"/>
          </a:p>
        </p:txBody>
      </p:sp>
      <p:sp>
        <p:nvSpPr>
          <p:cNvPr id="3" name="estado-pill">
            <a:extLst>
              <a:ext uri="{FF2B5EF4-FFF2-40B4-BE49-F238E27FC236}">
                <a16:creationId xmlns:a16="http://schemas.microsoft.com/office/drawing/2014/main" id="{388AA1A5-07E0-7F01-FF8E-838A35E2BAA3}"/>
              </a:ext>
            </a:extLst>
          </p:cNvPr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DAA7CB1-E656-3FE2-9FCD-3A9E43AF73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F64843-056B-EC23-ABBD-E317CFDEE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6337"/>
            <a:ext cx="12192000" cy="529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94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9B547-2572-CCD0-C1C8-6CBBBE06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F499A2-5912-EB15-CDF9-DD9CCF5E6F6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/>
              <a:t>Diagrama</a:t>
            </a:r>
            <a:r>
              <a:rPr lang="en-US" dirty="0"/>
              <a:t> </a:t>
            </a:r>
            <a:r>
              <a:rPr lang="en-US" dirty="0" err="1"/>
              <a:t>Flujo</a:t>
            </a:r>
            <a:r>
              <a:rPr lang="en-US" dirty="0"/>
              <a:t> Delete </a:t>
            </a:r>
            <a:r>
              <a:rPr lang="en-US" dirty="0" err="1"/>
              <a:t>Catalogo</a:t>
            </a:r>
            <a:endParaRPr lang="en-US" sz="3000" dirty="0"/>
          </a:p>
        </p:txBody>
      </p:sp>
      <p:sp>
        <p:nvSpPr>
          <p:cNvPr id="3" name="estado-pill">
            <a:extLst>
              <a:ext uri="{FF2B5EF4-FFF2-40B4-BE49-F238E27FC236}">
                <a16:creationId xmlns:a16="http://schemas.microsoft.com/office/drawing/2014/main" id="{BA604D66-8DAE-A1AE-47E1-E645A84CD316}"/>
              </a:ext>
            </a:extLst>
          </p:cNvPr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849350D-A248-5ACB-ED51-1308AF79A9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881A49-6C04-E66C-F543-4294B5B1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734" y="1055873"/>
            <a:ext cx="6984532" cy="505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012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Operación: health, configuración y usuarios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sp>
        <p:nvSpPr>
          <p:cNvPr id="4" name="code-bg"/>
          <p:cNvSpPr/>
          <p:nvPr/>
        </p:nvSpPr>
        <p:spPr>
          <a:xfrm>
            <a:off x="548640" y="1371600"/>
            <a:ext cx="42062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</a:rPr>
              <a:t>HEALTH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731520" y="1755648"/>
            <a:ext cx="38404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/api/v1/health     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sin token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"healthy"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"timestamp"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"2026-10-03T02:17:23Z"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"0.1.0"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"database_status"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"oci_status"</a:t>
            </a: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Chequea en paralelo SELECT 1 y el acceso al bucket.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healthy (200) · degraded si falla uno · unhealthy si fallan ambos; en ambos casos 503.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6611112" cy="27432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Para qué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DATABASE_URL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PostgreSQL (driver asyncpg)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JWT_SECRET_KEY · JWT_ALGORITHM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Firma de tokens (HS256)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ACCESS_TOKEN_EXPIRE_MINUTES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60 por defecto; 720 en .env.example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OCI_USER/TENANCY_OCID · FINGERPRINT · KEY_FILE_PATH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Credenciales API de OCI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OCI_REGION · COMPARTMENT_OCID · BUCKET_NAME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Dónde se guardan los archivos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BACKEND_CORS_ORIGINS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localhost:3000 y :5173 por defecto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4251960"/>
          <a:ext cx="6611112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Usuario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Contraseña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admin_user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admin123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gestor_user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gestor123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GESTOR_USUARIOS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auditor_user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auditor123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AUDITOR_CLINICO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operador_user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operador123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OPERADOR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669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Solo para desarrollo (docker/postgres/init.sql).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1E47E4C0-9060-6E52-F028-45F534DC4844}"/>
                  </a:ext>
                </a:extLst>
              </p14:cNvPr>
              <p14:cNvContentPartPr/>
              <p14:nvPr/>
            </p14:nvContentPartPr>
            <p14:xfrm>
              <a:off x="2535120" y="888120"/>
              <a:ext cx="8315640" cy="50133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1E47E4C0-9060-6E52-F028-45F534DC48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5760" y="878760"/>
                <a:ext cx="8334360" cy="503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Mapa completo de endpoints (/api/v1)</a:t>
            </a:r>
            <a:endParaRPr lang="en-US" sz="3000" dirty="0"/>
          </a:p>
        </p:txBody>
      </p:sp>
      <p:sp>
        <p:nvSpPr>
          <p:cNvPr id="3" name="estado-pill"/>
          <p:cNvSpPr/>
          <p:nvPr/>
        </p:nvSpPr>
        <p:spPr>
          <a:xfrm>
            <a:off x="9445752" y="521208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BACKEND · IMPLEMENTADO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40680" cy="475488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Ruta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Qué hace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/health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Pública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Estado de API, BD y OCI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/auth/login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Pública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Token + usuario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/auth/logout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Revoca el token (204)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/auth/me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Perfil del token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· PATCH /users/me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Ver y editar perfil propio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/users/me/change-password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Cambia contraseña (204)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· POST /users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ADMIN, GESTOR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Listar y crear usuarios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 /users/{user_id}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ADMIN, GESTOR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Editar nombre, email, rol, estado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/documents/ingest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ADMIN, AUDITOR, OPERADOR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Ingesta desde n8n (201)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371600"/>
          <a:ext cx="5440680" cy="475488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Ruta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Rol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Qué hace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/documents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ADMIN, AUDITOR, OPERADOR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Bandeja con filtros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/audit/{id}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ADMIN, AUDITOR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Detalle + URLs pre-firmadas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· DELETE /audit/{id}/claim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ADMIN, AUDITOR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Tomar o liberar caso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/audit/{id}/resolve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ADMIN, AUDITOR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Corregir → AUDITADO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/audit/{id}/discard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ADMIN, AUDITOR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Descartar → DESCARTADO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/catalogs/*/active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Catálogos para el prompt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/catalogs/*[/{id}]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Autenticado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Listar u obtener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· PUT · DELETE /catalogs/*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CRUD con Smart Delete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/catalogs/*/{id}/history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Historial de cambios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Estado actual y próximos pasos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El backend está listo para ser consumido; el foco ahora es construir el flujo n8n y las pantallas sobre sus contratos.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731520" y="2651760"/>
            <a:ext cx="5257800" cy="3474720"/>
          </a:xfrm>
          <a:prstGeom prst="roundRect">
            <a:avLst>
              <a:gd name="adj" fmla="val 2105"/>
            </a:avLst>
          </a:prstGeom>
          <a:solidFill>
            <a:schemeClr val="bg1">
              <a:alpha val="8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icon-circle"/>
          <p:cNvSpPr/>
          <p:nvPr/>
        </p:nvSpPr>
        <p:spPr>
          <a:xfrm>
            <a:off x="1005840" y="2880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17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Listo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65760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Backend FastAPI con 31 operaciones REST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Triaje determinista con 7 reglas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Persistencia OCI + PostgreSQL con compensación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Auditoría con bloqueo y URLs pre-firmadas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Catálogos dinámicos con historial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98 tests automatizados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17920" y="2651760"/>
            <a:ext cx="5257800" cy="3474720"/>
          </a:xfrm>
          <a:prstGeom prst="roundRect">
            <a:avLst>
              <a:gd name="adj" fmla="val 2105"/>
            </a:avLst>
          </a:prstGeom>
          <a:solidFill>
            <a:schemeClr val="bg1">
              <a:alpha val="8000"/>
            </a:schemeClr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icon-circle"/>
          <p:cNvSpPr/>
          <p:nvPr/>
        </p:nvSpPr>
        <p:spPr>
          <a:xfrm>
            <a:off x="6492240" y="2880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017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Por construir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65760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Workflow n8n de ingesta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chemeClr val="bg2"/>
                </a:solidFill>
              </a:rPr>
              <a:t>Afinar</a:t>
            </a:r>
            <a:r>
              <a:rPr lang="en-US" sz="1400" dirty="0">
                <a:solidFill>
                  <a:schemeClr val="bg2"/>
                </a:solidFill>
              </a:rPr>
              <a:t> Prompt de Gemini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chemeClr val="bg2"/>
                </a:solidFill>
              </a:rPr>
              <a:t>Pantallas</a:t>
            </a:r>
            <a:r>
              <a:rPr lang="en-US" sz="1400" dirty="0">
                <a:solidFill>
                  <a:schemeClr val="bg2"/>
                </a:solidFill>
              </a:rPr>
              <a:t> React </a:t>
            </a:r>
            <a:r>
              <a:rPr lang="en-US" sz="1400" dirty="0" err="1">
                <a:solidFill>
                  <a:schemeClr val="bg2"/>
                </a:solidFill>
              </a:rPr>
              <a:t>Pendientes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84083396-E630-3103-2D83-7E58F08CE4AD}"/>
                  </a:ext>
                </a:extLst>
              </p14:cNvPr>
              <p14:cNvContentPartPr/>
              <p14:nvPr/>
            </p14:nvContentPartPr>
            <p14:xfrm>
              <a:off x="6668280" y="4108320"/>
              <a:ext cx="4717800" cy="37224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84083396-E630-3103-2D83-7E58F08CE4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58920" y="4098960"/>
                <a:ext cx="4736520" cy="39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MediFlow">
  <a:themeElements>
    <a:clrScheme name="MediFlow">
      <a:dk1>
        <a:srgbClr val="0F172A"/>
      </a:dk1>
      <a:lt1>
        <a:srgbClr val="FFFFFF"/>
      </a:lt1>
      <a:dk2>
        <a:srgbClr val="0B3B4A"/>
      </a:dk2>
      <a:lt2>
        <a:srgbClr val="EEF6F6"/>
      </a:lt2>
      <a:accent1>
        <a:srgbClr val="0F766E"/>
      </a:accent1>
      <a:accent2>
        <a:srgbClr val="14B8A6"/>
      </a:accent2>
      <a:accent3>
        <a:srgbClr val="F59E0B"/>
      </a:accent3>
      <a:accent4>
        <a:srgbClr val="E11D48"/>
      </a:accent4>
      <a:accent5>
        <a:srgbClr val="4F46E5"/>
      </a:accent5>
      <a:accent6>
        <a:srgbClr val="64748B"/>
      </a:accent6>
      <a:hlink>
        <a:srgbClr val="0F766E"/>
      </a:hlink>
      <a:folHlink>
        <a:srgbClr val="4F46E5"/>
      </a:folHlink>
    </a:clrScheme>
    <a:fontScheme name="MediFlo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8798</Words>
  <Application>Microsoft Office PowerPoint</Application>
  <PresentationFormat>Panorámica</PresentationFormat>
  <Paragraphs>986</Paragraphs>
  <Slides>39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3" baseType="lpstr">
      <vt:lpstr>Arial</vt:lpstr>
      <vt:lpstr>Calibri</vt:lpstr>
      <vt:lpstr>Courier New</vt:lpstr>
      <vt:lpstr>MediFlow</vt:lpstr>
      <vt:lpstr>MediFlow</vt:lpstr>
      <vt:lpstr>MediFlow en 30 segundos</vt:lpstr>
      <vt:lpstr>Arquitectura de punta a punta</vt:lpstr>
      <vt:lpstr>Ciclo de vida de un documento en seis fases</vt:lpstr>
      <vt:lpstr>Frontend: propuesta</vt:lpstr>
      <vt:lpstr>Pantalla de login y manejo de sesión</vt:lpstr>
      <vt:lpstr>Pantalla de carga: qué pide y qué muestra</vt:lpstr>
      <vt:lpstr>Bandeja, auditoría y mantenedor de catálogos</vt:lpstr>
      <vt:lpstr>Workflow n8n: propuesta</vt:lpstr>
      <vt:lpstr>Nodos sugeridos para el workflow de ingesta</vt:lpstr>
      <vt:lpstr>Diagrama flujo Proceso N8N</vt:lpstr>
      <vt:lpstr>Prompt dinámico y errores hacia el frontend</vt:lpstr>
      <vt:lpstr>Obtención Catalogos FastAPI</vt:lpstr>
      <vt:lpstr>Estructura Invoación FastAPI</vt:lpstr>
      <vt:lpstr>Backend FastAPI</vt:lpstr>
      <vt:lpstr>Stack y organización del código</vt:lpstr>
      <vt:lpstr>Autenticación: login, JWT y revocación</vt:lpstr>
      <vt:lpstr>Diagrama Secuencia Login / Logout</vt:lpstr>
      <vt:lpstr>Control de acceso por rol (RBAC)</vt:lpstr>
      <vt:lpstr>POST /documents/ingest: cómo se invoca</vt:lpstr>
      <vt:lpstr>Diagrama Secuencia de Ingesta</vt:lpstr>
      <vt:lpstr>detalle_clinico: un bloque por tipo de documento</vt:lpstr>
      <vt:lpstr>Estructura de Ingesta</vt:lpstr>
      <vt:lpstr>Triaje determinista: 7 reglas en _audit_reasons</vt:lpstr>
      <vt:lpstr>Persistencia con compensación (patrón Saga)</vt:lpstr>
      <vt:lpstr>Diagrama Compensación Ingesta</vt:lpstr>
      <vt:lpstr>Qué responde la ingesta: códigos HTTP</vt:lpstr>
      <vt:lpstr>Respuesta 201: IngestResponse</vt:lpstr>
      <vt:lpstr>OCI Object Storage y ciclo de vida del documento</vt:lpstr>
      <vt:lpstr>Bandeja documental: GET /documents</vt:lpstr>
      <vt:lpstr>Auditoría (2/2): resolver o descartar</vt:lpstr>
      <vt:lpstr>Auditoría (1/2): tomar el caso y ver el original</vt:lpstr>
      <vt:lpstr>Diagrama Secuencia ingesta Auditoria</vt:lpstr>
      <vt:lpstr>Catálogos dinámicos: colas y tipos de documento</vt:lpstr>
      <vt:lpstr>Diagrama Secuencia Crear Cola </vt:lpstr>
      <vt:lpstr>Diagrama Flujo Delete Catalogo</vt:lpstr>
      <vt:lpstr>Operación: health, configuración y usuarios</vt:lpstr>
      <vt:lpstr>Mapa completo de endpoints (/api/v1)</vt:lpstr>
      <vt:lpstr>Estado actual y próximos pasos</vt:lpstr>
    </vt:vector>
  </TitlesOfParts>
  <Company>MediFlow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MediFlow – Backend y flujo de punta a punta</dc:title>
  <dc:subject>PptxGenJS Presentation</dc:subject>
  <dc:creator>G10 LATAM Hackathon – Equipo 5</dc:creator>
  <cp:lastModifiedBy>Jhonnatan Felipe</cp:lastModifiedBy>
  <cp:revision>5</cp:revision>
  <dcterms:created xsi:type="dcterms:W3CDTF">2026-10-04T19:43:43Z</dcterms:created>
  <dcterms:modified xsi:type="dcterms:W3CDTF">2026-10-05T01:49:07Z</dcterms:modified>
</cp:coreProperties>
</file>